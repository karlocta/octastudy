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Zahlende Abos</c:v>
                </c:pt>
              </c:strCache>
            </c:strRef>
          </c:tx>
          <c:spPr>
            <a:solidFill>
              <a:srgbClr val="D93B72"/>
            </a:solidFill>
            <a:ln w="38100" cap="flat">
              <a:solidFill>
                <a:srgbClr val="D93B7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3B72"/>
              </a:solidFill>
              <a:ln w="9525" cap="flat">
                <a:solidFill>
                  <a:srgbClr val="D93B72"/>
                </a:solidFill>
                <a:prstDash val="solid"/>
                <a:round/>
              </a:ln>
              <a:effectLst/>
            </c:spPr>
          </c:marker>
          <c:cat>
            <c:multiLvlStrRef>
              <c:f>Sheet1!$A$2:$A$91</c:f>
              <c:multiLvlStrCache>
                <c:ptCount val="90"/>
                <c:lvl>
                  <c:pt idx="0">
                    <c:v>13.06.</c:v>
                  </c:pt>
                  <c:pt idx="1">
                    <c:v> </c:v>
                  </c:pt>
                  <c:pt idx="2">
                    <c:v> </c:v>
                  </c:pt>
                  <c:pt idx="3">
                    <c:v> </c:v>
                  </c:pt>
                  <c:pt idx="4">
                    <c:v> </c:v>
                  </c:pt>
                  <c:pt idx="5">
                    <c:v> </c:v>
                  </c:pt>
                  <c:pt idx="6">
                    <c:v> </c:v>
                  </c:pt>
                  <c:pt idx="7">
                    <c:v> </c:v>
                  </c:pt>
                  <c:pt idx="8">
                    <c:v> </c:v>
                  </c:pt>
                  <c:pt idx="9">
                    <c:v> </c:v>
                  </c:pt>
                  <c:pt idx="10">
                    <c:v>23.06.</c:v>
                  </c:pt>
                  <c:pt idx="11">
                    <c:v> </c:v>
                  </c:pt>
                  <c:pt idx="12">
                    <c:v> </c:v>
                  </c:pt>
                  <c:pt idx="13">
                    <c:v> </c:v>
                  </c:pt>
                  <c:pt idx="14">
                    <c:v> </c:v>
                  </c:pt>
                  <c:pt idx="15">
                    <c:v> </c:v>
                  </c:pt>
                  <c:pt idx="16">
                    <c:v> </c:v>
                  </c:pt>
                  <c:pt idx="17">
                    <c:v> </c:v>
                  </c:pt>
                  <c:pt idx="18">
                    <c:v> </c:v>
                  </c:pt>
                  <c:pt idx="19">
                    <c:v> </c:v>
                  </c:pt>
                  <c:pt idx="20">
                    <c:v>03.07.</c:v>
                  </c:pt>
                  <c:pt idx="21">
                    <c:v> </c:v>
                  </c:pt>
                  <c:pt idx="22">
                    <c:v> </c:v>
                  </c:pt>
                  <c:pt idx="23">
                    <c:v> </c:v>
                  </c:pt>
                  <c:pt idx="24">
                    <c:v> </c:v>
                  </c:pt>
                  <c:pt idx="25">
                    <c:v> </c:v>
                  </c:pt>
                  <c:pt idx="26">
                    <c:v> </c:v>
                  </c:pt>
                  <c:pt idx="27">
                    <c:v> </c:v>
                  </c:pt>
                  <c:pt idx="28">
                    <c:v> </c:v>
                  </c:pt>
                  <c:pt idx="29">
                    <c:v> </c:v>
                  </c:pt>
                  <c:pt idx="30">
                    <c:v>13.07.</c:v>
                  </c:pt>
                  <c:pt idx="31">
                    <c:v> </c:v>
                  </c:pt>
                  <c:pt idx="32">
                    <c:v> </c:v>
                  </c:pt>
                  <c:pt idx="33">
                    <c:v> </c:v>
                  </c:pt>
                  <c:pt idx="34">
                    <c:v> </c:v>
                  </c:pt>
                  <c:pt idx="35">
                    <c:v> </c:v>
                  </c:pt>
                  <c:pt idx="36">
                    <c:v> </c:v>
                  </c:pt>
                  <c:pt idx="37">
                    <c:v> </c:v>
                  </c:pt>
                  <c:pt idx="38">
                    <c:v> </c:v>
                  </c:pt>
                  <c:pt idx="39">
                    <c:v> </c:v>
                  </c:pt>
                  <c:pt idx="40">
                    <c:v>23.07.</c:v>
                  </c:pt>
                  <c:pt idx="41">
                    <c:v> </c:v>
                  </c:pt>
                  <c:pt idx="42">
                    <c:v> </c:v>
                  </c:pt>
                  <c:pt idx="43">
                    <c:v> </c:v>
                  </c:pt>
                  <c:pt idx="44">
                    <c:v> </c:v>
                  </c:pt>
                  <c:pt idx="45">
                    <c:v> </c:v>
                  </c:pt>
                  <c:pt idx="46">
                    <c:v> </c:v>
                  </c:pt>
                  <c:pt idx="47">
                    <c:v> </c:v>
                  </c:pt>
                  <c:pt idx="48">
                    <c:v> </c:v>
                  </c:pt>
                  <c:pt idx="49">
                    <c:v> </c:v>
                  </c:pt>
                  <c:pt idx="50">
                    <c:v>02.08.</c:v>
                  </c:pt>
                  <c:pt idx="51">
                    <c:v> </c:v>
                  </c:pt>
                  <c:pt idx="52">
                    <c:v> </c:v>
                  </c:pt>
                  <c:pt idx="53">
                    <c:v> </c:v>
                  </c:pt>
                  <c:pt idx="54">
                    <c:v> </c:v>
                  </c:pt>
                  <c:pt idx="55">
                    <c:v> </c:v>
                  </c:pt>
                  <c:pt idx="56">
                    <c:v> </c:v>
                  </c:pt>
                  <c:pt idx="57">
                    <c:v> </c:v>
                  </c:pt>
                  <c:pt idx="58">
                    <c:v> </c:v>
                  </c:pt>
                  <c:pt idx="59">
                    <c:v> </c:v>
                  </c:pt>
                  <c:pt idx="60">
                    <c:v>12.08.</c:v>
                  </c:pt>
                  <c:pt idx="61">
                    <c:v> </c:v>
                  </c:pt>
                  <c:pt idx="62">
                    <c:v> </c:v>
                  </c:pt>
                  <c:pt idx="63">
                    <c:v> </c:v>
                  </c:pt>
                  <c:pt idx="64">
                    <c:v> </c:v>
                  </c:pt>
                  <c:pt idx="65">
                    <c:v> </c:v>
                  </c:pt>
                  <c:pt idx="66">
                    <c:v> </c:v>
                  </c:pt>
                  <c:pt idx="67">
                    <c:v> </c:v>
                  </c:pt>
                  <c:pt idx="68">
                    <c:v> </c:v>
                  </c:pt>
                  <c:pt idx="69">
                    <c:v> </c:v>
                  </c:pt>
                  <c:pt idx="70">
                    <c:v>22.08.</c:v>
                  </c:pt>
                  <c:pt idx="71">
                    <c:v> </c:v>
                  </c:pt>
                  <c:pt idx="72">
                    <c:v> </c:v>
                  </c:pt>
                  <c:pt idx="73">
                    <c:v> </c:v>
                  </c:pt>
                  <c:pt idx="74">
                    <c:v> </c:v>
                  </c:pt>
                  <c:pt idx="75">
                    <c:v> </c:v>
                  </c:pt>
                  <c:pt idx="76">
                    <c:v> </c:v>
                  </c:pt>
                  <c:pt idx="77">
                    <c:v> </c:v>
                  </c:pt>
                  <c:pt idx="78">
                    <c:v> </c:v>
                  </c:pt>
                  <c:pt idx="79">
                    <c:v> </c:v>
                  </c:pt>
                  <c:pt idx="80">
                    <c:v>01.09.</c:v>
                  </c:pt>
                  <c:pt idx="81">
                    <c:v> </c:v>
                  </c:pt>
                  <c:pt idx="82">
                    <c:v> </c:v>
                  </c:pt>
                  <c:pt idx="83">
                    <c:v> </c:v>
                  </c:pt>
                  <c:pt idx="84">
                    <c:v> </c:v>
                  </c:pt>
                  <c:pt idx="85">
                    <c:v> </c:v>
                  </c:pt>
                  <c:pt idx="86">
                    <c:v> </c:v>
                  </c:pt>
                  <c:pt idx="87">
                    <c:v> </c:v>
                  </c:pt>
                  <c:pt idx="88">
                    <c:v> </c:v>
                  </c:pt>
                  <c:pt idx="89">
                    <c:v> </c:v>
                  </c:pt>
                </c:lvl>
              </c:multiLvlStrCache>
            </c:multiLvlStrRef>
          </c:cat>
          <c:val>
            <c:numRef>
              <c:f>Sheet1!$B$2:$B$91</c:f>
              <c:numCache>
                <c:formatCode>General</c:formatCode>
                <c:ptCount val="90"/>
                <c:pt idx="0">
                  <c:v>1</c:v>
                </c:pt>
                <c:pt idx="1">
                  <c:v>1</c:v>
                </c:pt>
                <c:pt idx="2">
                  <c:v>1</c:v>
                </c:pt>
                <c:pt idx="3">
                  <c:v>1</c:v>
                </c:pt>
                <c:pt idx="4">
                  <c:v>1</c:v>
                </c:pt>
                <c:pt idx="5">
                  <c:v>1</c:v>
                </c:pt>
                <c:pt idx="6">
                  <c:v>1</c:v>
                </c:pt>
                <c:pt idx="7">
                  <c:v>1</c:v>
                </c:pt>
                <c:pt idx="8">
                  <c:v>1</c:v>
                </c:pt>
                <c:pt idx="9">
                  <c:v>2</c:v>
                </c:pt>
                <c:pt idx="10">
                  <c:v>2</c:v>
                </c:pt>
                <c:pt idx="11">
                  <c:v>2</c:v>
                </c:pt>
                <c:pt idx="12">
                  <c:v>2</c:v>
                </c:pt>
                <c:pt idx="13">
                  <c:v>2</c:v>
                </c:pt>
                <c:pt idx="14">
                  <c:v>2</c:v>
                </c:pt>
                <c:pt idx="15">
                  <c:v>2</c:v>
                </c:pt>
                <c:pt idx="16">
                  <c:v>2</c:v>
                </c:pt>
                <c:pt idx="17">
                  <c:v>2</c:v>
                </c:pt>
                <c:pt idx="18">
                  <c:v>2</c:v>
                </c:pt>
                <c:pt idx="19">
                  <c:v>3</c:v>
                </c:pt>
                <c:pt idx="20">
                  <c:v>3</c:v>
                </c:pt>
                <c:pt idx="21">
                  <c:v>3</c:v>
                </c:pt>
                <c:pt idx="22">
                  <c:v>3</c:v>
                </c:pt>
                <c:pt idx="23">
                  <c:v>3</c:v>
                </c:pt>
                <c:pt idx="24">
                  <c:v>3</c:v>
                </c:pt>
                <c:pt idx="25">
                  <c:v>3</c:v>
                </c:pt>
                <c:pt idx="26">
                  <c:v>3</c:v>
                </c:pt>
                <c:pt idx="27">
                  <c:v>3</c:v>
                </c:pt>
                <c:pt idx="28">
                  <c:v>3</c:v>
                </c:pt>
                <c:pt idx="29">
                  <c:v>3</c:v>
                </c:pt>
                <c:pt idx="30">
                  <c:v>3</c:v>
                </c:pt>
                <c:pt idx="31">
                  <c:v>3</c:v>
                </c:pt>
                <c:pt idx="32">
                  <c:v>3</c:v>
                </c:pt>
                <c:pt idx="33">
                  <c:v>3</c:v>
                </c:pt>
                <c:pt idx="34">
                  <c:v>3</c:v>
                </c:pt>
                <c:pt idx="35">
                  <c:v>3</c:v>
                </c:pt>
                <c:pt idx="36">
                  <c:v>3</c:v>
                </c:pt>
                <c:pt idx="37">
                  <c:v>3</c:v>
                </c:pt>
                <c:pt idx="38">
                  <c:v>3</c:v>
                </c:pt>
                <c:pt idx="39">
                  <c:v>2</c:v>
                </c:pt>
                <c:pt idx="40">
                  <c:v>2</c:v>
                </c:pt>
                <c:pt idx="41">
                  <c:v>2</c:v>
                </c:pt>
                <c:pt idx="42">
                  <c:v>2</c:v>
                </c:pt>
                <c:pt idx="43">
                  <c:v>2</c:v>
                </c:pt>
                <c:pt idx="44">
                  <c:v>2</c:v>
                </c:pt>
                <c:pt idx="45">
                  <c:v>2</c:v>
                </c:pt>
                <c:pt idx="46">
                  <c:v>2</c:v>
                </c:pt>
                <c:pt idx="47">
                  <c:v>2</c:v>
                </c:pt>
                <c:pt idx="48">
                  <c:v>2</c:v>
                </c:pt>
                <c:pt idx="49">
                  <c:v>2</c:v>
                </c:pt>
                <c:pt idx="50">
                  <c:v>2</c:v>
                </c:pt>
                <c:pt idx="51">
                  <c:v>3</c:v>
                </c:pt>
                <c:pt idx="52">
                  <c:v>2</c:v>
                </c:pt>
                <c:pt idx="53">
                  <c:v>2</c:v>
                </c:pt>
                <c:pt idx="54">
                  <c:v>2</c:v>
                </c:pt>
                <c:pt idx="55">
                  <c:v>2</c:v>
                </c:pt>
                <c:pt idx="56">
                  <c:v>2</c:v>
                </c:pt>
                <c:pt idx="57">
                  <c:v>2</c:v>
                </c:pt>
                <c:pt idx="58">
                  <c:v>2</c:v>
                </c:pt>
                <c:pt idx="59">
                  <c:v>2</c:v>
                </c:pt>
                <c:pt idx="60">
                  <c:v>2</c:v>
                </c:pt>
                <c:pt idx="61">
                  <c:v>2</c:v>
                </c:pt>
                <c:pt idx="62">
                  <c:v>2</c:v>
                </c:pt>
                <c:pt idx="63">
                  <c:v>2</c:v>
                </c:pt>
                <c:pt idx="64">
                  <c:v>2</c:v>
                </c:pt>
                <c:pt idx="65">
                  <c:v>2</c:v>
                </c:pt>
                <c:pt idx="66">
                  <c:v>2</c:v>
                </c:pt>
                <c:pt idx="67">
                  <c:v>2</c:v>
                </c:pt>
                <c:pt idx="68">
                  <c:v>2</c:v>
                </c:pt>
                <c:pt idx="69">
                  <c:v>2</c:v>
                </c:pt>
                <c:pt idx="70">
                  <c:v>2</c:v>
                </c:pt>
                <c:pt idx="71">
                  <c:v>2</c:v>
                </c:pt>
                <c:pt idx="72">
                  <c:v>2</c:v>
                </c:pt>
                <c:pt idx="73">
                  <c:v>2</c:v>
                </c:pt>
                <c:pt idx="74">
                  <c:v>2</c:v>
                </c:pt>
                <c:pt idx="75">
                  <c:v>2</c:v>
                </c:pt>
                <c:pt idx="76">
                  <c:v>2</c:v>
                </c:pt>
                <c:pt idx="77">
                  <c:v>2</c:v>
                </c:pt>
                <c:pt idx="78">
                  <c:v>2</c:v>
                </c:pt>
                <c:pt idx="79">
                  <c:v>2</c:v>
                </c:pt>
                <c:pt idx="80">
                  <c:v>2</c:v>
                </c:pt>
                <c:pt idx="81">
                  <c:v>2</c:v>
                </c:pt>
                <c:pt idx="82">
                  <c:v>2</c:v>
                </c:pt>
                <c:pt idx="83">
                  <c:v>2</c:v>
                </c:pt>
                <c:pt idx="84">
                  <c:v>2</c:v>
                </c:pt>
                <c:pt idx="85">
                  <c:v>2</c:v>
                </c:pt>
                <c:pt idx="86">
                  <c:v>2</c:v>
                </c:pt>
                <c:pt idx="87">
                  <c:v>2</c:v>
                </c:pt>
                <c:pt idx="88">
                  <c:v>2</c:v>
                </c:pt>
                <c:pt idx="89">
                  <c:v>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7C86A2"/>
                </a:solidFill>
                <a:latin typeface="Calibri"/>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12700" cap="flat">
              <a:solidFill>
                <a:srgbClr val="D7DCE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7C86A2"/>
                </a:solidFill>
                <a:latin typeface="Calibri"/>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Trial → zahlend</c:v>
                </c:pt>
              </c:strCache>
            </c:strRef>
          </c:tx>
          <c:spPr>
            <a:solidFill>
              <a:srgbClr val="D93B72"/>
            </a:solidFill>
            <a:effectLst/>
          </c:spPr>
          <c:invertIfNegative val="0"/>
          <c:dLbls>
            <c:numFmt formatCode="0.0&quot;%&quot;" sourceLinked="0"/>
            <c:txPr>
              <a:bodyPr/>
              <a:lstStyle/>
              <a:p>
                <a:pPr>
                  <a:defRPr b="0" i="0" strike="noStrike" sz="1500" u="none">
                    <a:solidFill>
                      <a:srgbClr val="141A2E"/>
                    </a:solidFill>
                    <a:latin typeface="Calibri"/>
                  </a:defRPr>
                </a:pPr>
              </a:p>
            </c:txPr>
            <c:showLegendKey val="0"/>
            <c:showVal val="1"/>
            <c:showCatName val="0"/>
            <c:showSerName val="0"/>
            <c:showPercent val="0"/>
            <c:showBubbleSize val="0"/>
            <c:showLeaderLines val="0"/>
          </c:dLbls>
          <c:dPt>
            <c:idx val="0"/>
            <c:invertIfNegative val="0"/>
            <c:bubble3D val="0"/>
            <c:spPr>
              <a:solidFill>
                <a:srgbClr val="D93B72"/>
              </a:solidFill>
              <a:effectLst/>
            </c:spPr>
          </c:dPt>
          <c:dPt>
            <c:idx val="1"/>
            <c:invertIfNegative val="0"/>
            <c:bubble3D val="0"/>
            <c:spPr>
              <a:solidFill>
                <a:srgbClr val="4A5470"/>
              </a:solidFill>
              <a:effectLst/>
            </c:spPr>
          </c:dPt>
          <c:cat>
            <c:multiLvlStrRef>
              <c:f>Sheet1!$A$2:$A$3</c:f>
              <c:multiLvlStrCache>
                <c:ptCount val="2"/>
                <c:lvl>
                  <c:pt idx="0">
                    <c:v>Octa</c:v>
                  </c:pt>
                  <c:pt idx="1">
                    <c:v>Median Bildung</c:v>
                  </c:pt>
                </c:lvl>
              </c:multiLvlStrCache>
            </c:multiLvlStrRef>
          </c:cat>
          <c:val>
            <c:numRef>
              <c:f>Sheet1!$B$2:$B$3</c:f>
              <c:numCache>
                <c:formatCode>General</c:formatCode>
                <c:ptCount val="2"/>
                <c:pt idx="0">
                  <c:v>7.3</c:v>
                </c:pt>
                <c:pt idx="1">
                  <c:v>30.1</c:v>
                </c:pt>
              </c:numCache>
            </c:numRef>
          </c:val>
        </c:ser>
        <c:dLbls>
          <c:numFmt formatCode="0.0&quot;%&quot;" sourceLinked="0"/>
          <c:txPr>
            <a:bodyPr/>
            <a:lstStyle/>
            <a:p>
              <a:pPr>
                <a:defRPr b="0" i="0" strike="noStrike" sz="1500" u="none">
                  <a:solidFill>
                    <a:srgbClr val="141A2E"/>
                  </a:solidFill>
                  <a:latin typeface="Calibri"/>
                </a:defRPr>
              </a:pPr>
            </a:p>
          </c:txPr>
          <c:showLegendKey val="0"/>
          <c:showVal val="1"/>
          <c:showCatName val="0"/>
          <c:showSerName val="0"/>
          <c:showPercent val="0"/>
          <c:showBubbleSize val="0"/>
          <c:showLeaderLines val="0"/>
        </c:dLbls>
        <c:gapWidth val="1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41A2E"/>
                </a:solidFill>
                <a:latin typeface="Calibr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12700" cap="flat">
              <a:solidFill>
                <a:srgbClr val="D7DCE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7C86A2"/>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Rahmen setzen: Das ist eine nüchterne Bestandsaufnahme, keine Schuldzuweisung. Alle Zahlen sind aus App Store Connect und Superwall gezogen und gegeneinander geprüft.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wichtigste Folie. Wenn der Co-Founder nur eine Sache mitnimmt, dann diese drei Punkte: oben ist normal, die Mitte bricht, das Produkt ist nicht schuld.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zum Einordnen: Unser App-Store-Listing arbeitet normal. Das Problem ist die Menge — 178 Impressionen am Tag. Daran ändert keine Paywall-Optimierung etwas.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Funnel-Stufen. Wichtig: Von 638 Nutzern haben 596 die App faktisch nie erlebt, weil unsere Paywall ganz am Anfang steht.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Karls Frage: Sollten wir bewusst aktive Gratis-Nutzer gewinnen, die die App weiterempfehlen? Antwort: ja — aber nur, wenn die Gratis-Version um das Teilen herum gebaut ist. Sonst ist sie reine Kosten.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Kurve ist der Kern. Sie zeigt den Bestand, nicht die Neuabschlüsse. Umgerechnet: 3 Zugänge, 2 Abgänge in 90 Tagen.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vier Abos einzeln. Zwei laufen und sind gesund. Eines kündigte nach exakt einem Abrechnungszyklus — das war vermutlich ein zufriedener Kunde, der mit der Klausur fertig war. Eines war nach einem Tag weg.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Vergleich mit dem Branchenmedian. Grün heißt: auf Niveau. Rot heißt: deutlich darunter. Der Preis ist auffällig — wir liegen beim Monatsabo bei fast dem Doppelten.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wichtigste Vergleich. Die 42 Trial-Starter haben Apple die Abbuchung bereits erlaubt — wer nichts tut, zahlt. Rund 39 haben trotzdem aktiv gekündigt. Zwei Erklärungen: 3 Tage sind zu kurz für den Wertbeweis, und die Gratis-Version macht das Kündigen billig.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1. 20 Screens, und an keiner Stelle passiert etwas mit dem Material des Nutzers. Wir verkaufen eine Präsentation über die App, nicht die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2, und das ist der unangenehmste Fund. Wer sofort Ja sagt, zahlt doppelt und bekommt die halbe Testzeit. Das ist nicht nur unfair, es ist ein Refund- und Bewertungsrisiko.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für die Stimmung im Team: Das Produkt ist nicht das Problem. Das engt die möglichen Ursachen auf drei ein, und alle drei sind Packaging-Fragen.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Agentur-Frage. Gerechnet mit unseren eigenen Zahlen, nicht mit Benchmarks. Das Ergebnis ist eindeutig und wir sollten es nicht noch einmal diskutieren, bevor der Funnel steht.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Plan. Punkt 1 bis 3 sind zusammen etwa zwei Tage Arbeit und bestehen fast nur aus Streichen und Umkonfigurieren. Punkt 4 ist das eigentliche Projekt.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Vorschlag für die Preise. Kernidee: Wir verkaufen ein Abo für ein saisonales Produkt. Studenten brauchen Octa in der Klausurphase, nicht 12 Monate im Jahr.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Abschluss: Ehrlichkeit über die Grenzen der Analyse, und was wir als Nächstes brauchen.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E"/>
        </a:solidFill>
      </p:bgPr>
    </p:bg>
    <p:spTree>
      <p:nvGrpSpPr>
        <p:cNvPr id="1" name=""/>
        <p:cNvGrpSpPr/>
        <p:nvPr/>
      </p:nvGrpSpPr>
      <p:grpSpPr>
        <a:xfrm>
          <a:off x="0" y="0"/>
          <a:ext cx="0" cy="0"/>
          <a:chOff x="0" y="0"/>
          <a:chExt cx="0" cy="0"/>
        </a:xfrm>
      </p:grpSpPr>
      <p:sp>
        <p:nvSpPr>
          <p:cNvPr id="3" name="Text 0"/>
          <p:cNvSpPr txBox="1"/>
          <p:nvPr/>
        </p:nvSpPr>
        <p:spPr>
          <a:xfrm>
            <a:off x="566928" y="1417320"/>
            <a:ext cx="877824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Wo Octa steht</a:t>
            </a:r>
            <a:endParaRPr lang="en-US" sz="5000" dirty="0"/>
          </a:p>
        </p:txBody>
      </p:sp>
      <p:sp>
        <p:nvSpPr>
          <p:cNvPr id="4" name="Text 1"/>
          <p:cNvSpPr txBox="1"/>
          <p:nvPr/>
        </p:nvSpPr>
        <p:spPr>
          <a:xfrm>
            <a:off x="566928" y="2395728"/>
            <a:ext cx="8778240" cy="457200"/>
          </a:xfrm>
          <a:prstGeom prst="rect">
            <a:avLst/>
          </a:prstGeom>
          <a:noFill/>
          <a:ln/>
        </p:spPr>
        <p:txBody>
          <a:bodyPr wrap="square" lIns="0" tIns="0" rIns="0" bIns="0" rtlCol="0" anchor="ctr"/>
          <a:lstStyle/>
          <a:p>
            <a:pPr indent="0" marL="0">
              <a:buNone/>
            </a:pPr>
            <a:r>
              <a:rPr lang="en-US" sz="1900" dirty="0">
                <a:solidFill>
                  <a:srgbClr val="9BA6C4"/>
                </a:solidFill>
                <a:latin typeface="Calibri" pitchFamily="34" charset="0"/>
                <a:ea typeface="Calibri" pitchFamily="34" charset="-122"/>
                <a:cs typeface="Calibri" pitchFamily="34" charset="-120"/>
              </a:rPr>
              <a:t>Funnel, Pricing und Onboarding — eine Bestandsaufnahme</a:t>
            </a:r>
            <a:endParaRPr lang="en-US" sz="1900" dirty="0"/>
          </a:p>
        </p:txBody>
      </p:sp>
      <p:sp>
        <p:nvSpPr>
          <p:cNvPr id="5" name="Shape 2"/>
          <p:cNvSpPr/>
          <p:nvPr/>
        </p:nvSpPr>
        <p:spPr>
          <a:xfrm>
            <a:off x="566928" y="3611880"/>
            <a:ext cx="2578608" cy="1572768"/>
          </a:xfrm>
          <a:prstGeom prst="roundRect">
            <a:avLst>
              <a:gd name="adj" fmla="val 5814"/>
            </a:avLst>
          </a:prstGeom>
          <a:solidFill>
            <a:srgbClr val="1E2740"/>
          </a:solidFill>
          <a:ln w="12700">
            <a:solidFill>
              <a:srgbClr val="2C3857"/>
            </a:solidFill>
            <a:prstDash val="solid"/>
          </a:ln>
        </p:spPr>
      </p:sp>
      <p:sp>
        <p:nvSpPr>
          <p:cNvPr id="6" name="Text 3"/>
          <p:cNvSpPr txBox="1"/>
          <p:nvPr/>
        </p:nvSpPr>
        <p:spPr>
          <a:xfrm>
            <a:off x="566928" y="3721608"/>
            <a:ext cx="2578608" cy="713232"/>
          </a:xfrm>
          <a:prstGeom prst="rect">
            <a:avLst/>
          </a:prstGeom>
          <a:noFill/>
          <a:ln/>
        </p:spPr>
        <p:txBody>
          <a:bodyPr wrap="square" lIns="0" tIns="0" rIns="0" bIns="0"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612</a:t>
            </a:r>
            <a:endParaRPr lang="en-US" sz="4400" dirty="0"/>
          </a:p>
        </p:txBody>
      </p:sp>
      <p:sp>
        <p:nvSpPr>
          <p:cNvPr id="7" name="Text 4"/>
          <p:cNvSpPr txBox="1"/>
          <p:nvPr/>
        </p:nvSpPr>
        <p:spPr>
          <a:xfrm>
            <a:off x="676656" y="4434840"/>
            <a:ext cx="2359152" cy="658368"/>
          </a:xfrm>
          <a:prstGeom prst="rect">
            <a:avLst/>
          </a:prstGeom>
          <a:noFill/>
          <a:ln/>
        </p:spPr>
        <p:txBody>
          <a:bodyPr wrap="square" lIns="0" tIns="0" rIns="0" bIns="0" rtlCol="0" anchor="t"/>
          <a:lstStyle/>
          <a:p>
            <a:pPr algn="ctr" indent="0" marL="0">
              <a:lnSpc>
                <a:spcPct val="105000"/>
              </a:lnSpc>
              <a:buNone/>
            </a:pPr>
            <a:r>
              <a:rPr lang="en-US" sz="1200" dirty="0">
                <a:solidFill>
                  <a:srgbClr val="9BA6C4"/>
                </a:solidFill>
                <a:latin typeface="Calibri" pitchFamily="34" charset="0"/>
                <a:ea typeface="Calibri" pitchFamily="34" charset="-122"/>
                <a:cs typeface="Calibri" pitchFamily="34" charset="-120"/>
              </a:rPr>
              <a:t>Downloads</a:t>
            </a:r>
            <a:endParaRPr lang="en-US" sz="1200" dirty="0"/>
          </a:p>
          <a:p>
            <a:pPr algn="ctr" indent="0" marL="0">
              <a:lnSpc>
                <a:spcPct val="105000"/>
              </a:lnSpc>
              <a:buNone/>
            </a:pPr>
            <a:r>
              <a:rPr lang="en-US" sz="1200" dirty="0">
                <a:solidFill>
                  <a:srgbClr val="9BA6C4"/>
                </a:solidFill>
                <a:latin typeface="Calibri" pitchFamily="34" charset="0"/>
                <a:ea typeface="Calibri" pitchFamily="34" charset="-122"/>
                <a:cs typeface="Calibri" pitchFamily="34" charset="-120"/>
              </a:rPr>
              <a:t>seit 01.01.2026</a:t>
            </a:r>
            <a:endParaRPr lang="en-US" sz="1200" dirty="0"/>
          </a:p>
        </p:txBody>
      </p:sp>
      <p:sp>
        <p:nvSpPr>
          <p:cNvPr id="8" name="Shape 5"/>
          <p:cNvSpPr/>
          <p:nvPr/>
        </p:nvSpPr>
        <p:spPr>
          <a:xfrm>
            <a:off x="3401568" y="3611880"/>
            <a:ext cx="2578608" cy="1572768"/>
          </a:xfrm>
          <a:prstGeom prst="roundRect">
            <a:avLst>
              <a:gd name="adj" fmla="val 5814"/>
            </a:avLst>
          </a:prstGeom>
          <a:solidFill>
            <a:srgbClr val="1E2740"/>
          </a:solidFill>
          <a:ln w="12700">
            <a:solidFill>
              <a:srgbClr val="2C3857"/>
            </a:solidFill>
            <a:prstDash val="solid"/>
          </a:ln>
        </p:spPr>
      </p:sp>
      <p:sp>
        <p:nvSpPr>
          <p:cNvPr id="9" name="Text 6"/>
          <p:cNvSpPr txBox="1"/>
          <p:nvPr/>
        </p:nvSpPr>
        <p:spPr>
          <a:xfrm>
            <a:off x="3401568" y="3721608"/>
            <a:ext cx="2578608" cy="713232"/>
          </a:xfrm>
          <a:prstGeom prst="rect">
            <a:avLst/>
          </a:prstGeom>
          <a:noFill/>
          <a:ln/>
        </p:spPr>
        <p:txBody>
          <a:bodyPr wrap="square" lIns="0" tIns="0" rIns="0" bIns="0"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41</a:t>
            </a:r>
            <a:endParaRPr lang="en-US" sz="4400" dirty="0"/>
          </a:p>
        </p:txBody>
      </p:sp>
      <p:sp>
        <p:nvSpPr>
          <p:cNvPr id="10" name="Text 7"/>
          <p:cNvSpPr txBox="1"/>
          <p:nvPr/>
        </p:nvSpPr>
        <p:spPr>
          <a:xfrm>
            <a:off x="3511296" y="4434840"/>
            <a:ext cx="2359152" cy="658368"/>
          </a:xfrm>
          <a:prstGeom prst="rect">
            <a:avLst/>
          </a:prstGeom>
          <a:noFill/>
          <a:ln/>
        </p:spPr>
        <p:txBody>
          <a:bodyPr wrap="square" lIns="0" tIns="0" rIns="0" bIns="0" rtlCol="0" anchor="t"/>
          <a:lstStyle/>
          <a:p>
            <a:pPr algn="ctr" indent="0" marL="0">
              <a:lnSpc>
                <a:spcPct val="105000"/>
              </a:lnSpc>
              <a:buNone/>
            </a:pPr>
            <a:r>
              <a:rPr lang="en-US" sz="1200" dirty="0">
                <a:solidFill>
                  <a:srgbClr val="9BA6C4"/>
                </a:solidFill>
                <a:latin typeface="Calibri" pitchFamily="34" charset="0"/>
                <a:ea typeface="Calibri" pitchFamily="34" charset="-122"/>
                <a:cs typeface="Calibri" pitchFamily="34" charset="-120"/>
              </a:rPr>
              <a:t>haben einen Trial</a:t>
            </a:r>
            <a:endParaRPr lang="en-US" sz="1200" dirty="0"/>
          </a:p>
          <a:p>
            <a:pPr algn="ctr" indent="0" marL="0">
              <a:lnSpc>
                <a:spcPct val="105000"/>
              </a:lnSpc>
              <a:buNone/>
            </a:pPr>
            <a:r>
              <a:rPr lang="en-US" sz="1200" dirty="0">
                <a:solidFill>
                  <a:srgbClr val="9BA6C4"/>
                </a:solidFill>
                <a:latin typeface="Calibri" pitchFamily="34" charset="0"/>
                <a:ea typeface="Calibri" pitchFamily="34" charset="-122"/>
                <a:cs typeface="Calibri" pitchFamily="34" charset="-120"/>
              </a:rPr>
              <a:t>gestartet</a:t>
            </a:r>
            <a:endParaRPr lang="en-US" sz="1200" dirty="0"/>
          </a:p>
        </p:txBody>
      </p:sp>
      <p:sp>
        <p:nvSpPr>
          <p:cNvPr id="11" name="Shape 8"/>
          <p:cNvSpPr/>
          <p:nvPr/>
        </p:nvSpPr>
        <p:spPr>
          <a:xfrm>
            <a:off x="6236208" y="3611880"/>
            <a:ext cx="2578608" cy="1572768"/>
          </a:xfrm>
          <a:prstGeom prst="roundRect">
            <a:avLst>
              <a:gd name="adj" fmla="val 5814"/>
            </a:avLst>
          </a:prstGeom>
          <a:solidFill>
            <a:srgbClr val="1E2740"/>
          </a:solidFill>
          <a:ln w="12700">
            <a:solidFill>
              <a:srgbClr val="2C3857"/>
            </a:solidFill>
            <a:prstDash val="solid"/>
          </a:ln>
        </p:spPr>
      </p:sp>
      <p:sp>
        <p:nvSpPr>
          <p:cNvPr id="12" name="Text 9"/>
          <p:cNvSpPr txBox="1"/>
          <p:nvPr/>
        </p:nvSpPr>
        <p:spPr>
          <a:xfrm>
            <a:off x="6236208" y="3721608"/>
            <a:ext cx="2578608" cy="713232"/>
          </a:xfrm>
          <a:prstGeom prst="rect">
            <a:avLst/>
          </a:prstGeom>
          <a:noFill/>
          <a:ln/>
        </p:spPr>
        <p:txBody>
          <a:bodyPr wrap="square" lIns="0" tIns="0" rIns="0" bIns="0" rtlCol="0" anchor="ctr"/>
          <a:lstStyle/>
          <a:p>
            <a:pPr algn="ctr" indent="0" marL="0">
              <a:buNone/>
            </a:pPr>
            <a:r>
              <a:rPr lang="en-US" sz="4400" b="1" dirty="0">
                <a:solidFill>
                  <a:srgbClr val="D93B72"/>
                </a:solidFill>
                <a:latin typeface="Calibri" pitchFamily="34" charset="0"/>
                <a:ea typeface="Calibri" pitchFamily="34" charset="-122"/>
                <a:cs typeface="Calibri" pitchFamily="34" charset="-120"/>
              </a:rPr>
              <a:t>3</a:t>
            </a:r>
            <a:endParaRPr lang="en-US" sz="4400" dirty="0"/>
          </a:p>
        </p:txBody>
      </p:sp>
      <p:sp>
        <p:nvSpPr>
          <p:cNvPr id="13" name="Text 10"/>
          <p:cNvSpPr txBox="1"/>
          <p:nvPr/>
        </p:nvSpPr>
        <p:spPr>
          <a:xfrm>
            <a:off x="6345936" y="4434840"/>
            <a:ext cx="2359152" cy="658368"/>
          </a:xfrm>
          <a:prstGeom prst="rect">
            <a:avLst/>
          </a:prstGeom>
          <a:noFill/>
          <a:ln/>
        </p:spPr>
        <p:txBody>
          <a:bodyPr wrap="square" lIns="0" tIns="0" rIns="0" bIns="0" rtlCol="0" anchor="t"/>
          <a:lstStyle/>
          <a:p>
            <a:pPr algn="ctr" indent="0" marL="0">
              <a:lnSpc>
                <a:spcPct val="105000"/>
              </a:lnSpc>
              <a:buNone/>
            </a:pPr>
            <a:r>
              <a:rPr lang="en-US" sz="1200" dirty="0">
                <a:solidFill>
                  <a:srgbClr val="9BA6C4"/>
                </a:solidFill>
                <a:latin typeface="Calibri" pitchFamily="34" charset="0"/>
                <a:ea typeface="Calibri" pitchFamily="34" charset="-122"/>
                <a:cs typeface="Calibri" pitchFamily="34" charset="-120"/>
              </a:rPr>
              <a:t>sind zahlend geworden</a:t>
            </a:r>
            <a:endParaRPr lang="en-US" sz="1200" dirty="0"/>
          </a:p>
          <a:p>
            <a:pPr algn="ctr" indent="0" marL="0">
              <a:lnSpc>
                <a:spcPct val="105000"/>
              </a:lnSpc>
              <a:buNone/>
            </a:pPr>
            <a:r>
              <a:rPr lang="en-US" sz="1200" dirty="0">
                <a:solidFill>
                  <a:srgbClr val="9BA6C4"/>
                </a:solidFill>
                <a:latin typeface="Calibri" pitchFamily="34" charset="0"/>
                <a:ea typeface="Calibri" pitchFamily="34" charset="-122"/>
                <a:cs typeface="Calibri" pitchFamily="34" charset="-120"/>
              </a:rPr>
              <a:t>(13.06.–10.09.)</a:t>
            </a:r>
            <a:endParaRPr lang="en-US" sz="1200" dirty="0"/>
          </a:p>
        </p:txBody>
      </p:sp>
      <p:sp>
        <p:nvSpPr>
          <p:cNvPr id="14" name="Shape 11"/>
          <p:cNvSpPr/>
          <p:nvPr/>
        </p:nvSpPr>
        <p:spPr>
          <a:xfrm>
            <a:off x="9070848" y="3611880"/>
            <a:ext cx="2578608" cy="1572768"/>
          </a:xfrm>
          <a:prstGeom prst="roundRect">
            <a:avLst>
              <a:gd name="adj" fmla="val 5814"/>
            </a:avLst>
          </a:prstGeom>
          <a:solidFill>
            <a:srgbClr val="1E2740"/>
          </a:solidFill>
          <a:ln w="12700">
            <a:solidFill>
              <a:srgbClr val="2C3857"/>
            </a:solidFill>
            <a:prstDash val="solid"/>
          </a:ln>
        </p:spPr>
      </p:sp>
      <p:sp>
        <p:nvSpPr>
          <p:cNvPr id="15" name="Text 12"/>
          <p:cNvSpPr txBox="1"/>
          <p:nvPr/>
        </p:nvSpPr>
        <p:spPr>
          <a:xfrm>
            <a:off x="9070848" y="3721608"/>
            <a:ext cx="2578608" cy="713232"/>
          </a:xfrm>
          <a:prstGeom prst="rect">
            <a:avLst/>
          </a:prstGeom>
          <a:noFill/>
          <a:ln/>
        </p:spPr>
        <p:txBody>
          <a:bodyPr wrap="square" lIns="0" tIns="0" rIns="0" bIns="0" rtlCol="0" anchor="ctr"/>
          <a:lstStyle/>
          <a:p>
            <a:pPr algn="ctr" indent="0" marL="0">
              <a:buNone/>
            </a:pPr>
            <a:r>
              <a:rPr lang="en-US" sz="4400" b="1" dirty="0">
                <a:solidFill>
                  <a:srgbClr val="D93B72"/>
                </a:solidFill>
                <a:latin typeface="Calibri" pitchFamily="34" charset="0"/>
                <a:ea typeface="Calibri" pitchFamily="34" charset="-122"/>
                <a:cs typeface="Calibri" pitchFamily="34" charset="-120"/>
              </a:rPr>
              <a:t>2</a:t>
            </a:r>
            <a:endParaRPr lang="en-US" sz="4400" dirty="0"/>
          </a:p>
        </p:txBody>
      </p:sp>
      <p:sp>
        <p:nvSpPr>
          <p:cNvPr id="16" name="Text 13"/>
          <p:cNvSpPr txBox="1"/>
          <p:nvPr/>
        </p:nvSpPr>
        <p:spPr>
          <a:xfrm>
            <a:off x="9180576" y="4434840"/>
            <a:ext cx="2359152" cy="658368"/>
          </a:xfrm>
          <a:prstGeom prst="rect">
            <a:avLst/>
          </a:prstGeom>
          <a:noFill/>
          <a:ln/>
        </p:spPr>
        <p:txBody>
          <a:bodyPr wrap="square" lIns="0" tIns="0" rIns="0" bIns="0" rtlCol="0" anchor="t"/>
          <a:lstStyle/>
          <a:p>
            <a:pPr algn="ctr" indent="0" marL="0">
              <a:lnSpc>
                <a:spcPct val="105000"/>
              </a:lnSpc>
              <a:buNone/>
            </a:pPr>
            <a:r>
              <a:rPr lang="en-US" sz="1200" dirty="0">
                <a:solidFill>
                  <a:srgbClr val="9BA6C4"/>
                </a:solidFill>
                <a:latin typeface="Calibri" pitchFamily="34" charset="0"/>
                <a:ea typeface="Calibri" pitchFamily="34" charset="-122"/>
                <a:cs typeface="Calibri" pitchFamily="34" charset="-120"/>
              </a:rPr>
              <a:t>zahlen heute</a:t>
            </a:r>
            <a:endParaRPr lang="en-US" sz="1200" dirty="0"/>
          </a:p>
        </p:txBody>
      </p:sp>
      <p:sp>
        <p:nvSpPr>
          <p:cNvPr id="17" name="Text 14"/>
          <p:cNvSpPr txBox="1"/>
          <p:nvPr/>
        </p:nvSpPr>
        <p:spPr>
          <a:xfrm>
            <a:off x="566928" y="5596128"/>
            <a:ext cx="548640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11. September 2026</a:t>
            </a:r>
            <a:endParaRPr lang="en-US" sz="1300" dirty="0"/>
          </a:p>
        </p:txBody>
      </p:sp>
      <p:sp>
        <p:nvSpPr>
          <p:cNvPr id="18" name="Text 15"/>
          <p:cNvSpPr txBox="1"/>
          <p:nvPr/>
        </p:nvSpPr>
        <p:spPr>
          <a:xfrm>
            <a:off x="566928" y="5907024"/>
            <a:ext cx="11055096" cy="365760"/>
          </a:xfrm>
          <a:prstGeom prst="rect">
            <a:avLst/>
          </a:prstGeom>
          <a:noFill/>
          <a:ln/>
        </p:spPr>
        <p:txBody>
          <a:bodyPr wrap="square" lIns="0" tIns="0" rIns="0" bIns="0" rtlCol="0" anchor="ctr"/>
          <a:lstStyle/>
          <a:p>
            <a:pPr indent="0" marL="0">
              <a:buNone/>
            </a:pPr>
            <a:r>
              <a:rPr lang="en-US" sz="1050" dirty="0">
                <a:solidFill>
                  <a:srgbClr val="6F7A99"/>
                </a:solidFill>
                <a:latin typeface="Calibri" pitchFamily="34" charset="0"/>
                <a:ea typeface="Calibri" pitchFamily="34" charset="-122"/>
                <a:cs typeface="Calibri" pitchFamily="34" charset="-120"/>
              </a:rPr>
              <a:t>Datenbasis: App Store Connect und Superwall, jeweils Year-to-date 01.01.–09./11.09.2026 · Abo-Bestand nur 13.06.–10.09. · Benchmarks: RevenueCat Education sowie kategoriespezifische Sign-up→Trial-Werte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141A2E"/>
                </a:solidFill>
                <a:latin typeface="Cambria" pitchFamily="34" charset="0"/>
                <a:ea typeface="Cambria" pitchFamily="34" charset="-122"/>
                <a:cs typeface="Cambria" pitchFamily="34" charset="-120"/>
              </a:rPr>
              <a:t>Die Kernaussage</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4A5470"/>
                </a:solidFill>
                <a:latin typeface="Calibri" pitchFamily="34" charset="0"/>
                <a:ea typeface="Calibri" pitchFamily="34" charset="-122"/>
                <a:cs typeface="Calibri" pitchFamily="34" charset="-120"/>
              </a:rPr>
              <a:t>Was die Daten eindeutig hergeben — und was nicht</a:t>
            </a:r>
            <a:endParaRPr lang="en-US" sz="1450" dirty="0"/>
          </a:p>
        </p:txBody>
      </p:sp>
      <p:sp>
        <p:nvSpPr>
          <p:cNvPr id="5" name="Shape 2"/>
          <p:cNvSpPr/>
          <p:nvPr/>
        </p:nvSpPr>
        <p:spPr>
          <a:xfrm>
            <a:off x="566928" y="1554480"/>
            <a:ext cx="11055096" cy="1371600"/>
          </a:xfrm>
          <a:prstGeom prst="roundRect">
            <a:avLst>
              <a:gd name="adj" fmla="val 6000"/>
            </a:avLst>
          </a:prstGeom>
          <a:solidFill>
            <a:srgbClr val="141A2E"/>
          </a:solidFill>
          <a:ln w="12700">
            <a:solidFill>
              <a:srgbClr val="141A2E"/>
            </a:solidFill>
            <a:prstDash val="solid"/>
          </a:ln>
        </p:spPr>
      </p:sp>
      <p:sp>
        <p:nvSpPr>
          <p:cNvPr id="6" name="Text 3"/>
          <p:cNvSpPr txBox="1"/>
          <p:nvPr/>
        </p:nvSpPr>
        <p:spPr>
          <a:xfrm>
            <a:off x="978408" y="1664208"/>
            <a:ext cx="10232136" cy="749808"/>
          </a:xfrm>
          <a:prstGeom prst="rect">
            <a:avLst/>
          </a:prstGeom>
          <a:noFill/>
          <a:ln/>
        </p:spPr>
        <p:txBody>
          <a:bodyPr wrap="square" lIns="0" tIns="0" rIns="0" bIns="0" rtlCol="0" anchor="t"/>
          <a:lstStyle/>
          <a:p>
            <a:pPr indent="0" marL="0">
              <a:buNone/>
            </a:pPr>
            <a:r>
              <a:rPr lang="en-US" sz="2500" b="1" dirty="0">
                <a:solidFill>
                  <a:srgbClr val="FFFFFF"/>
                </a:solidFill>
                <a:latin typeface="Cambria" pitchFamily="34" charset="0"/>
                <a:ea typeface="Cambria" pitchFamily="34" charset="-122"/>
                <a:cs typeface="Cambria" pitchFamily="34" charset="-120"/>
              </a:rPr>
              <a:t>612 Downloads in gut acht Monaten. 41 Trials. 3 Zahler. 2 sind geblieben.</a:t>
            </a:r>
            <a:endParaRPr lang="en-US" sz="2500" dirty="0"/>
          </a:p>
        </p:txBody>
      </p:sp>
      <p:sp>
        <p:nvSpPr>
          <p:cNvPr id="7" name="Text 4"/>
          <p:cNvSpPr txBox="1"/>
          <p:nvPr/>
        </p:nvSpPr>
        <p:spPr>
          <a:xfrm>
            <a:off x="978408" y="2432304"/>
            <a:ext cx="10232136" cy="402336"/>
          </a:xfrm>
          <a:prstGeom prst="rect">
            <a:avLst/>
          </a:prstGeom>
          <a:noFill/>
          <a:ln/>
        </p:spPr>
        <p:txBody>
          <a:bodyPr wrap="square" lIns="0" tIns="0" rIns="0" bIns="0" rtlCol="0" anchor="ctr"/>
          <a:lstStyle/>
          <a:p>
            <a:pPr indent="0" marL="0">
              <a:buNone/>
            </a:pPr>
            <a:r>
              <a:rPr lang="en-US" sz="1500" dirty="0">
                <a:solidFill>
                  <a:srgbClr val="AAB4CE"/>
                </a:solidFill>
                <a:latin typeface="Calibri" pitchFamily="34" charset="0"/>
                <a:ea typeface="Calibri" pitchFamily="34" charset="-122"/>
                <a:cs typeface="Calibri" pitchFamily="34" charset="-120"/>
              </a:rPr>
              <a:t>Wir haben zwei Probleme, nicht eines: zu wenig Sichtbarkeit im App Store — und aus dem wenigen, das ankommt, machen wir zu wenig.</a:t>
            </a:r>
            <a:endParaRPr lang="en-US" sz="1500" dirty="0"/>
          </a:p>
        </p:txBody>
      </p:sp>
      <p:sp>
        <p:nvSpPr>
          <p:cNvPr id="8" name="Shape 5"/>
          <p:cNvSpPr/>
          <p:nvPr/>
        </p:nvSpPr>
        <p:spPr>
          <a:xfrm>
            <a:off x="566928" y="3090672"/>
            <a:ext cx="3477768" cy="2834640"/>
          </a:xfrm>
          <a:prstGeom prst="roundRect">
            <a:avLst>
              <a:gd name="adj" fmla="val 2903"/>
            </a:avLst>
          </a:prstGeom>
          <a:solidFill>
            <a:srgbClr val="FBF0DC"/>
          </a:solidFill>
          <a:ln w="12700">
            <a:solidFill>
              <a:srgbClr val="FBF0DC"/>
            </a:solidFill>
            <a:prstDash val="solid"/>
          </a:ln>
        </p:spPr>
      </p:sp>
      <p:sp>
        <p:nvSpPr>
          <p:cNvPr id="9" name="Shape 6"/>
          <p:cNvSpPr/>
          <p:nvPr/>
        </p:nvSpPr>
        <p:spPr>
          <a:xfrm>
            <a:off x="877824" y="3310128"/>
            <a:ext cx="384048" cy="384048"/>
          </a:xfrm>
          <a:prstGeom prst="roundRect">
            <a:avLst>
              <a:gd name="adj" fmla="val 28571"/>
            </a:avLst>
          </a:prstGeom>
          <a:solidFill>
            <a:srgbClr val="B0761A"/>
          </a:solidFill>
          <a:ln w="12700">
            <a:solidFill>
              <a:srgbClr val="B0761A"/>
            </a:solidFill>
            <a:prstDash val="solid"/>
          </a:ln>
        </p:spPr>
      </p:sp>
      <p:sp>
        <p:nvSpPr>
          <p:cNvPr id="10" name="Text 7"/>
          <p:cNvSpPr txBox="1"/>
          <p:nvPr/>
        </p:nvSpPr>
        <p:spPr>
          <a:xfrm>
            <a:off x="877824" y="33101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8"/>
          <p:cNvSpPr txBox="1"/>
          <p:nvPr/>
        </p:nvSpPr>
        <p:spPr>
          <a:xfrm>
            <a:off x="877824" y="3822192"/>
            <a:ext cx="2855976" cy="566928"/>
          </a:xfrm>
          <a:prstGeom prst="rect">
            <a:avLst/>
          </a:prstGeom>
          <a:noFill/>
          <a:ln/>
        </p:spPr>
        <p:txBody>
          <a:bodyPr wrap="square" lIns="0" tIns="0" rIns="0" bIns="0" rtlCol="0" anchor="t"/>
          <a:lstStyle/>
          <a:p>
            <a:pPr indent="0" marL="0">
              <a:lnSpc>
                <a:spcPct val="100000"/>
              </a:lnSpc>
              <a:buNone/>
            </a:pPr>
            <a:r>
              <a:rPr lang="en-US" sz="1550" b="1" dirty="0">
                <a:solidFill>
                  <a:srgbClr val="141A2E"/>
                </a:solidFill>
                <a:latin typeface="Calibri" pitchFamily="34" charset="0"/>
                <a:ea typeface="Calibri" pitchFamily="34" charset="-122"/>
                <a:cs typeface="Calibri" pitchFamily="34" charset="-120"/>
              </a:rPr>
              <a:t>Der Trial-Start ist schwächer, als er aussieht</a:t>
            </a:r>
            <a:endParaRPr lang="en-US" sz="1550" dirty="0"/>
          </a:p>
        </p:txBody>
      </p:sp>
      <p:sp>
        <p:nvSpPr>
          <p:cNvPr id="12" name="Text 9"/>
          <p:cNvSpPr txBox="1"/>
          <p:nvPr/>
        </p:nvSpPr>
        <p:spPr>
          <a:xfrm>
            <a:off x="877824" y="4425696"/>
            <a:ext cx="2855976" cy="1335024"/>
          </a:xfrm>
          <a:prstGeom prst="rect">
            <a:avLst/>
          </a:prstGeom>
          <a:noFill/>
          <a:ln/>
        </p:spPr>
        <p:txBody>
          <a:bodyPr wrap="square" lIns="0" tIns="0" rIns="0" bIns="0" rtlCol="0" anchor="t"/>
          <a:lstStyle/>
          <a:p>
            <a:pPr indent="0" marL="0">
              <a:lnSpc>
                <a:spcPct val="108000"/>
              </a:lnSpc>
              <a:buNone/>
            </a:pPr>
            <a:r>
              <a:rPr lang="en-US" sz="1150" dirty="0">
                <a:solidFill>
                  <a:srgbClr val="4A5470"/>
                </a:solidFill>
                <a:latin typeface="Calibri" pitchFamily="34" charset="0"/>
                <a:ea typeface="Calibri" pitchFamily="34" charset="-122"/>
                <a:cs typeface="Calibri" pitchFamily="34" charset="-120"/>
              </a:rPr>
              <a:t>Pro Download 6,7 % (Median 6,5 %). Pro Account nur 6,4 % gegen 14–19 % Median — dieser Abstand ist aber eine Kohortenfrage, keine Leistungsfrage. Richtig verglichen liegen wir bei 14,2 % und damit am unteren Rand des Korridors. Folie 8.</a:t>
            </a:r>
            <a:endParaRPr lang="en-US" sz="1150" dirty="0"/>
          </a:p>
        </p:txBody>
      </p:sp>
      <p:sp>
        <p:nvSpPr>
          <p:cNvPr id="13" name="Shape 10"/>
          <p:cNvSpPr/>
          <p:nvPr/>
        </p:nvSpPr>
        <p:spPr>
          <a:xfrm>
            <a:off x="4355592" y="3090672"/>
            <a:ext cx="3477768" cy="2834640"/>
          </a:xfrm>
          <a:prstGeom prst="roundRect">
            <a:avLst>
              <a:gd name="adj" fmla="val 2903"/>
            </a:avLst>
          </a:prstGeom>
          <a:solidFill>
            <a:srgbClr val="FBE7EF"/>
          </a:solidFill>
          <a:ln w="12700">
            <a:solidFill>
              <a:srgbClr val="FBE7EF"/>
            </a:solidFill>
            <a:prstDash val="solid"/>
          </a:ln>
        </p:spPr>
      </p:sp>
      <p:sp>
        <p:nvSpPr>
          <p:cNvPr id="14" name="Shape 11"/>
          <p:cNvSpPr/>
          <p:nvPr/>
        </p:nvSpPr>
        <p:spPr>
          <a:xfrm>
            <a:off x="4666488" y="3310128"/>
            <a:ext cx="384048" cy="384048"/>
          </a:xfrm>
          <a:prstGeom prst="roundRect">
            <a:avLst>
              <a:gd name="adj" fmla="val 28571"/>
            </a:avLst>
          </a:prstGeom>
          <a:solidFill>
            <a:srgbClr val="D93B72"/>
          </a:solidFill>
          <a:ln w="12700">
            <a:solidFill>
              <a:srgbClr val="D93B72"/>
            </a:solidFill>
            <a:prstDash val="solid"/>
          </a:ln>
        </p:spPr>
      </p:sp>
      <p:sp>
        <p:nvSpPr>
          <p:cNvPr id="15" name="Text 12"/>
          <p:cNvSpPr txBox="1"/>
          <p:nvPr/>
        </p:nvSpPr>
        <p:spPr>
          <a:xfrm>
            <a:off x="4666488" y="33101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txBox="1"/>
          <p:nvPr/>
        </p:nvSpPr>
        <p:spPr>
          <a:xfrm>
            <a:off x="4666488" y="3822192"/>
            <a:ext cx="2855976" cy="566928"/>
          </a:xfrm>
          <a:prstGeom prst="rect">
            <a:avLst/>
          </a:prstGeom>
          <a:noFill/>
          <a:ln/>
        </p:spPr>
        <p:txBody>
          <a:bodyPr wrap="square" lIns="0" tIns="0" rIns="0" bIns="0" rtlCol="0" anchor="t"/>
          <a:lstStyle/>
          <a:p>
            <a:pPr indent="0" marL="0">
              <a:lnSpc>
                <a:spcPct val="100000"/>
              </a:lnSpc>
              <a:buNone/>
            </a:pPr>
            <a:r>
              <a:rPr lang="en-US" sz="1550" b="1" dirty="0">
                <a:solidFill>
                  <a:srgbClr val="141A2E"/>
                </a:solidFill>
                <a:latin typeface="Calibri" pitchFamily="34" charset="0"/>
                <a:ea typeface="Calibri" pitchFamily="34" charset="-122"/>
                <a:cs typeface="Calibri" pitchFamily="34" charset="-120"/>
              </a:rPr>
              <a:t>Der Bruch liegt bei Trial → Zahlend</a:t>
            </a:r>
            <a:endParaRPr lang="en-US" sz="1550" dirty="0"/>
          </a:p>
        </p:txBody>
      </p:sp>
      <p:sp>
        <p:nvSpPr>
          <p:cNvPr id="17" name="Text 14"/>
          <p:cNvSpPr txBox="1"/>
          <p:nvPr/>
        </p:nvSpPr>
        <p:spPr>
          <a:xfrm>
            <a:off x="4666488" y="4425696"/>
            <a:ext cx="2855976" cy="1335024"/>
          </a:xfrm>
          <a:prstGeom prst="rect">
            <a:avLst/>
          </a:prstGeom>
          <a:noFill/>
          <a:ln/>
        </p:spPr>
        <p:txBody>
          <a:bodyPr wrap="square" lIns="0" tIns="0" rIns="0" bIns="0" rtlCol="0" anchor="t"/>
          <a:lstStyle/>
          <a:p>
            <a:pPr indent="0" marL="0">
              <a:lnSpc>
                <a:spcPct val="108000"/>
              </a:lnSpc>
              <a:buNone/>
            </a:pPr>
            <a:r>
              <a:rPr lang="en-US" sz="1150" dirty="0">
                <a:solidFill>
                  <a:srgbClr val="4A5470"/>
                </a:solidFill>
                <a:latin typeface="Calibri" pitchFamily="34" charset="0"/>
                <a:ea typeface="Calibri" pitchFamily="34" charset="-122"/>
                <a:cs typeface="Calibri" pitchFamily="34" charset="-120"/>
              </a:rPr>
              <a:t>7,3 % statt 30,1 % Median — Faktor 4. Hier verlieren wir das meiste Geld, und hier haben wir bislang am wenigsten hingeschaut.</a:t>
            </a:r>
            <a:endParaRPr lang="en-US" sz="1150" dirty="0"/>
          </a:p>
        </p:txBody>
      </p:sp>
      <p:sp>
        <p:nvSpPr>
          <p:cNvPr id="18" name="Shape 15"/>
          <p:cNvSpPr/>
          <p:nvPr/>
        </p:nvSpPr>
        <p:spPr>
          <a:xfrm>
            <a:off x="8144256" y="3090672"/>
            <a:ext cx="3477768" cy="2834640"/>
          </a:xfrm>
          <a:prstGeom prst="roundRect">
            <a:avLst>
              <a:gd name="adj" fmla="val 2903"/>
            </a:avLst>
          </a:prstGeom>
          <a:solidFill>
            <a:srgbClr val="FBF0DC"/>
          </a:solidFill>
          <a:ln w="12700">
            <a:solidFill>
              <a:srgbClr val="FBF0DC"/>
            </a:solidFill>
            <a:prstDash val="solid"/>
          </a:ln>
        </p:spPr>
      </p:sp>
      <p:sp>
        <p:nvSpPr>
          <p:cNvPr id="19" name="Shape 16"/>
          <p:cNvSpPr/>
          <p:nvPr/>
        </p:nvSpPr>
        <p:spPr>
          <a:xfrm>
            <a:off x="8455152" y="3310128"/>
            <a:ext cx="384048" cy="384048"/>
          </a:xfrm>
          <a:prstGeom prst="roundRect">
            <a:avLst>
              <a:gd name="adj" fmla="val 28571"/>
            </a:avLst>
          </a:prstGeom>
          <a:solidFill>
            <a:srgbClr val="B0761A"/>
          </a:solidFill>
          <a:ln w="12700">
            <a:solidFill>
              <a:srgbClr val="B0761A"/>
            </a:solidFill>
            <a:prstDash val="solid"/>
          </a:ln>
        </p:spPr>
      </p:sp>
      <p:sp>
        <p:nvSpPr>
          <p:cNvPr id="20" name="Text 17"/>
          <p:cNvSpPr txBox="1"/>
          <p:nvPr/>
        </p:nvSpPr>
        <p:spPr>
          <a:xfrm>
            <a:off x="8455152" y="33101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txBox="1"/>
          <p:nvPr/>
        </p:nvSpPr>
        <p:spPr>
          <a:xfrm>
            <a:off x="8455152" y="3822192"/>
            <a:ext cx="2855976" cy="566928"/>
          </a:xfrm>
          <a:prstGeom prst="rect">
            <a:avLst/>
          </a:prstGeom>
          <a:noFill/>
          <a:ln/>
        </p:spPr>
        <p:txBody>
          <a:bodyPr wrap="square" lIns="0" tIns="0" rIns="0" bIns="0" rtlCol="0" anchor="t"/>
          <a:lstStyle/>
          <a:p>
            <a:pPr indent="0" marL="0">
              <a:lnSpc>
                <a:spcPct val="100000"/>
              </a:lnSpc>
              <a:buNone/>
            </a:pPr>
            <a:r>
              <a:rPr lang="en-US" sz="1550" b="1" dirty="0">
                <a:solidFill>
                  <a:srgbClr val="141A2E"/>
                </a:solidFill>
                <a:latin typeface="Calibri" pitchFamily="34" charset="0"/>
                <a:ea typeface="Calibri" pitchFamily="34" charset="-122"/>
                <a:cs typeface="Calibri" pitchFamily="34" charset="-120"/>
              </a:rPr>
              <a:t>Und darüber: 178 Impressionen am Tag</a:t>
            </a:r>
            <a:endParaRPr lang="en-US" sz="1550" dirty="0"/>
          </a:p>
        </p:txBody>
      </p:sp>
      <p:sp>
        <p:nvSpPr>
          <p:cNvPr id="22" name="Text 19"/>
          <p:cNvSpPr txBox="1"/>
          <p:nvPr/>
        </p:nvSpPr>
        <p:spPr>
          <a:xfrm>
            <a:off x="8455152" y="4425696"/>
            <a:ext cx="2855976" cy="1335024"/>
          </a:xfrm>
          <a:prstGeom prst="rect">
            <a:avLst/>
          </a:prstGeom>
          <a:noFill/>
          <a:ln/>
        </p:spPr>
        <p:txBody>
          <a:bodyPr wrap="square" lIns="0" tIns="0" rIns="0" bIns="0" rtlCol="0" anchor="t"/>
          <a:lstStyle/>
          <a:p>
            <a:pPr indent="0" marL="0">
              <a:lnSpc>
                <a:spcPct val="108000"/>
              </a:lnSpc>
              <a:buNone/>
            </a:pPr>
            <a:r>
              <a:rPr lang="en-US" sz="1150" dirty="0">
                <a:solidFill>
                  <a:srgbClr val="4A5470"/>
                </a:solidFill>
                <a:latin typeface="Calibri" pitchFamily="34" charset="0"/>
                <a:ea typeface="Calibri" pitchFamily="34" charset="-122"/>
                <a:cs typeface="Calibri" pitchFamily="34" charset="-120"/>
              </a:rPr>
              <a:t>Der ganze Funnel startet mit 44.757 App-Store-Impressionen im Jahr. Das sind 2,4 Downloads pro Tag. Selbst ein perfekter Funnel bliebe damit klein.</a:t>
            </a:r>
            <a:endParaRPr lang="en-US" sz="1150" dirty="0"/>
          </a:p>
        </p:txBody>
      </p:sp>
      <p:sp>
        <p:nvSpPr>
          <p:cNvPr id="23" name="Text 20"/>
          <p:cNvSpPr txBox="1"/>
          <p:nvPr/>
        </p:nvSpPr>
        <p:spPr>
          <a:xfrm>
            <a:off x="566928" y="6236208"/>
            <a:ext cx="11055096" cy="347472"/>
          </a:xfrm>
          <a:prstGeom prst="rect">
            <a:avLst/>
          </a:prstGeom>
          <a:noFill/>
          <a:ln/>
        </p:spPr>
        <p:txBody>
          <a:bodyPr wrap="square" lIns="0" tIns="0" rIns="0" bIns="0" rtlCol="0" anchor="ctr"/>
          <a:lstStyle/>
          <a:p>
            <a:pPr indent="0" marL="0">
              <a:buNone/>
            </a:pPr>
            <a:r>
              <a:rPr lang="en-US" sz="1050" i="1" dirty="0">
                <a:solidFill>
                  <a:srgbClr val="7C86A2"/>
                </a:solidFill>
                <a:latin typeface="Calibri" pitchFamily="34" charset="0"/>
                <a:ea typeface="Calibri" pitchFamily="34" charset="-122"/>
                <a:cs typeface="Calibri" pitchFamily="34" charset="-120"/>
              </a:rPr>
              <a:t>Benchmarks: RevenueCat State of Subscription Apps, Kategorie Education.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141A2E"/>
                </a:solidFill>
                <a:latin typeface="Cambria" pitchFamily="34" charset="0"/>
                <a:ea typeface="Cambria" pitchFamily="34" charset="-122"/>
                <a:cs typeface="Cambria" pitchFamily="34" charset="-120"/>
              </a:rPr>
              <a:t>Der Funnel beginnt im App Store</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4A5470"/>
                </a:solidFill>
                <a:latin typeface="Calibri" pitchFamily="34" charset="0"/>
                <a:ea typeface="Calibri" pitchFamily="34" charset="-122"/>
                <a:cs typeface="Calibri" pitchFamily="34" charset="-120"/>
              </a:rPr>
              <a:t>Year-to-date 01.01.–09.09.2026 · App Store Connect, alle Regionen</a:t>
            </a:r>
            <a:endParaRPr lang="en-US" sz="1450" dirty="0"/>
          </a:p>
        </p:txBody>
      </p:sp>
      <p:sp>
        <p:nvSpPr>
          <p:cNvPr id="5" name="Shape 2"/>
          <p:cNvSpPr/>
          <p:nvPr/>
        </p:nvSpPr>
        <p:spPr>
          <a:xfrm>
            <a:off x="566928" y="1664208"/>
            <a:ext cx="3477768" cy="2377440"/>
          </a:xfrm>
          <a:prstGeom prst="roundRect">
            <a:avLst>
              <a:gd name="adj" fmla="val 3462"/>
            </a:avLst>
          </a:prstGeom>
          <a:solidFill>
            <a:srgbClr val="F1F3F8"/>
          </a:solidFill>
          <a:ln w="12700">
            <a:solidFill>
              <a:srgbClr val="F1F3F8"/>
            </a:solidFill>
            <a:prstDash val="solid"/>
          </a:ln>
        </p:spPr>
      </p:sp>
      <p:sp>
        <p:nvSpPr>
          <p:cNvPr id="6" name="Text 3"/>
          <p:cNvSpPr txBox="1"/>
          <p:nvPr/>
        </p:nvSpPr>
        <p:spPr>
          <a:xfrm>
            <a:off x="841248" y="1883664"/>
            <a:ext cx="2929128" cy="822960"/>
          </a:xfrm>
          <a:prstGeom prst="rect">
            <a:avLst/>
          </a:prstGeom>
          <a:noFill/>
          <a:ln/>
        </p:spPr>
        <p:txBody>
          <a:bodyPr wrap="square" lIns="0" tIns="0" rIns="0" bIns="0" rtlCol="0" anchor="ctr"/>
          <a:lstStyle/>
          <a:p>
            <a:pPr algn="ctr" indent="0" marL="0">
              <a:buNone/>
            </a:pPr>
            <a:r>
              <a:rPr lang="en-US" sz="4000" b="1" dirty="0">
                <a:solidFill>
                  <a:srgbClr val="141A2E"/>
                </a:solidFill>
                <a:latin typeface="Calibri" pitchFamily="34" charset="0"/>
                <a:ea typeface="Calibri" pitchFamily="34" charset="-122"/>
                <a:cs typeface="Calibri" pitchFamily="34" charset="-120"/>
              </a:rPr>
              <a:t>44.757</a:t>
            </a:r>
            <a:endParaRPr lang="en-US" sz="4000" dirty="0"/>
          </a:p>
        </p:txBody>
      </p:sp>
      <p:sp>
        <p:nvSpPr>
          <p:cNvPr id="7" name="Text 4"/>
          <p:cNvSpPr txBox="1"/>
          <p:nvPr/>
        </p:nvSpPr>
        <p:spPr>
          <a:xfrm>
            <a:off x="841248" y="2724912"/>
            <a:ext cx="2929128" cy="329184"/>
          </a:xfrm>
          <a:prstGeom prst="rect">
            <a:avLst/>
          </a:prstGeom>
          <a:noFill/>
          <a:ln/>
        </p:spPr>
        <p:txBody>
          <a:bodyPr wrap="square" lIns="0" tIns="0" rIns="0" bIns="0" rtlCol="0" anchor="ctr"/>
          <a:lstStyle/>
          <a:p>
            <a:pPr algn="ctr" indent="0" marL="0">
              <a:buNone/>
            </a:pPr>
            <a:r>
              <a:rPr lang="en-US" sz="1450" b="1" dirty="0">
                <a:solidFill>
                  <a:srgbClr val="141A2E"/>
                </a:solidFill>
                <a:latin typeface="Calibri" pitchFamily="34" charset="0"/>
                <a:ea typeface="Calibri" pitchFamily="34" charset="-122"/>
                <a:cs typeface="Calibri" pitchFamily="34" charset="-120"/>
              </a:rPr>
              <a:t>App-Store-Impressionen</a:t>
            </a:r>
            <a:endParaRPr lang="en-US" sz="1450" dirty="0"/>
          </a:p>
        </p:txBody>
      </p:sp>
      <p:sp>
        <p:nvSpPr>
          <p:cNvPr id="8" name="Text 5"/>
          <p:cNvSpPr txBox="1"/>
          <p:nvPr/>
        </p:nvSpPr>
        <p:spPr>
          <a:xfrm>
            <a:off x="841248" y="3108960"/>
            <a:ext cx="2929128" cy="786384"/>
          </a:xfrm>
          <a:prstGeom prst="rect">
            <a:avLst/>
          </a:prstGeom>
          <a:noFill/>
          <a:ln/>
        </p:spPr>
        <p:txBody>
          <a:bodyPr wrap="square" lIns="0" tIns="0" rIns="0" bIns="0" rtlCol="0" anchor="t"/>
          <a:lstStyle/>
          <a:p>
            <a:pPr algn="ctr" indent="0" marL="0">
              <a:lnSpc>
                <a:spcPct val="108000"/>
              </a:lnSpc>
              <a:buNone/>
            </a:pPr>
            <a:r>
              <a:rPr lang="en-US" sz="1150" dirty="0">
                <a:solidFill>
                  <a:srgbClr val="4A5470"/>
                </a:solidFill>
                <a:latin typeface="Calibri" pitchFamily="34" charset="0"/>
                <a:ea typeface="Calibri" pitchFamily="34" charset="-122"/>
                <a:cs typeface="Calibri" pitchFamily="34" charset="-120"/>
              </a:rPr>
              <a:t>178 pro Tag</a:t>
            </a:r>
            <a:endParaRPr lang="en-US" sz="1150" dirty="0"/>
          </a:p>
        </p:txBody>
      </p:sp>
      <p:sp>
        <p:nvSpPr>
          <p:cNvPr id="9" name="Shape 6"/>
          <p:cNvSpPr/>
          <p:nvPr/>
        </p:nvSpPr>
        <p:spPr>
          <a:xfrm>
            <a:off x="4355592" y="1664208"/>
            <a:ext cx="3477768" cy="2377440"/>
          </a:xfrm>
          <a:prstGeom prst="roundRect">
            <a:avLst>
              <a:gd name="adj" fmla="val 3462"/>
            </a:avLst>
          </a:prstGeom>
          <a:solidFill>
            <a:srgbClr val="F1F3F8"/>
          </a:solidFill>
          <a:ln w="12700">
            <a:solidFill>
              <a:srgbClr val="F1F3F8"/>
            </a:solidFill>
            <a:prstDash val="solid"/>
          </a:ln>
        </p:spPr>
      </p:sp>
      <p:sp>
        <p:nvSpPr>
          <p:cNvPr id="10" name="Text 7"/>
          <p:cNvSpPr txBox="1"/>
          <p:nvPr/>
        </p:nvSpPr>
        <p:spPr>
          <a:xfrm>
            <a:off x="4629912" y="1883664"/>
            <a:ext cx="2929128" cy="822960"/>
          </a:xfrm>
          <a:prstGeom prst="rect">
            <a:avLst/>
          </a:prstGeom>
          <a:noFill/>
          <a:ln/>
        </p:spPr>
        <p:txBody>
          <a:bodyPr wrap="square" lIns="0" tIns="0" rIns="0" bIns="0" rtlCol="0" anchor="ctr"/>
          <a:lstStyle/>
          <a:p>
            <a:pPr algn="ctr" indent="0" marL="0">
              <a:buNone/>
            </a:pPr>
            <a:r>
              <a:rPr lang="en-US" sz="4000" b="1" dirty="0">
                <a:solidFill>
                  <a:srgbClr val="141A2E"/>
                </a:solidFill>
                <a:latin typeface="Calibri" pitchFamily="34" charset="0"/>
                <a:ea typeface="Calibri" pitchFamily="34" charset="-122"/>
                <a:cs typeface="Calibri" pitchFamily="34" charset="-120"/>
              </a:rPr>
              <a:t>1.838</a:t>
            </a:r>
            <a:endParaRPr lang="en-US" sz="4000" dirty="0"/>
          </a:p>
        </p:txBody>
      </p:sp>
      <p:sp>
        <p:nvSpPr>
          <p:cNvPr id="11" name="Text 8"/>
          <p:cNvSpPr txBox="1"/>
          <p:nvPr/>
        </p:nvSpPr>
        <p:spPr>
          <a:xfrm>
            <a:off x="4629912" y="2724912"/>
            <a:ext cx="2929128" cy="329184"/>
          </a:xfrm>
          <a:prstGeom prst="rect">
            <a:avLst/>
          </a:prstGeom>
          <a:noFill/>
          <a:ln/>
        </p:spPr>
        <p:txBody>
          <a:bodyPr wrap="square" lIns="0" tIns="0" rIns="0" bIns="0" rtlCol="0" anchor="ctr"/>
          <a:lstStyle/>
          <a:p>
            <a:pPr algn="ctr" indent="0" marL="0">
              <a:buNone/>
            </a:pPr>
            <a:r>
              <a:rPr lang="en-US" sz="1450" b="1" dirty="0">
                <a:solidFill>
                  <a:srgbClr val="141A2E"/>
                </a:solidFill>
                <a:latin typeface="Calibri" pitchFamily="34" charset="0"/>
                <a:ea typeface="Calibri" pitchFamily="34" charset="-122"/>
                <a:cs typeface="Calibri" pitchFamily="34" charset="-120"/>
              </a:rPr>
              <a:t>Produktseitenaufrufe</a:t>
            </a:r>
            <a:endParaRPr lang="en-US" sz="1450" dirty="0"/>
          </a:p>
        </p:txBody>
      </p:sp>
      <p:sp>
        <p:nvSpPr>
          <p:cNvPr id="12" name="Text 9"/>
          <p:cNvSpPr txBox="1"/>
          <p:nvPr/>
        </p:nvSpPr>
        <p:spPr>
          <a:xfrm>
            <a:off x="4629912" y="3108960"/>
            <a:ext cx="2929128" cy="786384"/>
          </a:xfrm>
          <a:prstGeom prst="rect">
            <a:avLst/>
          </a:prstGeom>
          <a:noFill/>
          <a:ln/>
        </p:spPr>
        <p:txBody>
          <a:bodyPr wrap="square" lIns="0" tIns="0" rIns="0" bIns="0" rtlCol="0" anchor="t"/>
          <a:lstStyle/>
          <a:p>
            <a:pPr algn="ctr" indent="0" marL="0">
              <a:lnSpc>
                <a:spcPct val="108000"/>
              </a:lnSpc>
              <a:buNone/>
            </a:pPr>
            <a:r>
              <a:rPr lang="en-US" sz="1150" dirty="0">
                <a:solidFill>
                  <a:srgbClr val="4A5470"/>
                </a:solidFill>
                <a:latin typeface="Calibri" pitchFamily="34" charset="0"/>
                <a:ea typeface="Calibri" pitchFamily="34" charset="-122"/>
                <a:cs typeface="Calibri" pitchFamily="34" charset="-120"/>
              </a:rPr>
              <a:t>4,1 % der Impressionen — unteres Ende des Üblichen (4–6 %)</a:t>
            </a:r>
            <a:endParaRPr lang="en-US" sz="1150" dirty="0"/>
          </a:p>
        </p:txBody>
      </p:sp>
      <p:sp>
        <p:nvSpPr>
          <p:cNvPr id="13" name="Shape 10"/>
          <p:cNvSpPr/>
          <p:nvPr/>
        </p:nvSpPr>
        <p:spPr>
          <a:xfrm>
            <a:off x="8144256" y="1664208"/>
            <a:ext cx="3477768" cy="2377440"/>
          </a:xfrm>
          <a:prstGeom prst="roundRect">
            <a:avLst>
              <a:gd name="adj" fmla="val 3462"/>
            </a:avLst>
          </a:prstGeom>
          <a:solidFill>
            <a:srgbClr val="E3F2EC"/>
          </a:solidFill>
          <a:ln w="12700">
            <a:solidFill>
              <a:srgbClr val="E3F2EC"/>
            </a:solidFill>
            <a:prstDash val="solid"/>
          </a:ln>
        </p:spPr>
      </p:sp>
      <p:sp>
        <p:nvSpPr>
          <p:cNvPr id="14" name="Text 11"/>
          <p:cNvSpPr txBox="1"/>
          <p:nvPr/>
        </p:nvSpPr>
        <p:spPr>
          <a:xfrm>
            <a:off x="8418576" y="1883664"/>
            <a:ext cx="2929128" cy="822960"/>
          </a:xfrm>
          <a:prstGeom prst="rect">
            <a:avLst/>
          </a:prstGeom>
          <a:noFill/>
          <a:ln/>
        </p:spPr>
        <p:txBody>
          <a:bodyPr wrap="square" lIns="0" tIns="0" rIns="0" bIns="0" rtlCol="0" anchor="ctr"/>
          <a:lstStyle/>
          <a:p>
            <a:pPr algn="ctr" indent="0" marL="0">
              <a:buNone/>
            </a:pPr>
            <a:r>
              <a:rPr lang="en-US" sz="4000" b="1" dirty="0">
                <a:solidFill>
                  <a:srgbClr val="1B7F63"/>
                </a:solidFill>
                <a:latin typeface="Calibri" pitchFamily="34" charset="0"/>
                <a:ea typeface="Calibri" pitchFamily="34" charset="-122"/>
                <a:cs typeface="Calibri" pitchFamily="34" charset="-120"/>
              </a:rPr>
              <a:t>612</a:t>
            </a:r>
            <a:endParaRPr lang="en-US" sz="4000" dirty="0"/>
          </a:p>
        </p:txBody>
      </p:sp>
      <p:sp>
        <p:nvSpPr>
          <p:cNvPr id="15" name="Text 12"/>
          <p:cNvSpPr txBox="1"/>
          <p:nvPr/>
        </p:nvSpPr>
        <p:spPr>
          <a:xfrm>
            <a:off x="8418576" y="2724912"/>
            <a:ext cx="2929128" cy="329184"/>
          </a:xfrm>
          <a:prstGeom prst="rect">
            <a:avLst/>
          </a:prstGeom>
          <a:noFill/>
          <a:ln/>
        </p:spPr>
        <p:txBody>
          <a:bodyPr wrap="square" lIns="0" tIns="0" rIns="0" bIns="0" rtlCol="0" anchor="ctr"/>
          <a:lstStyle/>
          <a:p>
            <a:pPr algn="ctr" indent="0" marL="0">
              <a:buNone/>
            </a:pPr>
            <a:r>
              <a:rPr lang="en-US" sz="1450" b="1" dirty="0">
                <a:solidFill>
                  <a:srgbClr val="141A2E"/>
                </a:solidFill>
                <a:latin typeface="Calibri" pitchFamily="34" charset="0"/>
                <a:ea typeface="Calibri" pitchFamily="34" charset="-122"/>
                <a:cs typeface="Calibri" pitchFamily="34" charset="-120"/>
              </a:rPr>
              <a:t>Erstmalige Downloads</a:t>
            </a:r>
            <a:endParaRPr lang="en-US" sz="1450" dirty="0"/>
          </a:p>
        </p:txBody>
      </p:sp>
      <p:sp>
        <p:nvSpPr>
          <p:cNvPr id="16" name="Text 13"/>
          <p:cNvSpPr txBox="1"/>
          <p:nvPr/>
        </p:nvSpPr>
        <p:spPr>
          <a:xfrm>
            <a:off x="8418576" y="3108960"/>
            <a:ext cx="2929128" cy="786384"/>
          </a:xfrm>
          <a:prstGeom prst="rect">
            <a:avLst/>
          </a:prstGeom>
          <a:noFill/>
          <a:ln/>
        </p:spPr>
        <p:txBody>
          <a:bodyPr wrap="square" lIns="0" tIns="0" rIns="0" bIns="0" rtlCol="0" anchor="t"/>
          <a:lstStyle/>
          <a:p>
            <a:pPr algn="ctr" indent="0" marL="0">
              <a:lnSpc>
                <a:spcPct val="108000"/>
              </a:lnSpc>
              <a:buNone/>
            </a:pPr>
            <a:r>
              <a:rPr lang="en-US" sz="1150" dirty="0">
                <a:solidFill>
                  <a:srgbClr val="4A5470"/>
                </a:solidFill>
                <a:latin typeface="Calibri" pitchFamily="34" charset="0"/>
                <a:ea typeface="Calibri" pitchFamily="34" charset="-122"/>
                <a:cs typeface="Calibri" pitchFamily="34" charset="-120"/>
              </a:rPr>
              <a:t>33,3 % der Seitenaufrufe — das ist ein normaler Wert</a:t>
            </a:r>
            <a:endParaRPr lang="en-US" sz="1150" dirty="0"/>
          </a:p>
        </p:txBody>
      </p:sp>
      <p:sp>
        <p:nvSpPr>
          <p:cNvPr id="17" name="Shape 14"/>
          <p:cNvSpPr/>
          <p:nvPr/>
        </p:nvSpPr>
        <p:spPr>
          <a:xfrm>
            <a:off x="566928" y="4261104"/>
            <a:ext cx="11055096" cy="1828800"/>
          </a:xfrm>
          <a:prstGeom prst="roundRect">
            <a:avLst>
              <a:gd name="adj" fmla="val 4500"/>
            </a:avLst>
          </a:prstGeom>
          <a:solidFill>
            <a:srgbClr val="141A2E"/>
          </a:solidFill>
          <a:ln w="12700">
            <a:solidFill>
              <a:srgbClr val="141A2E"/>
            </a:solidFill>
            <a:prstDash val="solid"/>
          </a:ln>
        </p:spPr>
      </p:sp>
      <p:sp>
        <p:nvSpPr>
          <p:cNvPr id="18" name="Text 15"/>
          <p:cNvSpPr txBox="1"/>
          <p:nvPr/>
        </p:nvSpPr>
        <p:spPr>
          <a:xfrm>
            <a:off x="932688" y="4443984"/>
            <a:ext cx="10323576" cy="329184"/>
          </a:xfrm>
          <a:prstGeom prst="rect">
            <a:avLst/>
          </a:prstGeom>
          <a:noFill/>
          <a:ln/>
        </p:spPr>
        <p:txBody>
          <a:bodyPr wrap="square" lIns="0" tIns="0" rIns="0" bIns="0" rtlCol="0" anchor="ctr"/>
          <a:lstStyle/>
          <a:p>
            <a:pPr indent="0" marL="0">
              <a:buNone/>
            </a:pPr>
            <a:r>
              <a:rPr lang="en-US" sz="1200" b="1" dirty="0">
                <a:solidFill>
                  <a:srgbClr val="8E9ABA"/>
                </a:solidFill>
                <a:latin typeface="Calibri" pitchFamily="34" charset="0"/>
                <a:ea typeface="Calibri" pitchFamily="34" charset="-122"/>
                <a:cs typeface="Calibri" pitchFamily="34" charset="-120"/>
              </a:rPr>
              <a:t>Was das heißt</a:t>
            </a:r>
            <a:endParaRPr lang="en-US" sz="1200" dirty="0"/>
          </a:p>
        </p:txBody>
      </p:sp>
      <p:sp>
        <p:nvSpPr>
          <p:cNvPr id="19" name="Text 16"/>
          <p:cNvSpPr txBox="1"/>
          <p:nvPr/>
        </p:nvSpPr>
        <p:spPr>
          <a:xfrm>
            <a:off x="932688" y="4773168"/>
            <a:ext cx="10323576" cy="3657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Unser Listing funktioniert. Beide Umwandlungsraten liegen im normalen Bereich — Icon, Screenshots und Beschreibung sind nicht das Problem.</a:t>
            </a:r>
            <a:endParaRPr lang="en-US" sz="1450" dirty="0"/>
          </a:p>
        </p:txBody>
      </p:sp>
      <p:sp>
        <p:nvSpPr>
          <p:cNvPr id="20" name="Text 17"/>
          <p:cNvSpPr txBox="1"/>
          <p:nvPr/>
        </p:nvSpPr>
        <p:spPr>
          <a:xfrm>
            <a:off x="932688" y="5212080"/>
            <a:ext cx="10323576" cy="768096"/>
          </a:xfrm>
          <a:prstGeom prst="rect">
            <a:avLst/>
          </a:prstGeom>
          <a:noFill/>
          <a:ln/>
        </p:spPr>
        <p:txBody>
          <a:bodyPr wrap="square" lIns="0" tIns="0" rIns="0" bIns="0" rtlCol="0" anchor="t"/>
          <a:lstStyle/>
          <a:p>
            <a:pPr indent="0" marL="0">
              <a:lnSpc>
                <a:spcPct val="106000"/>
              </a:lnSpc>
              <a:buNone/>
            </a:pPr>
            <a:r>
              <a:rPr lang="en-US" sz="1300" dirty="0">
                <a:solidFill>
                  <a:srgbClr val="B6BFD6"/>
                </a:solidFill>
                <a:latin typeface="Calibri" pitchFamily="34" charset="0"/>
                <a:ea typeface="Calibri" pitchFamily="34" charset="-122"/>
                <a:cs typeface="Calibri" pitchFamily="34" charset="-120"/>
              </a:rPr>
              <a:t>Das Problem ist die Menge: 2,4 Downloads pro Tag. Selbst ein perfekt konvertierender Funnel würde daraus nur eine Handvoll Zahler machen. Sichtbarkeit (ASO, Empfehlungen, Inhalte) und Conversion sind zwei getrennte Baustellen — wir müssen beide angehen, aber nicht gleichzeitig.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141A2E"/>
                </a:solidFill>
                <a:latin typeface="Cambria" pitchFamily="34" charset="0"/>
                <a:ea typeface="Cambria" pitchFamily="34" charset="-122"/>
                <a:cs typeface="Cambria" pitchFamily="34" charset="-120"/>
              </a:rPr>
              <a:t>Der Funnel in Zahlen</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4A5470"/>
                </a:solidFill>
                <a:latin typeface="Calibri" pitchFamily="34" charset="0"/>
                <a:ea typeface="Calibri" pitchFamily="34" charset="-122"/>
                <a:cs typeface="Calibri" pitchFamily="34" charset="-120"/>
              </a:rPr>
              <a:t>Year-to-date 01.01.–11.09.2026 · Downloads aus App Store Connect, Rest aus Superwall</a:t>
            </a:r>
            <a:endParaRPr lang="en-US" sz="1450" dirty="0"/>
          </a:p>
        </p:txBody>
      </p:sp>
      <p:sp>
        <p:nvSpPr>
          <p:cNvPr id="5" name="Text 2"/>
          <p:cNvSpPr txBox="1"/>
          <p:nvPr/>
        </p:nvSpPr>
        <p:spPr>
          <a:xfrm>
            <a:off x="566928" y="1682496"/>
            <a:ext cx="2651760" cy="585216"/>
          </a:xfrm>
          <a:prstGeom prst="rect">
            <a:avLst/>
          </a:prstGeom>
          <a:noFill/>
          <a:ln/>
        </p:spPr>
        <p:txBody>
          <a:bodyPr wrap="square" lIns="0" tIns="0" rIns="0" bIns="0" rtlCol="0" anchor="ctr"/>
          <a:lstStyle/>
          <a:p>
            <a:pPr indent="0" marL="0">
              <a:buNone/>
            </a:pPr>
            <a:r>
              <a:rPr lang="en-US" sz="1300" b="1" dirty="0">
                <a:solidFill>
                  <a:srgbClr val="141A2E"/>
                </a:solidFill>
                <a:latin typeface="Calibri" pitchFamily="34" charset="0"/>
                <a:ea typeface="Calibri" pitchFamily="34" charset="-122"/>
                <a:cs typeface="Calibri" pitchFamily="34" charset="-120"/>
              </a:rPr>
              <a:t>Erstmalige Downloads</a:t>
            </a:r>
            <a:endParaRPr lang="en-US" sz="1300" dirty="0"/>
          </a:p>
        </p:txBody>
      </p:sp>
      <p:sp>
        <p:nvSpPr>
          <p:cNvPr id="6" name="Shape 3"/>
          <p:cNvSpPr/>
          <p:nvPr/>
        </p:nvSpPr>
        <p:spPr>
          <a:xfrm>
            <a:off x="3346704" y="1682496"/>
            <a:ext cx="4736592" cy="585216"/>
          </a:xfrm>
          <a:prstGeom prst="roundRect">
            <a:avLst>
              <a:gd name="adj" fmla="val 12500"/>
            </a:avLst>
          </a:prstGeom>
          <a:solidFill>
            <a:srgbClr val="141A2E"/>
          </a:solidFill>
          <a:ln w="12700">
            <a:solidFill>
              <a:srgbClr val="141A2E"/>
            </a:solidFill>
            <a:prstDash val="solid"/>
          </a:ln>
        </p:spPr>
      </p:sp>
      <p:sp>
        <p:nvSpPr>
          <p:cNvPr id="7" name="Text 4"/>
          <p:cNvSpPr txBox="1"/>
          <p:nvPr/>
        </p:nvSpPr>
        <p:spPr>
          <a:xfrm>
            <a:off x="8485632" y="1682496"/>
            <a:ext cx="914400" cy="585216"/>
          </a:xfrm>
          <a:prstGeom prst="rect">
            <a:avLst/>
          </a:prstGeom>
          <a:noFill/>
          <a:ln/>
        </p:spPr>
        <p:txBody>
          <a:bodyPr wrap="square" lIns="0" tIns="0" rIns="0" bIns="0" rtlCol="0" anchor="ctr"/>
          <a:lstStyle/>
          <a:p>
            <a:pPr algn="r" indent="0" marL="0">
              <a:buNone/>
            </a:pPr>
            <a:r>
              <a:rPr lang="en-US" sz="2000" b="1" dirty="0">
                <a:solidFill>
                  <a:srgbClr val="141A2E"/>
                </a:solidFill>
                <a:latin typeface="Calibri" pitchFamily="34" charset="0"/>
                <a:ea typeface="Calibri" pitchFamily="34" charset="-122"/>
                <a:cs typeface="Calibri" pitchFamily="34" charset="-120"/>
              </a:rPr>
              <a:t>612</a:t>
            </a:r>
            <a:endParaRPr lang="en-US" sz="2000" dirty="0"/>
          </a:p>
        </p:txBody>
      </p:sp>
      <p:sp>
        <p:nvSpPr>
          <p:cNvPr id="8" name="Text 5"/>
          <p:cNvSpPr txBox="1"/>
          <p:nvPr/>
        </p:nvSpPr>
        <p:spPr>
          <a:xfrm>
            <a:off x="566928" y="2404872"/>
            <a:ext cx="2651760" cy="585216"/>
          </a:xfrm>
          <a:prstGeom prst="rect">
            <a:avLst/>
          </a:prstGeom>
          <a:noFill/>
          <a:ln/>
        </p:spPr>
        <p:txBody>
          <a:bodyPr wrap="square" lIns="0" tIns="0" rIns="0" bIns="0" rtlCol="0" anchor="ctr"/>
          <a:lstStyle/>
          <a:p>
            <a:pPr indent="0" marL="0">
              <a:buNone/>
            </a:pPr>
            <a:r>
              <a:rPr lang="en-US" sz="1300" b="1" dirty="0">
                <a:solidFill>
                  <a:srgbClr val="141A2E"/>
                </a:solidFill>
                <a:latin typeface="Calibri" pitchFamily="34" charset="0"/>
                <a:ea typeface="Calibri" pitchFamily="34" charset="-122"/>
                <a:cs typeface="Calibri" pitchFamily="34" charset="-120"/>
              </a:rPr>
              <a:t>Account angelegt</a:t>
            </a:r>
            <a:endParaRPr lang="en-US" sz="1300" dirty="0"/>
          </a:p>
        </p:txBody>
      </p:sp>
      <p:sp>
        <p:nvSpPr>
          <p:cNvPr id="9" name="Shape 6"/>
          <p:cNvSpPr/>
          <p:nvPr/>
        </p:nvSpPr>
        <p:spPr>
          <a:xfrm>
            <a:off x="3346704" y="2404872"/>
            <a:ext cx="4937760" cy="585216"/>
          </a:xfrm>
          <a:prstGeom prst="roundRect">
            <a:avLst>
              <a:gd name="adj" fmla="val 12500"/>
            </a:avLst>
          </a:prstGeom>
          <a:solidFill>
            <a:srgbClr val="141A2E"/>
          </a:solidFill>
          <a:ln w="12700">
            <a:solidFill>
              <a:srgbClr val="141A2E"/>
            </a:solidFill>
            <a:prstDash val="solid"/>
          </a:ln>
        </p:spPr>
      </p:sp>
      <p:sp>
        <p:nvSpPr>
          <p:cNvPr id="10" name="Text 7"/>
          <p:cNvSpPr txBox="1"/>
          <p:nvPr/>
        </p:nvSpPr>
        <p:spPr>
          <a:xfrm>
            <a:off x="8485632" y="2404872"/>
            <a:ext cx="914400" cy="585216"/>
          </a:xfrm>
          <a:prstGeom prst="rect">
            <a:avLst/>
          </a:prstGeom>
          <a:noFill/>
          <a:ln/>
        </p:spPr>
        <p:txBody>
          <a:bodyPr wrap="square" lIns="0" tIns="0" rIns="0" bIns="0" rtlCol="0" anchor="ctr"/>
          <a:lstStyle/>
          <a:p>
            <a:pPr algn="r" indent="0" marL="0">
              <a:buNone/>
            </a:pPr>
            <a:r>
              <a:rPr lang="en-US" sz="2000" b="1" dirty="0">
                <a:solidFill>
                  <a:srgbClr val="141A2E"/>
                </a:solidFill>
                <a:latin typeface="Calibri" pitchFamily="34" charset="0"/>
                <a:ea typeface="Calibri" pitchFamily="34" charset="-122"/>
                <a:cs typeface="Calibri" pitchFamily="34" charset="-120"/>
              </a:rPr>
              <a:t>638</a:t>
            </a:r>
            <a:endParaRPr lang="en-US" sz="2000" dirty="0"/>
          </a:p>
        </p:txBody>
      </p:sp>
      <p:sp>
        <p:nvSpPr>
          <p:cNvPr id="11" name="Text 8"/>
          <p:cNvSpPr txBox="1"/>
          <p:nvPr/>
        </p:nvSpPr>
        <p:spPr>
          <a:xfrm>
            <a:off x="9692640" y="2404872"/>
            <a:ext cx="1929384" cy="310896"/>
          </a:xfrm>
          <a:prstGeom prst="rect">
            <a:avLst/>
          </a:prstGeom>
          <a:noFill/>
          <a:ln/>
        </p:spPr>
        <p:txBody>
          <a:bodyPr wrap="square" lIns="0" tIns="0" rIns="0" bIns="0" rtlCol="0" anchor="ctr"/>
          <a:lstStyle/>
          <a:p>
            <a:pPr indent="0" marL="0">
              <a:buNone/>
            </a:pPr>
            <a:r>
              <a:rPr lang="en-US" sz="1400" b="1" dirty="0">
                <a:solidFill>
                  <a:srgbClr val="4A5470"/>
                </a:solidFill>
                <a:latin typeface="Calibri" pitchFamily="34" charset="0"/>
                <a:ea typeface="Calibri" pitchFamily="34" charset="-122"/>
                <a:cs typeface="Calibri" pitchFamily="34" charset="-120"/>
              </a:rPr>
              <a:t>104 %</a:t>
            </a:r>
            <a:endParaRPr lang="en-US" sz="1400" dirty="0"/>
          </a:p>
        </p:txBody>
      </p:sp>
      <p:sp>
        <p:nvSpPr>
          <p:cNvPr id="12" name="Text 9"/>
          <p:cNvSpPr txBox="1"/>
          <p:nvPr/>
        </p:nvSpPr>
        <p:spPr>
          <a:xfrm>
            <a:off x="9692640" y="2697480"/>
            <a:ext cx="1929384" cy="292608"/>
          </a:xfrm>
          <a:prstGeom prst="rect">
            <a:avLst/>
          </a:prstGeom>
          <a:noFill/>
          <a:ln/>
        </p:spPr>
        <p:txBody>
          <a:bodyPr wrap="square" lIns="0" tIns="0" rIns="0" bIns="0" rtlCol="0" anchor="ctr"/>
          <a:lstStyle/>
          <a:p>
            <a:pPr indent="0" marL="0">
              <a:buNone/>
            </a:pPr>
            <a:r>
              <a:rPr lang="en-US" sz="1000" dirty="0">
                <a:solidFill>
                  <a:srgbClr val="7C86A2"/>
                </a:solidFill>
                <a:latin typeface="Calibri" pitchFamily="34" charset="0"/>
                <a:ea typeface="Calibri" pitchFamily="34" charset="-122"/>
                <a:cs typeface="Calibri" pitchFamily="34" charset="-120"/>
              </a:rPr>
              <a:t>praktisch jeder legt einen an</a:t>
            </a:r>
            <a:endParaRPr lang="en-US" sz="1000" dirty="0"/>
          </a:p>
        </p:txBody>
      </p:sp>
      <p:sp>
        <p:nvSpPr>
          <p:cNvPr id="13" name="Text 10"/>
          <p:cNvSpPr txBox="1"/>
          <p:nvPr/>
        </p:nvSpPr>
        <p:spPr>
          <a:xfrm>
            <a:off x="566928" y="3127248"/>
            <a:ext cx="2651760" cy="585216"/>
          </a:xfrm>
          <a:prstGeom prst="rect">
            <a:avLst/>
          </a:prstGeom>
          <a:noFill/>
          <a:ln/>
        </p:spPr>
        <p:txBody>
          <a:bodyPr wrap="square" lIns="0" tIns="0" rIns="0" bIns="0" rtlCol="0" anchor="ctr"/>
          <a:lstStyle/>
          <a:p>
            <a:pPr indent="0" marL="0">
              <a:buNone/>
            </a:pPr>
            <a:r>
              <a:rPr lang="en-US" sz="1300" b="1" dirty="0">
                <a:solidFill>
                  <a:srgbClr val="141A2E"/>
                </a:solidFill>
                <a:latin typeface="Calibri" pitchFamily="34" charset="0"/>
                <a:ea typeface="Calibri" pitchFamily="34" charset="-122"/>
                <a:cs typeface="Calibri" pitchFamily="34" charset="-120"/>
              </a:rPr>
              <a:t>Paywall gesehen</a:t>
            </a:r>
            <a:endParaRPr lang="en-US" sz="1300" dirty="0"/>
          </a:p>
        </p:txBody>
      </p:sp>
      <p:sp>
        <p:nvSpPr>
          <p:cNvPr id="14" name="Shape 11"/>
          <p:cNvSpPr/>
          <p:nvPr/>
        </p:nvSpPr>
        <p:spPr>
          <a:xfrm>
            <a:off x="3346704" y="3127248"/>
            <a:ext cx="2240280" cy="585216"/>
          </a:xfrm>
          <a:prstGeom prst="roundRect">
            <a:avLst>
              <a:gd name="adj" fmla="val 12500"/>
            </a:avLst>
          </a:prstGeom>
          <a:solidFill>
            <a:srgbClr val="141A2E"/>
          </a:solidFill>
          <a:ln w="12700">
            <a:solidFill>
              <a:srgbClr val="141A2E"/>
            </a:solidFill>
            <a:prstDash val="solid"/>
          </a:ln>
        </p:spPr>
      </p:sp>
      <p:sp>
        <p:nvSpPr>
          <p:cNvPr id="15" name="Text 12"/>
          <p:cNvSpPr txBox="1"/>
          <p:nvPr/>
        </p:nvSpPr>
        <p:spPr>
          <a:xfrm>
            <a:off x="8485632" y="3127248"/>
            <a:ext cx="914400" cy="585216"/>
          </a:xfrm>
          <a:prstGeom prst="rect">
            <a:avLst/>
          </a:prstGeom>
          <a:noFill/>
          <a:ln/>
        </p:spPr>
        <p:txBody>
          <a:bodyPr wrap="square" lIns="0" tIns="0" rIns="0" bIns="0" rtlCol="0" anchor="ctr"/>
          <a:lstStyle/>
          <a:p>
            <a:pPr algn="r" indent="0" marL="0">
              <a:buNone/>
            </a:pPr>
            <a:r>
              <a:rPr lang="en-US" sz="2000" b="1" dirty="0">
                <a:solidFill>
                  <a:srgbClr val="141A2E"/>
                </a:solidFill>
                <a:latin typeface="Calibri" pitchFamily="34" charset="0"/>
                <a:ea typeface="Calibri" pitchFamily="34" charset="-122"/>
                <a:cs typeface="Calibri" pitchFamily="34" charset="-120"/>
              </a:rPr>
              <a:t>289</a:t>
            </a:r>
            <a:endParaRPr lang="en-US" sz="2000" dirty="0"/>
          </a:p>
        </p:txBody>
      </p:sp>
      <p:sp>
        <p:nvSpPr>
          <p:cNvPr id="16" name="Text 13"/>
          <p:cNvSpPr txBox="1"/>
          <p:nvPr/>
        </p:nvSpPr>
        <p:spPr>
          <a:xfrm>
            <a:off x="9692640" y="3127248"/>
            <a:ext cx="1929384" cy="310896"/>
          </a:xfrm>
          <a:prstGeom prst="rect">
            <a:avLst/>
          </a:prstGeom>
          <a:noFill/>
          <a:ln/>
        </p:spPr>
        <p:txBody>
          <a:bodyPr wrap="square" lIns="0" tIns="0" rIns="0" bIns="0" rtlCol="0" anchor="ctr"/>
          <a:lstStyle/>
          <a:p>
            <a:pPr indent="0" marL="0">
              <a:buNone/>
            </a:pPr>
            <a:r>
              <a:rPr lang="en-US" sz="1400" b="1" dirty="0">
                <a:solidFill>
                  <a:srgbClr val="4A5470"/>
                </a:solidFill>
                <a:latin typeface="Calibri" pitchFamily="34" charset="0"/>
                <a:ea typeface="Calibri" pitchFamily="34" charset="-122"/>
                <a:cs typeface="Calibri" pitchFamily="34" charset="-120"/>
              </a:rPr>
              <a:t>45,3 %</a:t>
            </a:r>
            <a:endParaRPr lang="en-US" sz="1400" dirty="0"/>
          </a:p>
        </p:txBody>
      </p:sp>
      <p:sp>
        <p:nvSpPr>
          <p:cNvPr id="17" name="Text 14"/>
          <p:cNvSpPr txBox="1"/>
          <p:nvPr/>
        </p:nvSpPr>
        <p:spPr>
          <a:xfrm>
            <a:off x="9692640" y="3419856"/>
            <a:ext cx="1929384" cy="292608"/>
          </a:xfrm>
          <a:prstGeom prst="rect">
            <a:avLst/>
          </a:prstGeom>
          <a:noFill/>
          <a:ln/>
        </p:spPr>
        <p:txBody>
          <a:bodyPr wrap="square" lIns="0" tIns="0" rIns="0" bIns="0" rtlCol="0" anchor="ctr"/>
          <a:lstStyle/>
          <a:p>
            <a:pPr indent="0" marL="0">
              <a:buNone/>
            </a:pPr>
            <a:r>
              <a:rPr lang="en-US" sz="1000" dirty="0">
                <a:solidFill>
                  <a:srgbClr val="7C86A2"/>
                </a:solidFill>
                <a:latin typeface="Calibri" pitchFamily="34" charset="0"/>
                <a:ea typeface="Calibri" pitchFamily="34" charset="-122"/>
                <a:cs typeface="Calibri" pitchFamily="34" charset="-120"/>
              </a:rPr>
              <a:t>→ 54,7 % sehen sie nie</a:t>
            </a:r>
            <a:endParaRPr lang="en-US" sz="1000" dirty="0"/>
          </a:p>
        </p:txBody>
      </p:sp>
      <p:sp>
        <p:nvSpPr>
          <p:cNvPr id="18" name="Text 15"/>
          <p:cNvSpPr txBox="1"/>
          <p:nvPr/>
        </p:nvSpPr>
        <p:spPr>
          <a:xfrm>
            <a:off x="566928" y="3849624"/>
            <a:ext cx="2651760" cy="585216"/>
          </a:xfrm>
          <a:prstGeom prst="rect">
            <a:avLst/>
          </a:prstGeom>
          <a:noFill/>
          <a:ln/>
        </p:spPr>
        <p:txBody>
          <a:bodyPr wrap="square" lIns="0" tIns="0" rIns="0" bIns="0" rtlCol="0" anchor="ctr"/>
          <a:lstStyle/>
          <a:p>
            <a:pPr indent="0" marL="0">
              <a:buNone/>
            </a:pPr>
            <a:r>
              <a:rPr lang="en-US" sz="1300" b="1" dirty="0">
                <a:solidFill>
                  <a:srgbClr val="141A2E"/>
                </a:solidFill>
                <a:latin typeface="Calibri" pitchFamily="34" charset="0"/>
                <a:ea typeface="Calibri" pitchFamily="34" charset="-122"/>
                <a:cs typeface="Calibri" pitchFamily="34" charset="-120"/>
              </a:rPr>
              <a:t>Trial gestartet</a:t>
            </a:r>
            <a:endParaRPr lang="en-US" sz="1300" dirty="0"/>
          </a:p>
        </p:txBody>
      </p:sp>
      <p:sp>
        <p:nvSpPr>
          <p:cNvPr id="19" name="Shape 16"/>
          <p:cNvSpPr/>
          <p:nvPr/>
        </p:nvSpPr>
        <p:spPr>
          <a:xfrm>
            <a:off x="3346704" y="3849624"/>
            <a:ext cx="566928" cy="585216"/>
          </a:xfrm>
          <a:prstGeom prst="roundRect">
            <a:avLst>
              <a:gd name="adj" fmla="val 12903"/>
            </a:avLst>
          </a:prstGeom>
          <a:solidFill>
            <a:srgbClr val="141A2E"/>
          </a:solidFill>
          <a:ln w="12700">
            <a:solidFill>
              <a:srgbClr val="141A2E"/>
            </a:solidFill>
            <a:prstDash val="solid"/>
          </a:ln>
        </p:spPr>
      </p:sp>
      <p:sp>
        <p:nvSpPr>
          <p:cNvPr id="20" name="Text 17"/>
          <p:cNvSpPr txBox="1"/>
          <p:nvPr/>
        </p:nvSpPr>
        <p:spPr>
          <a:xfrm>
            <a:off x="8485632" y="3849624"/>
            <a:ext cx="914400" cy="585216"/>
          </a:xfrm>
          <a:prstGeom prst="rect">
            <a:avLst/>
          </a:prstGeom>
          <a:noFill/>
          <a:ln/>
        </p:spPr>
        <p:txBody>
          <a:bodyPr wrap="square" lIns="0" tIns="0" rIns="0" bIns="0" rtlCol="0" anchor="ctr"/>
          <a:lstStyle/>
          <a:p>
            <a:pPr algn="r" indent="0" marL="0">
              <a:buNone/>
            </a:pPr>
            <a:r>
              <a:rPr lang="en-US" sz="2000" b="1" dirty="0">
                <a:solidFill>
                  <a:srgbClr val="141A2E"/>
                </a:solidFill>
                <a:latin typeface="Calibri" pitchFamily="34" charset="0"/>
                <a:ea typeface="Calibri" pitchFamily="34" charset="-122"/>
                <a:cs typeface="Calibri" pitchFamily="34" charset="-120"/>
              </a:rPr>
              <a:t>41</a:t>
            </a:r>
            <a:endParaRPr lang="en-US" sz="2000" dirty="0"/>
          </a:p>
        </p:txBody>
      </p:sp>
      <p:sp>
        <p:nvSpPr>
          <p:cNvPr id="21" name="Text 18"/>
          <p:cNvSpPr txBox="1"/>
          <p:nvPr/>
        </p:nvSpPr>
        <p:spPr>
          <a:xfrm>
            <a:off x="9692640" y="3849624"/>
            <a:ext cx="1929384" cy="310896"/>
          </a:xfrm>
          <a:prstGeom prst="rect">
            <a:avLst/>
          </a:prstGeom>
          <a:noFill/>
          <a:ln/>
        </p:spPr>
        <p:txBody>
          <a:bodyPr wrap="square" lIns="0" tIns="0" rIns="0" bIns="0" rtlCol="0" anchor="ctr"/>
          <a:lstStyle/>
          <a:p>
            <a:pPr indent="0" marL="0">
              <a:buNone/>
            </a:pPr>
            <a:r>
              <a:rPr lang="en-US" sz="1400" b="1" dirty="0">
                <a:solidFill>
                  <a:srgbClr val="4A5470"/>
                </a:solidFill>
                <a:latin typeface="Calibri" pitchFamily="34" charset="0"/>
                <a:ea typeface="Calibri" pitchFamily="34" charset="-122"/>
                <a:cs typeface="Calibri" pitchFamily="34" charset="-120"/>
              </a:rPr>
              <a:t>14,2 %</a:t>
            </a:r>
            <a:endParaRPr lang="en-US" sz="1400" dirty="0"/>
          </a:p>
        </p:txBody>
      </p:sp>
      <p:sp>
        <p:nvSpPr>
          <p:cNvPr id="22" name="Text 19"/>
          <p:cNvSpPr txBox="1"/>
          <p:nvPr/>
        </p:nvSpPr>
        <p:spPr>
          <a:xfrm>
            <a:off x="9692640" y="4142232"/>
            <a:ext cx="1929384" cy="292608"/>
          </a:xfrm>
          <a:prstGeom prst="rect">
            <a:avLst/>
          </a:prstGeom>
          <a:noFill/>
          <a:ln/>
        </p:spPr>
        <p:txBody>
          <a:bodyPr wrap="square" lIns="0" tIns="0" rIns="0" bIns="0" rtlCol="0" anchor="ctr"/>
          <a:lstStyle/>
          <a:p>
            <a:pPr indent="0" marL="0">
              <a:buNone/>
            </a:pPr>
            <a:r>
              <a:rPr lang="en-US" sz="1000" dirty="0">
                <a:solidFill>
                  <a:srgbClr val="7C86A2"/>
                </a:solidFill>
                <a:latin typeface="Calibri" pitchFamily="34" charset="0"/>
                <a:ea typeface="Calibri" pitchFamily="34" charset="-122"/>
                <a:cs typeface="Calibri" pitchFamily="34" charset="-120"/>
              </a:rPr>
              <a:t>der Paywall-Views</a:t>
            </a:r>
            <a:endParaRPr lang="en-US" sz="1000" dirty="0"/>
          </a:p>
        </p:txBody>
      </p:sp>
      <p:sp>
        <p:nvSpPr>
          <p:cNvPr id="23" name="Text 20"/>
          <p:cNvSpPr txBox="1"/>
          <p:nvPr/>
        </p:nvSpPr>
        <p:spPr>
          <a:xfrm>
            <a:off x="566928" y="4572000"/>
            <a:ext cx="2651760" cy="585216"/>
          </a:xfrm>
          <a:prstGeom prst="rect">
            <a:avLst/>
          </a:prstGeom>
          <a:noFill/>
          <a:ln/>
        </p:spPr>
        <p:txBody>
          <a:bodyPr wrap="square" lIns="0" tIns="0" rIns="0" bIns="0" rtlCol="0" anchor="ctr"/>
          <a:lstStyle/>
          <a:p>
            <a:pPr indent="0" marL="0">
              <a:buNone/>
            </a:pPr>
            <a:r>
              <a:rPr lang="en-US" sz="1300" b="1" dirty="0">
                <a:solidFill>
                  <a:srgbClr val="141A2E"/>
                </a:solidFill>
                <a:latin typeface="Calibri" pitchFamily="34" charset="0"/>
                <a:ea typeface="Calibri" pitchFamily="34" charset="-122"/>
                <a:cs typeface="Calibri" pitchFamily="34" charset="-120"/>
              </a:rPr>
              <a:t>Zahlend geworden</a:t>
            </a:r>
            <a:endParaRPr lang="en-US" sz="1300" dirty="0"/>
          </a:p>
        </p:txBody>
      </p:sp>
      <p:sp>
        <p:nvSpPr>
          <p:cNvPr id="24" name="Shape 21"/>
          <p:cNvSpPr/>
          <p:nvPr/>
        </p:nvSpPr>
        <p:spPr>
          <a:xfrm>
            <a:off x="3346704" y="4572000"/>
            <a:ext cx="310896" cy="585216"/>
          </a:xfrm>
          <a:prstGeom prst="roundRect">
            <a:avLst>
              <a:gd name="adj" fmla="val 23529"/>
            </a:avLst>
          </a:prstGeom>
          <a:solidFill>
            <a:srgbClr val="D93B72"/>
          </a:solidFill>
          <a:ln w="12700">
            <a:solidFill>
              <a:srgbClr val="D93B72"/>
            </a:solidFill>
            <a:prstDash val="solid"/>
          </a:ln>
        </p:spPr>
      </p:sp>
      <p:sp>
        <p:nvSpPr>
          <p:cNvPr id="25" name="Text 22"/>
          <p:cNvSpPr txBox="1"/>
          <p:nvPr/>
        </p:nvSpPr>
        <p:spPr>
          <a:xfrm>
            <a:off x="8485632" y="4572000"/>
            <a:ext cx="914400" cy="585216"/>
          </a:xfrm>
          <a:prstGeom prst="rect">
            <a:avLst/>
          </a:prstGeom>
          <a:noFill/>
          <a:ln/>
        </p:spPr>
        <p:txBody>
          <a:bodyPr wrap="square" lIns="0" tIns="0" rIns="0" bIns="0" rtlCol="0" anchor="ctr"/>
          <a:lstStyle/>
          <a:p>
            <a:pPr algn="r" indent="0" marL="0">
              <a:buNone/>
            </a:pPr>
            <a:r>
              <a:rPr lang="en-US" sz="2000" b="1" dirty="0">
                <a:solidFill>
                  <a:srgbClr val="D93B72"/>
                </a:solidFill>
                <a:latin typeface="Calibri" pitchFamily="34" charset="0"/>
                <a:ea typeface="Calibri" pitchFamily="34" charset="-122"/>
                <a:cs typeface="Calibri" pitchFamily="34" charset="-120"/>
              </a:rPr>
              <a:t>3</a:t>
            </a:r>
            <a:endParaRPr lang="en-US" sz="2000" dirty="0"/>
          </a:p>
        </p:txBody>
      </p:sp>
      <p:sp>
        <p:nvSpPr>
          <p:cNvPr id="26" name="Text 23"/>
          <p:cNvSpPr txBox="1"/>
          <p:nvPr/>
        </p:nvSpPr>
        <p:spPr>
          <a:xfrm>
            <a:off x="9692640" y="4572000"/>
            <a:ext cx="1929384" cy="310896"/>
          </a:xfrm>
          <a:prstGeom prst="rect">
            <a:avLst/>
          </a:prstGeom>
          <a:noFill/>
          <a:ln/>
        </p:spPr>
        <p:txBody>
          <a:bodyPr wrap="square" lIns="0" tIns="0" rIns="0" bIns="0" rtlCol="0" anchor="ctr"/>
          <a:lstStyle/>
          <a:p>
            <a:pPr indent="0" marL="0">
              <a:buNone/>
            </a:pPr>
            <a:r>
              <a:rPr lang="en-US" sz="1400" b="1" dirty="0">
                <a:solidFill>
                  <a:srgbClr val="D93B72"/>
                </a:solidFill>
                <a:latin typeface="Calibri" pitchFamily="34" charset="0"/>
                <a:ea typeface="Calibri" pitchFamily="34" charset="-122"/>
                <a:cs typeface="Calibri" pitchFamily="34" charset="-120"/>
              </a:rPr>
              <a:t>7,3 %</a:t>
            </a:r>
            <a:endParaRPr lang="en-US" sz="1400" dirty="0"/>
          </a:p>
        </p:txBody>
      </p:sp>
      <p:sp>
        <p:nvSpPr>
          <p:cNvPr id="27" name="Text 24"/>
          <p:cNvSpPr txBox="1"/>
          <p:nvPr/>
        </p:nvSpPr>
        <p:spPr>
          <a:xfrm>
            <a:off x="9692640" y="4864608"/>
            <a:ext cx="1929384" cy="292608"/>
          </a:xfrm>
          <a:prstGeom prst="rect">
            <a:avLst/>
          </a:prstGeom>
          <a:noFill/>
          <a:ln/>
        </p:spPr>
        <p:txBody>
          <a:bodyPr wrap="square" lIns="0" tIns="0" rIns="0" bIns="0" rtlCol="0" anchor="ctr"/>
          <a:lstStyle/>
          <a:p>
            <a:pPr indent="0" marL="0">
              <a:buNone/>
            </a:pPr>
            <a:r>
              <a:rPr lang="en-US" sz="1000" dirty="0">
                <a:solidFill>
                  <a:srgbClr val="7C86A2"/>
                </a:solidFill>
                <a:latin typeface="Calibri" pitchFamily="34" charset="0"/>
                <a:ea typeface="Calibri" pitchFamily="34" charset="-122"/>
                <a:cs typeface="Calibri" pitchFamily="34" charset="-120"/>
              </a:rPr>
              <a:t>der Trials</a:t>
            </a:r>
            <a:endParaRPr lang="en-US" sz="1000" dirty="0"/>
          </a:p>
        </p:txBody>
      </p:sp>
      <p:sp>
        <p:nvSpPr>
          <p:cNvPr id="28" name="Text 25"/>
          <p:cNvSpPr txBox="1"/>
          <p:nvPr/>
        </p:nvSpPr>
        <p:spPr>
          <a:xfrm>
            <a:off x="566928" y="5294376"/>
            <a:ext cx="2651760" cy="585216"/>
          </a:xfrm>
          <a:prstGeom prst="rect">
            <a:avLst/>
          </a:prstGeom>
          <a:noFill/>
          <a:ln/>
        </p:spPr>
        <p:txBody>
          <a:bodyPr wrap="square" lIns="0" tIns="0" rIns="0" bIns="0" rtlCol="0" anchor="ctr"/>
          <a:lstStyle/>
          <a:p>
            <a:pPr indent="0" marL="0">
              <a:buNone/>
            </a:pPr>
            <a:r>
              <a:rPr lang="en-US" sz="1300" b="1" dirty="0">
                <a:solidFill>
                  <a:srgbClr val="141A2E"/>
                </a:solidFill>
                <a:latin typeface="Calibri" pitchFamily="34" charset="0"/>
                <a:ea typeface="Calibri" pitchFamily="34" charset="-122"/>
                <a:cs typeface="Calibri" pitchFamily="34" charset="-120"/>
              </a:rPr>
              <a:t>Heute aktiv zahlend</a:t>
            </a:r>
            <a:endParaRPr lang="en-US" sz="1300" dirty="0"/>
          </a:p>
        </p:txBody>
      </p:sp>
      <p:sp>
        <p:nvSpPr>
          <p:cNvPr id="29" name="Shape 26"/>
          <p:cNvSpPr/>
          <p:nvPr/>
        </p:nvSpPr>
        <p:spPr>
          <a:xfrm>
            <a:off x="3346704" y="5294376"/>
            <a:ext cx="274320" cy="585216"/>
          </a:xfrm>
          <a:prstGeom prst="roundRect">
            <a:avLst>
              <a:gd name="adj" fmla="val 26667"/>
            </a:avLst>
          </a:prstGeom>
          <a:solidFill>
            <a:srgbClr val="D93B72"/>
          </a:solidFill>
          <a:ln w="12700">
            <a:solidFill>
              <a:srgbClr val="D93B72"/>
            </a:solidFill>
            <a:prstDash val="solid"/>
          </a:ln>
        </p:spPr>
      </p:sp>
      <p:sp>
        <p:nvSpPr>
          <p:cNvPr id="30" name="Text 27"/>
          <p:cNvSpPr txBox="1"/>
          <p:nvPr/>
        </p:nvSpPr>
        <p:spPr>
          <a:xfrm>
            <a:off x="8485632" y="5294376"/>
            <a:ext cx="914400" cy="585216"/>
          </a:xfrm>
          <a:prstGeom prst="rect">
            <a:avLst/>
          </a:prstGeom>
          <a:noFill/>
          <a:ln/>
        </p:spPr>
        <p:txBody>
          <a:bodyPr wrap="square" lIns="0" tIns="0" rIns="0" bIns="0" rtlCol="0" anchor="ctr"/>
          <a:lstStyle/>
          <a:p>
            <a:pPr algn="r" indent="0" marL="0">
              <a:buNone/>
            </a:pPr>
            <a:r>
              <a:rPr lang="en-US" sz="2000" b="1" dirty="0">
                <a:solidFill>
                  <a:srgbClr val="D93B72"/>
                </a:solidFill>
                <a:latin typeface="Calibri" pitchFamily="34" charset="0"/>
                <a:ea typeface="Calibri" pitchFamily="34" charset="-122"/>
                <a:cs typeface="Calibri" pitchFamily="34" charset="-120"/>
              </a:rPr>
              <a:t>2</a:t>
            </a:r>
            <a:endParaRPr lang="en-US" sz="2000" dirty="0"/>
          </a:p>
        </p:txBody>
      </p:sp>
      <p:sp>
        <p:nvSpPr>
          <p:cNvPr id="31" name="Shape 28"/>
          <p:cNvSpPr/>
          <p:nvPr/>
        </p:nvSpPr>
        <p:spPr>
          <a:xfrm>
            <a:off x="566928" y="5925312"/>
            <a:ext cx="11055096" cy="694944"/>
          </a:xfrm>
          <a:prstGeom prst="roundRect">
            <a:avLst>
              <a:gd name="adj" fmla="val 11842"/>
            </a:avLst>
          </a:prstGeom>
          <a:solidFill>
            <a:srgbClr val="F1F3F8"/>
          </a:solidFill>
          <a:ln w="12700">
            <a:solidFill>
              <a:srgbClr val="F1F3F8"/>
            </a:solidFill>
            <a:prstDash val="solid"/>
          </a:ln>
        </p:spPr>
      </p:sp>
      <p:sp>
        <p:nvSpPr>
          <p:cNvPr id="32" name="Text 29"/>
          <p:cNvSpPr txBox="1"/>
          <p:nvPr/>
        </p:nvSpPr>
        <p:spPr>
          <a:xfrm>
            <a:off x="859536" y="5925312"/>
            <a:ext cx="10469880" cy="694944"/>
          </a:xfrm>
          <a:prstGeom prst="rect">
            <a:avLst/>
          </a:prstGeom>
          <a:noFill/>
          <a:ln/>
        </p:spPr>
        <p:txBody>
          <a:bodyPr wrap="square" lIns="0" tIns="0" rIns="0" bIns="0" rtlCol="0" anchor="ctr"/>
          <a:lstStyle/>
          <a:p>
            <a:pPr indent="0" marL="0">
              <a:buNone/>
            </a:pPr>
            <a:r>
              <a:rPr lang="en-US" sz="1300" b="1" dirty="0">
                <a:solidFill>
                  <a:srgbClr val="141A2E"/>
                </a:solidFill>
                <a:latin typeface="Calibri" pitchFamily="34" charset="0"/>
                <a:ea typeface="Calibri" pitchFamily="34" charset="-122"/>
                <a:cs typeface="Calibri" pitchFamily="34" charset="-120"/>
              </a:rPr>
              <a:t>349 von 638 (54,7 %) brechen ab, bevor sie die Paywall sehen. </a:t>
            </a:r>
            <a:pPr indent="0" marL="0">
              <a:buNone/>
            </a:pPr>
            <a:r>
              <a:rPr lang="en-US" sz="1300" dirty="0">
                <a:solidFill>
                  <a:srgbClr val="4A5470"/>
                </a:solidFill>
                <a:latin typeface="Calibri" pitchFamily="34" charset="0"/>
                <a:ea typeface="Calibri" pitchFamily="34" charset="-122"/>
                <a:cs typeface="Calibri" pitchFamily="34" charset="-120"/>
              </a:rPr>
              <a:t>Weil fast jeder Downloader einen Account anlegt, passiert dieser Verlust komplett nach der Registrierung — also in den Onboarding-Screens 6 bis 19.</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141A2E"/>
                </a:solidFill>
                <a:latin typeface="Cambria" pitchFamily="34" charset="0"/>
                <a:ea typeface="Cambria" pitchFamily="34" charset="-122"/>
                <a:cs typeface="Cambria" pitchFamily="34" charset="-120"/>
              </a:rPr>
              <a:t>Sollten wir Gratis-Nutzer wollen?</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4A5470"/>
                </a:solidFill>
                <a:latin typeface="Calibri" pitchFamily="34" charset="0"/>
                <a:ea typeface="Calibri" pitchFamily="34" charset="-122"/>
                <a:cs typeface="Calibri" pitchFamily="34" charset="-120"/>
              </a:rPr>
              <a:t>247 haben die Paywall weggeklickt — geblieben ist praktisch niemand</a:t>
            </a:r>
            <a:endParaRPr lang="en-US" sz="1450" dirty="0"/>
          </a:p>
        </p:txBody>
      </p:sp>
      <p:sp>
        <p:nvSpPr>
          <p:cNvPr id="5" name="Shape 2"/>
          <p:cNvSpPr/>
          <p:nvPr/>
        </p:nvSpPr>
        <p:spPr>
          <a:xfrm>
            <a:off x="566928" y="1609344"/>
            <a:ext cx="11055096" cy="1115568"/>
          </a:xfrm>
          <a:prstGeom prst="roundRect">
            <a:avLst>
              <a:gd name="adj" fmla="val 7377"/>
            </a:avLst>
          </a:prstGeom>
          <a:solidFill>
            <a:srgbClr val="141A2E"/>
          </a:solidFill>
          <a:ln w="12700">
            <a:solidFill>
              <a:srgbClr val="141A2E"/>
            </a:solidFill>
            <a:prstDash val="solid"/>
          </a:ln>
        </p:spPr>
      </p:sp>
      <p:sp>
        <p:nvSpPr>
          <p:cNvPr id="6" name="Text 3"/>
          <p:cNvSpPr txBox="1"/>
          <p:nvPr/>
        </p:nvSpPr>
        <p:spPr>
          <a:xfrm>
            <a:off x="950976" y="1609344"/>
            <a:ext cx="1463040" cy="1115568"/>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247</a:t>
            </a:r>
            <a:endParaRPr lang="en-US" sz="4200" dirty="0"/>
          </a:p>
        </p:txBody>
      </p:sp>
      <p:sp>
        <p:nvSpPr>
          <p:cNvPr id="7" name="Text 4"/>
          <p:cNvSpPr txBox="1"/>
          <p:nvPr/>
        </p:nvSpPr>
        <p:spPr>
          <a:xfrm>
            <a:off x="2578608" y="1609344"/>
            <a:ext cx="8631936" cy="1115568"/>
          </a:xfrm>
          <a:prstGeom prst="rect">
            <a:avLst/>
          </a:prstGeom>
          <a:noFill/>
          <a:ln/>
        </p:spPr>
        <p:txBody>
          <a:bodyPr wrap="square" lIns="0" tIns="0" rIns="0" bIns="0" rtlCol="0" anchor="ctr"/>
          <a:lstStyle/>
          <a:p>
            <a:pPr indent="0" marL="0">
              <a:lnSpc>
                <a:spcPct val="108000"/>
              </a:lnSpc>
              <a:buNone/>
            </a:pPr>
            <a:r>
              <a:rPr lang="en-US" sz="1500" b="1" dirty="0">
                <a:solidFill>
                  <a:srgbClr val="FFFFFF"/>
                </a:solidFill>
                <a:latin typeface="Calibri" pitchFamily="34" charset="0"/>
                <a:ea typeface="Calibri" pitchFamily="34" charset="-122"/>
                <a:cs typeface="Calibri" pitchFamily="34" charset="-120"/>
              </a:rPr>
              <a:t>Nutzer haben die Paywall gesehen und weggeklickt — und sind danach nicht geblieben.
</a:t>
            </a:r>
            <a:pPr indent="0" marL="0">
              <a:lnSpc>
                <a:spcPct val="108000"/>
              </a:lnSpc>
              <a:buNone/>
            </a:pPr>
            <a:r>
              <a:rPr lang="en-US" sz="1300" dirty="0">
                <a:solidFill>
                  <a:srgbClr val="AAB4CE"/>
                </a:solidFill>
                <a:latin typeface="Calibri" pitchFamily="34" charset="0"/>
                <a:ea typeface="Calibri" pitchFamily="34" charset="-122"/>
                <a:cs typeface="Calibri" pitchFamily="34" charset="-120"/>
              </a:rPr>
              <a:t>Unsere Gratis-Version ist heute kein Produkt, sondern ein Rest: was eben noch geht, wenn man nicht zahlt. Niemand bleibt dafür.</a:t>
            </a:r>
            <a:endParaRPr lang="en-US" sz="1500" dirty="0"/>
          </a:p>
        </p:txBody>
      </p:sp>
      <p:sp>
        <p:nvSpPr>
          <p:cNvPr id="8" name="Shape 5"/>
          <p:cNvSpPr/>
          <p:nvPr/>
        </p:nvSpPr>
        <p:spPr>
          <a:xfrm>
            <a:off x="566928" y="2907792"/>
            <a:ext cx="3489960" cy="2615184"/>
          </a:xfrm>
          <a:prstGeom prst="roundRect">
            <a:avLst>
              <a:gd name="adj" fmla="val 3147"/>
            </a:avLst>
          </a:prstGeom>
          <a:solidFill>
            <a:srgbClr val="E3F2EC"/>
          </a:solidFill>
          <a:ln w="12700">
            <a:solidFill>
              <a:srgbClr val="E3F2EC"/>
            </a:solidFill>
            <a:prstDash val="solid"/>
          </a:ln>
        </p:spPr>
      </p:sp>
      <p:sp>
        <p:nvSpPr>
          <p:cNvPr id="9" name="Shape 6"/>
          <p:cNvSpPr/>
          <p:nvPr/>
        </p:nvSpPr>
        <p:spPr>
          <a:xfrm>
            <a:off x="841248" y="3108960"/>
            <a:ext cx="384048" cy="384048"/>
          </a:xfrm>
          <a:prstGeom prst="roundRect">
            <a:avLst>
              <a:gd name="adj" fmla="val 28571"/>
            </a:avLst>
          </a:prstGeom>
          <a:solidFill>
            <a:srgbClr val="1B7F63"/>
          </a:solidFill>
          <a:ln w="12700">
            <a:solidFill>
              <a:srgbClr val="1B7F63"/>
            </a:solidFill>
            <a:prstDash val="solid"/>
          </a:ln>
        </p:spPr>
      </p:sp>
      <p:sp>
        <p:nvSpPr>
          <p:cNvPr id="10" name="Text 7"/>
          <p:cNvSpPr txBox="1"/>
          <p:nvPr/>
        </p:nvSpPr>
        <p:spPr>
          <a:xfrm>
            <a:off x="841248" y="3108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8"/>
          <p:cNvSpPr txBox="1"/>
          <p:nvPr/>
        </p:nvSpPr>
        <p:spPr>
          <a:xfrm>
            <a:off x="841248" y="3602736"/>
            <a:ext cx="2941320" cy="640080"/>
          </a:xfrm>
          <a:prstGeom prst="rect">
            <a:avLst/>
          </a:prstGeom>
          <a:noFill/>
          <a:ln/>
        </p:spPr>
        <p:txBody>
          <a:bodyPr wrap="square" lIns="0" tIns="0" rIns="0" bIns="0" rtlCol="0" anchor="t"/>
          <a:lstStyle/>
          <a:p>
            <a:pPr indent="0" marL="0">
              <a:lnSpc>
                <a:spcPct val="100000"/>
              </a:lnSpc>
              <a:buNone/>
            </a:pPr>
            <a:r>
              <a:rPr lang="en-US" sz="1400" b="1" dirty="0">
                <a:solidFill>
                  <a:srgbClr val="141A2E"/>
                </a:solidFill>
                <a:latin typeface="Calibri" pitchFamily="34" charset="0"/>
                <a:ea typeface="Calibri" pitchFamily="34" charset="-122"/>
                <a:cs typeface="Calibri" pitchFamily="34" charset="-120"/>
              </a:rPr>
              <a:t>Dafür spricht: es ist unser einziger organischer Kanal</a:t>
            </a:r>
            <a:endParaRPr lang="en-US" sz="1400" dirty="0"/>
          </a:p>
        </p:txBody>
      </p:sp>
      <p:sp>
        <p:nvSpPr>
          <p:cNvPr id="12" name="Text 9"/>
          <p:cNvSpPr txBox="1"/>
          <p:nvPr/>
        </p:nvSpPr>
        <p:spPr>
          <a:xfrm>
            <a:off x="841248" y="4261104"/>
            <a:ext cx="2941320" cy="1170432"/>
          </a:xfrm>
          <a:prstGeom prst="rect">
            <a:avLst/>
          </a:prstGeom>
          <a:noFill/>
          <a:ln/>
        </p:spPr>
        <p:txBody>
          <a:bodyPr wrap="square" lIns="0" tIns="0" rIns="0" bIns="0" rtlCol="0" anchor="t"/>
          <a:lstStyle/>
          <a:p>
            <a:pPr indent="0" marL="0">
              <a:lnSpc>
                <a:spcPct val="108000"/>
              </a:lnSpc>
              <a:buNone/>
            </a:pPr>
            <a:r>
              <a:rPr lang="en-US" sz="1100" dirty="0">
                <a:solidFill>
                  <a:srgbClr val="4A5470"/>
                </a:solidFill>
                <a:latin typeface="Calibri" pitchFamily="34" charset="0"/>
                <a:ea typeface="Calibri" pitchFamily="34" charset="-122"/>
                <a:cs typeface="Calibri" pitchFamily="34" charset="-120"/>
              </a:rPr>
              <a:t>Bei 178 App-Store-Impressionen am Tag ist Empfehlung unter Kommilitonen der einzige Wachstumsweg, der ohne Budget funktioniert. Und mehr Nutzer heißt mehr Bewertungen, was wiederum die Sichtbarkeit hebt.</a:t>
            </a:r>
            <a:endParaRPr lang="en-US" sz="1100" dirty="0"/>
          </a:p>
        </p:txBody>
      </p:sp>
      <p:sp>
        <p:nvSpPr>
          <p:cNvPr id="13" name="Shape 10"/>
          <p:cNvSpPr/>
          <p:nvPr/>
        </p:nvSpPr>
        <p:spPr>
          <a:xfrm>
            <a:off x="4349496" y="2907792"/>
            <a:ext cx="3489960" cy="2615184"/>
          </a:xfrm>
          <a:prstGeom prst="roundRect">
            <a:avLst>
              <a:gd name="adj" fmla="val 3147"/>
            </a:avLst>
          </a:prstGeom>
          <a:solidFill>
            <a:srgbClr val="FBF0DC"/>
          </a:solidFill>
          <a:ln w="12700">
            <a:solidFill>
              <a:srgbClr val="FBF0DC"/>
            </a:solidFill>
            <a:prstDash val="solid"/>
          </a:ln>
        </p:spPr>
      </p:sp>
      <p:sp>
        <p:nvSpPr>
          <p:cNvPr id="14" name="Shape 11"/>
          <p:cNvSpPr/>
          <p:nvPr/>
        </p:nvSpPr>
        <p:spPr>
          <a:xfrm>
            <a:off x="4623816" y="3108960"/>
            <a:ext cx="384048" cy="384048"/>
          </a:xfrm>
          <a:prstGeom prst="roundRect">
            <a:avLst>
              <a:gd name="adj" fmla="val 28571"/>
            </a:avLst>
          </a:prstGeom>
          <a:solidFill>
            <a:srgbClr val="B0761A"/>
          </a:solidFill>
          <a:ln w="12700">
            <a:solidFill>
              <a:srgbClr val="B0761A"/>
            </a:solidFill>
            <a:prstDash val="solid"/>
          </a:ln>
        </p:spPr>
      </p:sp>
      <p:sp>
        <p:nvSpPr>
          <p:cNvPr id="15" name="Text 12"/>
          <p:cNvSpPr txBox="1"/>
          <p:nvPr/>
        </p:nvSpPr>
        <p:spPr>
          <a:xfrm>
            <a:off x="4623816" y="3108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txBox="1"/>
          <p:nvPr/>
        </p:nvSpPr>
        <p:spPr>
          <a:xfrm>
            <a:off x="4623816" y="3602736"/>
            <a:ext cx="2941320" cy="640080"/>
          </a:xfrm>
          <a:prstGeom prst="rect">
            <a:avLst/>
          </a:prstGeom>
          <a:noFill/>
          <a:ln/>
        </p:spPr>
        <p:txBody>
          <a:bodyPr wrap="square" lIns="0" tIns="0" rIns="0" bIns="0" rtlCol="0" anchor="t"/>
          <a:lstStyle/>
          <a:p>
            <a:pPr indent="0" marL="0">
              <a:lnSpc>
                <a:spcPct val="100000"/>
              </a:lnSpc>
              <a:buNone/>
            </a:pPr>
            <a:r>
              <a:rPr lang="en-US" sz="1400" b="1" dirty="0">
                <a:solidFill>
                  <a:srgbClr val="141A2E"/>
                </a:solidFill>
                <a:latin typeface="Calibri" pitchFamily="34" charset="0"/>
                <a:ea typeface="Calibri" pitchFamily="34" charset="-122"/>
                <a:cs typeface="Calibri" pitchFamily="34" charset="-120"/>
              </a:rPr>
              <a:t>Aber nur mit Teil-Mechanik</a:t>
            </a:r>
            <a:endParaRPr lang="en-US" sz="1400" dirty="0"/>
          </a:p>
        </p:txBody>
      </p:sp>
      <p:sp>
        <p:nvSpPr>
          <p:cNvPr id="17" name="Text 14"/>
          <p:cNvSpPr txBox="1"/>
          <p:nvPr/>
        </p:nvSpPr>
        <p:spPr>
          <a:xfrm>
            <a:off x="4623816" y="4261104"/>
            <a:ext cx="2941320" cy="1170432"/>
          </a:xfrm>
          <a:prstGeom prst="rect">
            <a:avLst/>
          </a:prstGeom>
          <a:noFill/>
          <a:ln/>
        </p:spPr>
        <p:txBody>
          <a:bodyPr wrap="square" lIns="0" tIns="0" rIns="0" bIns="0" rtlCol="0" anchor="t"/>
          <a:lstStyle/>
          <a:p>
            <a:pPr indent="0" marL="0">
              <a:lnSpc>
                <a:spcPct val="108000"/>
              </a:lnSpc>
              <a:buNone/>
            </a:pPr>
            <a:r>
              <a:rPr lang="en-US" sz="1100" dirty="0">
                <a:solidFill>
                  <a:srgbClr val="4A5470"/>
                </a:solidFill>
                <a:latin typeface="Calibri" pitchFamily="34" charset="0"/>
                <a:ea typeface="Calibri" pitchFamily="34" charset="-122"/>
                <a:cs typeface="Calibri" pitchFamily="34" charset="-120"/>
              </a:rPr>
              <a:t>Ein Gratis-Nutzer, der niemanden mitbringt, ist reine Kosten — KI-Generierung, Spracherkennung und Tutor kosten uns pro Nutzung Geld. Die Gratis-Version muss ums Teilen gebaut sein, nicht um Großzügigkeit.</a:t>
            </a:r>
            <a:endParaRPr lang="en-US" sz="1100" dirty="0"/>
          </a:p>
        </p:txBody>
      </p:sp>
      <p:sp>
        <p:nvSpPr>
          <p:cNvPr id="18" name="Shape 15"/>
          <p:cNvSpPr/>
          <p:nvPr/>
        </p:nvSpPr>
        <p:spPr>
          <a:xfrm>
            <a:off x="8132064" y="2907792"/>
            <a:ext cx="3489960" cy="2615184"/>
          </a:xfrm>
          <a:prstGeom prst="roundRect">
            <a:avLst>
              <a:gd name="adj" fmla="val 3147"/>
            </a:avLst>
          </a:prstGeom>
          <a:solidFill>
            <a:srgbClr val="FBE7EF"/>
          </a:solidFill>
          <a:ln w="12700">
            <a:solidFill>
              <a:srgbClr val="FBE7EF"/>
            </a:solidFill>
            <a:prstDash val="solid"/>
          </a:ln>
        </p:spPr>
      </p:sp>
      <p:sp>
        <p:nvSpPr>
          <p:cNvPr id="19" name="Shape 16"/>
          <p:cNvSpPr/>
          <p:nvPr/>
        </p:nvSpPr>
        <p:spPr>
          <a:xfrm>
            <a:off x="8406384" y="3108960"/>
            <a:ext cx="384048" cy="384048"/>
          </a:xfrm>
          <a:prstGeom prst="roundRect">
            <a:avLst>
              <a:gd name="adj" fmla="val 28571"/>
            </a:avLst>
          </a:prstGeom>
          <a:solidFill>
            <a:srgbClr val="D93B72"/>
          </a:solidFill>
          <a:ln w="12700">
            <a:solidFill>
              <a:srgbClr val="D93B72"/>
            </a:solidFill>
            <a:prstDash val="solid"/>
          </a:ln>
        </p:spPr>
      </p:sp>
      <p:sp>
        <p:nvSpPr>
          <p:cNvPr id="20" name="Text 17"/>
          <p:cNvSpPr txBox="1"/>
          <p:nvPr/>
        </p:nvSpPr>
        <p:spPr>
          <a:xfrm>
            <a:off x="8406384" y="3108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txBox="1"/>
          <p:nvPr/>
        </p:nvSpPr>
        <p:spPr>
          <a:xfrm>
            <a:off x="8406384" y="3602736"/>
            <a:ext cx="2941320" cy="640080"/>
          </a:xfrm>
          <a:prstGeom prst="rect">
            <a:avLst/>
          </a:prstGeom>
          <a:noFill/>
          <a:ln/>
        </p:spPr>
        <p:txBody>
          <a:bodyPr wrap="square" lIns="0" tIns="0" rIns="0" bIns="0" rtlCol="0" anchor="t"/>
          <a:lstStyle/>
          <a:p>
            <a:pPr indent="0" marL="0">
              <a:lnSpc>
                <a:spcPct val="100000"/>
              </a:lnSpc>
              <a:buNone/>
            </a:pPr>
            <a:r>
              <a:rPr lang="en-US" sz="1400" b="1" dirty="0">
                <a:solidFill>
                  <a:srgbClr val="141A2E"/>
                </a:solidFill>
                <a:latin typeface="Calibri" pitchFamily="34" charset="0"/>
                <a:ea typeface="Calibri" pitchFamily="34" charset="-122"/>
                <a:cs typeface="Calibri" pitchFamily="34" charset="-120"/>
              </a:rPr>
              <a:t>Der konkrete Hebel: geteilte Kartensätze</a:t>
            </a:r>
            <a:endParaRPr lang="en-US" sz="1400" dirty="0"/>
          </a:p>
        </p:txBody>
      </p:sp>
      <p:sp>
        <p:nvSpPr>
          <p:cNvPr id="22" name="Text 19"/>
          <p:cNvSpPr txBox="1"/>
          <p:nvPr/>
        </p:nvSpPr>
        <p:spPr>
          <a:xfrm>
            <a:off x="8406384" y="4261104"/>
            <a:ext cx="2941320" cy="1170432"/>
          </a:xfrm>
          <a:prstGeom prst="rect">
            <a:avLst/>
          </a:prstGeom>
          <a:noFill/>
          <a:ln/>
        </p:spPr>
        <p:txBody>
          <a:bodyPr wrap="square" lIns="0" tIns="0" rIns="0" bIns="0" rtlCol="0" anchor="t"/>
          <a:lstStyle/>
          <a:p>
            <a:pPr indent="0" marL="0">
              <a:lnSpc>
                <a:spcPct val="108000"/>
              </a:lnSpc>
              <a:buNone/>
            </a:pPr>
            <a:r>
              <a:rPr lang="en-US" sz="1100" dirty="0">
                <a:solidFill>
                  <a:srgbClr val="4A5470"/>
                </a:solidFill>
                <a:latin typeface="Calibri" pitchFamily="34" charset="0"/>
                <a:ea typeface="Calibri" pitchFamily="34" charset="-122"/>
                <a:cs typeface="Calibri" pitchFamily="34" charset="-120"/>
              </a:rPr>
              <a:t>Ein Student teilt seinen Strafrecht-AT-Satz per Link, der Empfänger braucht Octa, um ihn zu nutzen. Das war Quizlets kompletter Wachstumsmotor. Nebeneffekt: öffentliche Kartensatz-Seiten sind indexierbar und zahlen direkt auf octastudy.com ein.</a:t>
            </a:r>
            <a:endParaRPr lang="en-US" sz="1100" dirty="0"/>
          </a:p>
        </p:txBody>
      </p:sp>
      <p:sp>
        <p:nvSpPr>
          <p:cNvPr id="23" name="Shape 20"/>
          <p:cNvSpPr/>
          <p:nvPr/>
        </p:nvSpPr>
        <p:spPr>
          <a:xfrm>
            <a:off x="566928" y="5650992"/>
            <a:ext cx="11055096" cy="676656"/>
          </a:xfrm>
          <a:prstGeom prst="roundRect">
            <a:avLst>
              <a:gd name="adj" fmla="val 12162"/>
            </a:avLst>
          </a:prstGeom>
          <a:solidFill>
            <a:srgbClr val="F1F3F8"/>
          </a:solidFill>
          <a:ln w="12700">
            <a:solidFill>
              <a:srgbClr val="F1F3F8"/>
            </a:solidFill>
            <a:prstDash val="solid"/>
          </a:ln>
        </p:spPr>
      </p:sp>
      <p:sp>
        <p:nvSpPr>
          <p:cNvPr id="24" name="Text 21"/>
          <p:cNvSpPr txBox="1"/>
          <p:nvPr/>
        </p:nvSpPr>
        <p:spPr>
          <a:xfrm>
            <a:off x="859536" y="5650992"/>
            <a:ext cx="10469880" cy="676656"/>
          </a:xfrm>
          <a:prstGeom prst="rect">
            <a:avLst/>
          </a:prstGeom>
          <a:noFill/>
          <a:ln/>
        </p:spPr>
        <p:txBody>
          <a:bodyPr wrap="square" lIns="0" tIns="0" rIns="0" bIns="0" rtlCol="0" anchor="ctr"/>
          <a:lstStyle/>
          <a:p>
            <a:pPr indent="0" marL="0">
              <a:lnSpc>
                <a:spcPct val="105000"/>
              </a:lnSpc>
              <a:buNone/>
            </a:pPr>
            <a:r>
              <a:rPr lang="en-US" sz="1150" b="1" dirty="0">
                <a:solidFill>
                  <a:srgbClr val="141A2E"/>
                </a:solidFill>
                <a:latin typeface="Calibri" pitchFamily="34" charset="0"/>
                <a:ea typeface="Calibri" pitchFamily="34" charset="-122"/>
                <a:cs typeface="Calibri" pitchFamily="34" charset="-120"/>
              </a:rPr>
              <a:t>Wie wir es kostenseitig bauen: </a:t>
            </a:r>
            <a:pPr indent="0" marL="0">
              <a:lnSpc>
                <a:spcPct val="105000"/>
              </a:lnSpc>
              <a:buNone/>
            </a:pPr>
            <a:r>
              <a:rPr lang="en-US" sz="1150" dirty="0">
                <a:solidFill>
                  <a:srgbClr val="4A5470"/>
                </a:solidFill>
                <a:latin typeface="Calibri" pitchFamily="34" charset="0"/>
                <a:ea typeface="Calibri" pitchFamily="34" charset="-122"/>
                <a:cs typeface="Calibri" pitchFamily="34" charset="-120"/>
              </a:rPr>
              <a:t>billige Funktionen dauerhaft gratis (fremde Kartensätze nutzen, Karten von Hand, Wiederholungsalgorithmus, Statistiken) — teure Funktionen deckeln statt sperren (z. B. 3 KI-Kartensätze, 10 gesprochene Abfragen im Monat). Zeitlich gehört das hinter die Punkte 1–3 des Plans: bei 612 Downloads im Jahr zündet Teilen nicht von allein.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141A2E"/>
                </a:solidFill>
                <a:latin typeface="Cambria" pitchFamily="34" charset="0"/>
                <a:ea typeface="Cambria" pitchFamily="34" charset="-122"/>
                <a:cs typeface="Cambria" pitchFamily="34" charset="-120"/>
              </a:rPr>
              <a:t>Zahlende Abos, Tag für Tag</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4A5470"/>
                </a:solidFill>
                <a:latin typeface="Calibri" pitchFamily="34" charset="0"/>
                <a:ea typeface="Calibri" pitchFamily="34" charset="-122"/>
                <a:cs typeface="Calibri" pitchFamily="34" charset="-120"/>
              </a:rPr>
              <a:t>App Store Connect, 13.06.–10.09.2026 — Bestand aktiver kostenpflichtiger Abos</a:t>
            </a:r>
            <a:endParaRPr lang="en-US" sz="1450" dirty="0"/>
          </a:p>
        </p:txBody>
      </p:sp>
      <p:graphicFrame>
        <p:nvGraphicFramePr>
          <p:cNvPr id="5" name="Chart 0" descr=""/>
          <p:cNvGraphicFramePr/>
          <p:nvPr/>
        </p:nvGraphicFramePr>
        <p:xfrm>
          <a:off x="566928" y="1572768"/>
          <a:ext cx="11055096" cy="3310128"/>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66928" y="5074920"/>
            <a:ext cx="2064715" cy="1005840"/>
          </a:xfrm>
          <a:prstGeom prst="roundRect">
            <a:avLst>
              <a:gd name="adj" fmla="val 8182"/>
            </a:avLst>
          </a:prstGeom>
          <a:solidFill>
            <a:srgbClr val="F1F3F8"/>
          </a:solidFill>
          <a:ln w="12700">
            <a:solidFill>
              <a:srgbClr val="F1F3F8"/>
            </a:solidFill>
            <a:prstDash val="solid"/>
          </a:ln>
        </p:spPr>
      </p:sp>
      <p:sp>
        <p:nvSpPr>
          <p:cNvPr id="7" name="Text 3"/>
          <p:cNvSpPr txBox="1"/>
          <p:nvPr/>
        </p:nvSpPr>
        <p:spPr>
          <a:xfrm>
            <a:off x="731520" y="5148072"/>
            <a:ext cx="1735531" cy="274320"/>
          </a:xfrm>
          <a:prstGeom prst="rect">
            <a:avLst/>
          </a:prstGeom>
          <a:noFill/>
          <a:ln/>
        </p:spPr>
        <p:txBody>
          <a:bodyPr wrap="square" lIns="0" tIns="0" rIns="0" bIns="0" rtlCol="0" anchor="ctr"/>
          <a:lstStyle/>
          <a:p>
            <a:pPr indent="0" marL="0">
              <a:buNone/>
            </a:pPr>
            <a:r>
              <a:rPr lang="en-US" sz="1200" b="1" dirty="0">
                <a:solidFill>
                  <a:srgbClr val="141A2E"/>
                </a:solidFill>
                <a:latin typeface="Calibri" pitchFamily="34" charset="0"/>
                <a:ea typeface="Calibri" pitchFamily="34" charset="-122"/>
                <a:cs typeface="Calibri" pitchFamily="34" charset="-120"/>
              </a:rPr>
              <a:t>22.06.</a:t>
            </a:r>
            <a:endParaRPr lang="en-US" sz="1200" dirty="0"/>
          </a:p>
        </p:txBody>
      </p:sp>
      <p:sp>
        <p:nvSpPr>
          <p:cNvPr id="8" name="Text 4"/>
          <p:cNvSpPr txBox="1"/>
          <p:nvPr/>
        </p:nvSpPr>
        <p:spPr>
          <a:xfrm>
            <a:off x="1918411" y="5148072"/>
            <a:ext cx="548640" cy="274320"/>
          </a:xfrm>
          <a:prstGeom prst="rect">
            <a:avLst/>
          </a:prstGeom>
          <a:noFill/>
          <a:ln/>
        </p:spPr>
        <p:txBody>
          <a:bodyPr wrap="square" lIns="0" tIns="0" rIns="0" bIns="0" rtlCol="0" anchor="ctr"/>
          <a:lstStyle/>
          <a:p>
            <a:pPr algn="r" indent="0" marL="0">
              <a:buNone/>
            </a:pPr>
            <a:r>
              <a:rPr lang="en-US" sz="1400" b="1" dirty="0">
                <a:solidFill>
                  <a:srgbClr val="1B7F63"/>
                </a:solidFill>
                <a:latin typeface="Calibri" pitchFamily="34" charset="0"/>
                <a:ea typeface="Calibri" pitchFamily="34" charset="-122"/>
                <a:cs typeface="Calibri" pitchFamily="34" charset="-120"/>
              </a:rPr>
              <a:t>+1</a:t>
            </a:r>
            <a:endParaRPr lang="en-US" sz="1400" dirty="0"/>
          </a:p>
        </p:txBody>
      </p:sp>
      <p:sp>
        <p:nvSpPr>
          <p:cNvPr id="9" name="Text 5"/>
          <p:cNvSpPr txBox="1"/>
          <p:nvPr/>
        </p:nvSpPr>
        <p:spPr>
          <a:xfrm>
            <a:off x="731520" y="5440680"/>
            <a:ext cx="1735531" cy="566928"/>
          </a:xfrm>
          <a:prstGeom prst="rect">
            <a:avLst/>
          </a:prstGeom>
          <a:noFill/>
          <a:ln/>
        </p:spPr>
        <p:txBody>
          <a:bodyPr wrap="square" lIns="0" tIns="0" rIns="0" bIns="0" rtlCol="0" anchor="t"/>
          <a:lstStyle/>
          <a:p>
            <a:pPr indent="0" marL="0">
              <a:lnSpc>
                <a:spcPct val="105000"/>
              </a:lnSpc>
              <a:buNone/>
            </a:pPr>
            <a:r>
              <a:rPr lang="en-US" sz="1050" dirty="0">
                <a:solidFill>
                  <a:srgbClr val="4A5470"/>
                </a:solidFill>
                <a:latin typeface="Calibri" pitchFamily="34" charset="0"/>
                <a:ea typeface="Calibri" pitchFamily="34" charset="-122"/>
                <a:cs typeface="Calibri" pitchFamily="34" charset="-120"/>
              </a:rPr>
              <a:t>Neuabschluss</a:t>
            </a:r>
            <a:endParaRPr lang="en-US" sz="1050" dirty="0"/>
          </a:p>
        </p:txBody>
      </p:sp>
      <p:sp>
        <p:nvSpPr>
          <p:cNvPr id="10" name="Shape 6"/>
          <p:cNvSpPr/>
          <p:nvPr/>
        </p:nvSpPr>
        <p:spPr>
          <a:xfrm>
            <a:off x="2814523" y="5074920"/>
            <a:ext cx="2064715" cy="1005840"/>
          </a:xfrm>
          <a:prstGeom prst="roundRect">
            <a:avLst>
              <a:gd name="adj" fmla="val 8182"/>
            </a:avLst>
          </a:prstGeom>
          <a:solidFill>
            <a:srgbClr val="F1F3F8"/>
          </a:solidFill>
          <a:ln w="12700">
            <a:solidFill>
              <a:srgbClr val="F1F3F8"/>
            </a:solidFill>
            <a:prstDash val="solid"/>
          </a:ln>
        </p:spPr>
      </p:sp>
      <p:sp>
        <p:nvSpPr>
          <p:cNvPr id="11" name="Text 7"/>
          <p:cNvSpPr txBox="1"/>
          <p:nvPr/>
        </p:nvSpPr>
        <p:spPr>
          <a:xfrm>
            <a:off x="2979115" y="5148072"/>
            <a:ext cx="1735531" cy="274320"/>
          </a:xfrm>
          <a:prstGeom prst="rect">
            <a:avLst/>
          </a:prstGeom>
          <a:noFill/>
          <a:ln/>
        </p:spPr>
        <p:txBody>
          <a:bodyPr wrap="square" lIns="0" tIns="0" rIns="0" bIns="0" rtlCol="0" anchor="ctr"/>
          <a:lstStyle/>
          <a:p>
            <a:pPr indent="0" marL="0">
              <a:buNone/>
            </a:pPr>
            <a:r>
              <a:rPr lang="en-US" sz="1200" b="1" dirty="0">
                <a:solidFill>
                  <a:srgbClr val="141A2E"/>
                </a:solidFill>
                <a:latin typeface="Calibri" pitchFamily="34" charset="0"/>
                <a:ea typeface="Calibri" pitchFamily="34" charset="-122"/>
                <a:cs typeface="Calibri" pitchFamily="34" charset="-120"/>
              </a:rPr>
              <a:t>02.07.</a:t>
            </a:r>
            <a:endParaRPr lang="en-US" sz="1200" dirty="0"/>
          </a:p>
        </p:txBody>
      </p:sp>
      <p:sp>
        <p:nvSpPr>
          <p:cNvPr id="12" name="Text 8"/>
          <p:cNvSpPr txBox="1"/>
          <p:nvPr/>
        </p:nvSpPr>
        <p:spPr>
          <a:xfrm>
            <a:off x="4166006" y="5148072"/>
            <a:ext cx="548640" cy="274320"/>
          </a:xfrm>
          <a:prstGeom prst="rect">
            <a:avLst/>
          </a:prstGeom>
          <a:noFill/>
          <a:ln/>
        </p:spPr>
        <p:txBody>
          <a:bodyPr wrap="square" lIns="0" tIns="0" rIns="0" bIns="0" rtlCol="0" anchor="ctr"/>
          <a:lstStyle/>
          <a:p>
            <a:pPr algn="r" indent="0" marL="0">
              <a:buNone/>
            </a:pPr>
            <a:r>
              <a:rPr lang="en-US" sz="1400" b="1" dirty="0">
                <a:solidFill>
                  <a:srgbClr val="1B7F63"/>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2979115" y="5440680"/>
            <a:ext cx="1735531" cy="566928"/>
          </a:xfrm>
          <a:prstGeom prst="rect">
            <a:avLst/>
          </a:prstGeom>
          <a:noFill/>
          <a:ln/>
        </p:spPr>
        <p:txBody>
          <a:bodyPr wrap="square" lIns="0" tIns="0" rIns="0" bIns="0" rtlCol="0" anchor="t"/>
          <a:lstStyle/>
          <a:p>
            <a:pPr indent="0" marL="0">
              <a:lnSpc>
                <a:spcPct val="105000"/>
              </a:lnSpc>
              <a:buNone/>
            </a:pPr>
            <a:r>
              <a:rPr lang="en-US" sz="1050" dirty="0">
                <a:solidFill>
                  <a:srgbClr val="4A5470"/>
                </a:solidFill>
                <a:latin typeface="Calibri" pitchFamily="34" charset="0"/>
                <a:ea typeface="Calibri" pitchFamily="34" charset="-122"/>
                <a:cs typeface="Calibri" pitchFamily="34" charset="-120"/>
              </a:rPr>
              <a:t>Neuabschluss</a:t>
            </a:r>
            <a:endParaRPr lang="en-US" sz="1050" dirty="0"/>
          </a:p>
        </p:txBody>
      </p:sp>
      <p:sp>
        <p:nvSpPr>
          <p:cNvPr id="14" name="Shape 10"/>
          <p:cNvSpPr/>
          <p:nvPr/>
        </p:nvSpPr>
        <p:spPr>
          <a:xfrm>
            <a:off x="5062118" y="5074920"/>
            <a:ext cx="2064715" cy="1005840"/>
          </a:xfrm>
          <a:prstGeom prst="roundRect">
            <a:avLst>
              <a:gd name="adj" fmla="val 8182"/>
            </a:avLst>
          </a:prstGeom>
          <a:solidFill>
            <a:srgbClr val="F1F3F8"/>
          </a:solidFill>
          <a:ln w="12700">
            <a:solidFill>
              <a:srgbClr val="F1F3F8"/>
            </a:solidFill>
            <a:prstDash val="solid"/>
          </a:ln>
        </p:spPr>
      </p:sp>
      <p:sp>
        <p:nvSpPr>
          <p:cNvPr id="15" name="Text 11"/>
          <p:cNvSpPr txBox="1"/>
          <p:nvPr/>
        </p:nvSpPr>
        <p:spPr>
          <a:xfrm>
            <a:off x="5226710" y="5148072"/>
            <a:ext cx="1735531" cy="274320"/>
          </a:xfrm>
          <a:prstGeom prst="rect">
            <a:avLst/>
          </a:prstGeom>
          <a:noFill/>
          <a:ln/>
        </p:spPr>
        <p:txBody>
          <a:bodyPr wrap="square" lIns="0" tIns="0" rIns="0" bIns="0" rtlCol="0" anchor="ctr"/>
          <a:lstStyle/>
          <a:p>
            <a:pPr indent="0" marL="0">
              <a:buNone/>
            </a:pPr>
            <a:r>
              <a:rPr lang="en-US" sz="1200" b="1" dirty="0">
                <a:solidFill>
                  <a:srgbClr val="141A2E"/>
                </a:solidFill>
                <a:latin typeface="Calibri" pitchFamily="34" charset="0"/>
                <a:ea typeface="Calibri" pitchFamily="34" charset="-122"/>
                <a:cs typeface="Calibri" pitchFamily="34" charset="-120"/>
              </a:rPr>
              <a:t>22.07.</a:t>
            </a:r>
            <a:endParaRPr lang="en-US" sz="1200" dirty="0"/>
          </a:p>
        </p:txBody>
      </p:sp>
      <p:sp>
        <p:nvSpPr>
          <p:cNvPr id="16" name="Text 12"/>
          <p:cNvSpPr txBox="1"/>
          <p:nvPr/>
        </p:nvSpPr>
        <p:spPr>
          <a:xfrm>
            <a:off x="6413602" y="5148072"/>
            <a:ext cx="548640" cy="274320"/>
          </a:xfrm>
          <a:prstGeom prst="rect">
            <a:avLst/>
          </a:prstGeom>
          <a:noFill/>
          <a:ln/>
        </p:spPr>
        <p:txBody>
          <a:bodyPr wrap="square" lIns="0" tIns="0" rIns="0" bIns="0" rtlCol="0" anchor="ctr"/>
          <a:lstStyle/>
          <a:p>
            <a:pPr algn="r" indent="0" marL="0">
              <a:buNone/>
            </a:pPr>
            <a:r>
              <a:rPr lang="en-US" sz="1400" b="1" dirty="0">
                <a:solidFill>
                  <a:srgbClr val="D93B72"/>
                </a:solidFill>
                <a:latin typeface="Calibri" pitchFamily="34" charset="0"/>
                <a:ea typeface="Calibri" pitchFamily="34" charset="-122"/>
                <a:cs typeface="Calibri" pitchFamily="34" charset="-120"/>
              </a:rPr>
              <a:t>−1</a:t>
            </a:r>
            <a:endParaRPr lang="en-US" sz="1400" dirty="0"/>
          </a:p>
        </p:txBody>
      </p:sp>
      <p:sp>
        <p:nvSpPr>
          <p:cNvPr id="17" name="Text 13"/>
          <p:cNvSpPr txBox="1"/>
          <p:nvPr/>
        </p:nvSpPr>
        <p:spPr>
          <a:xfrm>
            <a:off x="5226710" y="5440680"/>
            <a:ext cx="1735531" cy="566928"/>
          </a:xfrm>
          <a:prstGeom prst="rect">
            <a:avLst/>
          </a:prstGeom>
          <a:noFill/>
          <a:ln/>
        </p:spPr>
        <p:txBody>
          <a:bodyPr wrap="square" lIns="0" tIns="0" rIns="0" bIns="0" rtlCol="0" anchor="t"/>
          <a:lstStyle/>
          <a:p>
            <a:pPr indent="0" marL="0">
              <a:lnSpc>
                <a:spcPct val="105000"/>
              </a:lnSpc>
              <a:buNone/>
            </a:pPr>
            <a:r>
              <a:rPr lang="en-US" sz="1050" dirty="0">
                <a:solidFill>
                  <a:srgbClr val="4A5470"/>
                </a:solidFill>
                <a:latin typeface="Calibri" pitchFamily="34" charset="0"/>
                <a:ea typeface="Calibri" pitchFamily="34" charset="-122"/>
                <a:cs typeface="Calibri" pitchFamily="34" charset="-120"/>
              </a:rPr>
              <a:t>Kündigung nach exakt 30 Tagen</a:t>
            </a:r>
            <a:endParaRPr lang="en-US" sz="1050" dirty="0"/>
          </a:p>
        </p:txBody>
      </p:sp>
      <p:sp>
        <p:nvSpPr>
          <p:cNvPr id="18" name="Shape 14"/>
          <p:cNvSpPr/>
          <p:nvPr/>
        </p:nvSpPr>
        <p:spPr>
          <a:xfrm>
            <a:off x="7309714" y="5074920"/>
            <a:ext cx="2064715" cy="1005840"/>
          </a:xfrm>
          <a:prstGeom prst="roundRect">
            <a:avLst>
              <a:gd name="adj" fmla="val 8182"/>
            </a:avLst>
          </a:prstGeom>
          <a:solidFill>
            <a:srgbClr val="F1F3F8"/>
          </a:solidFill>
          <a:ln w="12700">
            <a:solidFill>
              <a:srgbClr val="F1F3F8"/>
            </a:solidFill>
            <a:prstDash val="solid"/>
          </a:ln>
        </p:spPr>
      </p:sp>
      <p:sp>
        <p:nvSpPr>
          <p:cNvPr id="19" name="Text 15"/>
          <p:cNvSpPr txBox="1"/>
          <p:nvPr/>
        </p:nvSpPr>
        <p:spPr>
          <a:xfrm>
            <a:off x="7474306" y="5148072"/>
            <a:ext cx="1735531" cy="274320"/>
          </a:xfrm>
          <a:prstGeom prst="rect">
            <a:avLst/>
          </a:prstGeom>
          <a:noFill/>
          <a:ln/>
        </p:spPr>
        <p:txBody>
          <a:bodyPr wrap="square" lIns="0" tIns="0" rIns="0" bIns="0" rtlCol="0" anchor="ctr"/>
          <a:lstStyle/>
          <a:p>
            <a:pPr indent="0" marL="0">
              <a:buNone/>
            </a:pPr>
            <a:r>
              <a:rPr lang="en-US" sz="1200" b="1" dirty="0">
                <a:solidFill>
                  <a:srgbClr val="141A2E"/>
                </a:solidFill>
                <a:latin typeface="Calibri" pitchFamily="34" charset="0"/>
                <a:ea typeface="Calibri" pitchFamily="34" charset="-122"/>
                <a:cs typeface="Calibri" pitchFamily="34" charset="-120"/>
              </a:rPr>
              <a:t>03.08.</a:t>
            </a:r>
            <a:endParaRPr lang="en-US" sz="1200" dirty="0"/>
          </a:p>
        </p:txBody>
      </p:sp>
      <p:sp>
        <p:nvSpPr>
          <p:cNvPr id="20" name="Text 16"/>
          <p:cNvSpPr txBox="1"/>
          <p:nvPr/>
        </p:nvSpPr>
        <p:spPr>
          <a:xfrm>
            <a:off x="8661197" y="5148072"/>
            <a:ext cx="548640" cy="274320"/>
          </a:xfrm>
          <a:prstGeom prst="rect">
            <a:avLst/>
          </a:prstGeom>
          <a:noFill/>
          <a:ln/>
        </p:spPr>
        <p:txBody>
          <a:bodyPr wrap="square" lIns="0" tIns="0" rIns="0" bIns="0" rtlCol="0" anchor="ctr"/>
          <a:lstStyle/>
          <a:p>
            <a:pPr algn="r" indent="0" marL="0">
              <a:buNone/>
            </a:pPr>
            <a:r>
              <a:rPr lang="en-US" sz="1400" b="1" dirty="0">
                <a:solidFill>
                  <a:srgbClr val="1B7F63"/>
                </a:solidFill>
                <a:latin typeface="Calibri" pitchFamily="34" charset="0"/>
                <a:ea typeface="Calibri" pitchFamily="34" charset="-122"/>
                <a:cs typeface="Calibri" pitchFamily="34" charset="-120"/>
              </a:rPr>
              <a:t>+1</a:t>
            </a:r>
            <a:endParaRPr lang="en-US" sz="1400" dirty="0"/>
          </a:p>
        </p:txBody>
      </p:sp>
      <p:sp>
        <p:nvSpPr>
          <p:cNvPr id="21" name="Text 17"/>
          <p:cNvSpPr txBox="1"/>
          <p:nvPr/>
        </p:nvSpPr>
        <p:spPr>
          <a:xfrm>
            <a:off x="7474306" y="5440680"/>
            <a:ext cx="1735531" cy="566928"/>
          </a:xfrm>
          <a:prstGeom prst="rect">
            <a:avLst/>
          </a:prstGeom>
          <a:noFill/>
          <a:ln/>
        </p:spPr>
        <p:txBody>
          <a:bodyPr wrap="square" lIns="0" tIns="0" rIns="0" bIns="0" rtlCol="0" anchor="t"/>
          <a:lstStyle/>
          <a:p>
            <a:pPr indent="0" marL="0">
              <a:lnSpc>
                <a:spcPct val="105000"/>
              </a:lnSpc>
              <a:buNone/>
            </a:pPr>
            <a:r>
              <a:rPr lang="en-US" sz="1050" dirty="0">
                <a:solidFill>
                  <a:srgbClr val="4A5470"/>
                </a:solidFill>
                <a:latin typeface="Calibri" pitchFamily="34" charset="0"/>
                <a:ea typeface="Calibri" pitchFamily="34" charset="-122"/>
                <a:cs typeface="Calibri" pitchFamily="34" charset="-120"/>
              </a:rPr>
              <a:t>Neuabschluss</a:t>
            </a:r>
            <a:endParaRPr lang="en-US" sz="1050" dirty="0"/>
          </a:p>
        </p:txBody>
      </p:sp>
      <p:sp>
        <p:nvSpPr>
          <p:cNvPr id="22" name="Shape 18"/>
          <p:cNvSpPr/>
          <p:nvPr/>
        </p:nvSpPr>
        <p:spPr>
          <a:xfrm>
            <a:off x="9557309" y="5074920"/>
            <a:ext cx="2064715" cy="1005840"/>
          </a:xfrm>
          <a:prstGeom prst="roundRect">
            <a:avLst>
              <a:gd name="adj" fmla="val 8182"/>
            </a:avLst>
          </a:prstGeom>
          <a:solidFill>
            <a:srgbClr val="F1F3F8"/>
          </a:solidFill>
          <a:ln w="12700">
            <a:solidFill>
              <a:srgbClr val="F1F3F8"/>
            </a:solidFill>
            <a:prstDash val="solid"/>
          </a:ln>
        </p:spPr>
      </p:sp>
      <p:sp>
        <p:nvSpPr>
          <p:cNvPr id="23" name="Text 19"/>
          <p:cNvSpPr txBox="1"/>
          <p:nvPr/>
        </p:nvSpPr>
        <p:spPr>
          <a:xfrm>
            <a:off x="9721901" y="5148072"/>
            <a:ext cx="1735531" cy="274320"/>
          </a:xfrm>
          <a:prstGeom prst="rect">
            <a:avLst/>
          </a:prstGeom>
          <a:noFill/>
          <a:ln/>
        </p:spPr>
        <p:txBody>
          <a:bodyPr wrap="square" lIns="0" tIns="0" rIns="0" bIns="0" rtlCol="0" anchor="ctr"/>
          <a:lstStyle/>
          <a:p>
            <a:pPr indent="0" marL="0">
              <a:buNone/>
            </a:pPr>
            <a:r>
              <a:rPr lang="en-US" sz="1200" b="1" dirty="0">
                <a:solidFill>
                  <a:srgbClr val="141A2E"/>
                </a:solidFill>
                <a:latin typeface="Calibri" pitchFamily="34" charset="0"/>
                <a:ea typeface="Calibri" pitchFamily="34" charset="-122"/>
                <a:cs typeface="Calibri" pitchFamily="34" charset="-120"/>
              </a:rPr>
              <a:t>04.08.</a:t>
            </a:r>
            <a:endParaRPr lang="en-US" sz="1200" dirty="0"/>
          </a:p>
        </p:txBody>
      </p:sp>
      <p:sp>
        <p:nvSpPr>
          <p:cNvPr id="24" name="Text 20"/>
          <p:cNvSpPr txBox="1"/>
          <p:nvPr/>
        </p:nvSpPr>
        <p:spPr>
          <a:xfrm>
            <a:off x="10908792" y="5148072"/>
            <a:ext cx="548640" cy="274320"/>
          </a:xfrm>
          <a:prstGeom prst="rect">
            <a:avLst/>
          </a:prstGeom>
          <a:noFill/>
          <a:ln/>
        </p:spPr>
        <p:txBody>
          <a:bodyPr wrap="square" lIns="0" tIns="0" rIns="0" bIns="0" rtlCol="0" anchor="ctr"/>
          <a:lstStyle/>
          <a:p>
            <a:pPr algn="r" indent="0" marL="0">
              <a:buNone/>
            </a:pPr>
            <a:r>
              <a:rPr lang="en-US" sz="1400" b="1" dirty="0">
                <a:solidFill>
                  <a:srgbClr val="D93B72"/>
                </a:solidFill>
                <a:latin typeface="Calibri" pitchFamily="34" charset="0"/>
                <a:ea typeface="Calibri" pitchFamily="34" charset="-122"/>
                <a:cs typeface="Calibri" pitchFamily="34" charset="-120"/>
              </a:rPr>
              <a:t>−1</a:t>
            </a:r>
            <a:endParaRPr lang="en-US" sz="1400" dirty="0"/>
          </a:p>
        </p:txBody>
      </p:sp>
      <p:sp>
        <p:nvSpPr>
          <p:cNvPr id="25" name="Text 21"/>
          <p:cNvSpPr txBox="1"/>
          <p:nvPr/>
        </p:nvSpPr>
        <p:spPr>
          <a:xfrm>
            <a:off x="9721901" y="5440680"/>
            <a:ext cx="1735531" cy="566928"/>
          </a:xfrm>
          <a:prstGeom prst="rect">
            <a:avLst/>
          </a:prstGeom>
          <a:noFill/>
          <a:ln/>
        </p:spPr>
        <p:txBody>
          <a:bodyPr wrap="square" lIns="0" tIns="0" rIns="0" bIns="0" rtlCol="0" anchor="t"/>
          <a:lstStyle/>
          <a:p>
            <a:pPr indent="0" marL="0">
              <a:lnSpc>
                <a:spcPct val="105000"/>
              </a:lnSpc>
              <a:buNone/>
            </a:pPr>
            <a:r>
              <a:rPr lang="en-US" sz="1050" dirty="0">
                <a:solidFill>
                  <a:srgbClr val="4A5470"/>
                </a:solidFill>
                <a:latin typeface="Calibri" pitchFamily="34" charset="0"/>
                <a:ea typeface="Calibri" pitchFamily="34" charset="-122"/>
                <a:cs typeface="Calibri" pitchFamily="34" charset="-120"/>
              </a:rPr>
              <a:t>nach 1 Tag weg — vermutlich Rückerstattung</a:t>
            </a:r>
            <a:endParaRPr lang="en-US" sz="1050" dirty="0"/>
          </a:p>
        </p:txBody>
      </p:sp>
      <p:sp>
        <p:nvSpPr>
          <p:cNvPr id="26" name="Text 22"/>
          <p:cNvSpPr txBox="1"/>
          <p:nvPr/>
        </p:nvSpPr>
        <p:spPr>
          <a:xfrm>
            <a:off x="566928" y="6236208"/>
            <a:ext cx="11055096" cy="347472"/>
          </a:xfrm>
          <a:prstGeom prst="rect">
            <a:avLst/>
          </a:prstGeom>
          <a:noFill/>
          <a:ln/>
        </p:spPr>
        <p:txBody>
          <a:bodyPr wrap="square" lIns="0" tIns="0" rIns="0" bIns="0" rtlCol="0" anchor="ctr"/>
          <a:lstStyle/>
          <a:p>
            <a:pPr indent="0" marL="0">
              <a:buNone/>
            </a:pPr>
            <a:r>
              <a:rPr lang="en-US" sz="1050" i="1" dirty="0">
                <a:solidFill>
                  <a:srgbClr val="7C86A2"/>
                </a:solidFill>
                <a:latin typeface="Calibri" pitchFamily="34" charset="0"/>
                <a:ea typeface="Calibri" pitchFamily="34" charset="-122"/>
                <a:cs typeface="Calibri" pitchFamily="34" charset="-120"/>
              </a:rPr>
              <a:t>Achtung bei der Lesart: Die Kurve zeigt den Bestand zu jedem Zeitpunkt, nicht die Neuabschlüsse pro Tag.</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141A2E"/>
                </a:solidFill>
                <a:latin typeface="Cambria" pitchFamily="34" charset="0"/>
                <a:ea typeface="Cambria" pitchFamily="34" charset="-122"/>
                <a:cs typeface="Cambria" pitchFamily="34" charset="-120"/>
              </a:rPr>
              <a:t>Vier Abos — vier Geschichten</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4A5470"/>
                </a:solidFill>
                <a:latin typeface="Calibri" pitchFamily="34" charset="0"/>
                <a:ea typeface="Calibri" pitchFamily="34" charset="-122"/>
                <a:cs typeface="Calibri" pitchFamily="34" charset="-120"/>
              </a:rPr>
              <a:t>Nur 3 Neuabschlüsse in 90 Tagen, Netto-Wachstum +1 · Achtung: Dieser Export deckt nur 13.06.–10.09. ab, nicht das ganze Jahr</a:t>
            </a:r>
            <a:endParaRPr lang="en-US" sz="1450" dirty="0"/>
          </a:p>
        </p:txBody>
      </p:sp>
      <p:sp>
        <p:nvSpPr>
          <p:cNvPr id="5" name="Shape 2"/>
          <p:cNvSpPr/>
          <p:nvPr/>
        </p:nvSpPr>
        <p:spPr>
          <a:xfrm>
            <a:off x="566928" y="1627632"/>
            <a:ext cx="2585466" cy="3246120"/>
          </a:xfrm>
          <a:prstGeom prst="roundRect">
            <a:avLst>
              <a:gd name="adj" fmla="val 3183"/>
            </a:avLst>
          </a:prstGeom>
          <a:solidFill>
            <a:srgbClr val="E3F2EC"/>
          </a:solidFill>
          <a:ln w="12700">
            <a:solidFill>
              <a:srgbClr val="E3F2EC"/>
            </a:solidFill>
            <a:prstDash val="solid"/>
          </a:ln>
        </p:spPr>
      </p:sp>
      <p:sp>
        <p:nvSpPr>
          <p:cNvPr id="6" name="Text 3"/>
          <p:cNvSpPr txBox="1"/>
          <p:nvPr/>
        </p:nvSpPr>
        <p:spPr>
          <a:xfrm>
            <a:off x="822960" y="1810512"/>
            <a:ext cx="2073402" cy="384048"/>
          </a:xfrm>
          <a:prstGeom prst="rect">
            <a:avLst/>
          </a:prstGeom>
          <a:noFill/>
          <a:ln/>
        </p:spPr>
        <p:txBody>
          <a:bodyPr wrap="square" lIns="0" tIns="0" rIns="0" bIns="0" rtlCol="0" anchor="ctr"/>
          <a:lstStyle/>
          <a:p>
            <a:pPr indent="0" marL="0">
              <a:buNone/>
            </a:pPr>
            <a:r>
              <a:rPr lang="en-US" sz="1900" b="1" dirty="0">
                <a:solidFill>
                  <a:srgbClr val="141A2E"/>
                </a:solidFill>
                <a:latin typeface="Cambria" pitchFamily="34" charset="0"/>
                <a:ea typeface="Cambria" pitchFamily="34" charset="-122"/>
                <a:cs typeface="Cambria" pitchFamily="34" charset="-120"/>
              </a:rPr>
              <a:t>Abo A</a:t>
            </a:r>
            <a:endParaRPr lang="en-US" sz="1900" dirty="0"/>
          </a:p>
        </p:txBody>
      </p:sp>
      <p:sp>
        <p:nvSpPr>
          <p:cNvPr id="7" name="Text 4"/>
          <p:cNvSpPr txBox="1"/>
          <p:nvPr/>
        </p:nvSpPr>
        <p:spPr>
          <a:xfrm>
            <a:off x="822960" y="2212848"/>
            <a:ext cx="2073402" cy="420624"/>
          </a:xfrm>
          <a:prstGeom prst="rect">
            <a:avLst/>
          </a:prstGeom>
          <a:noFill/>
          <a:ln/>
        </p:spPr>
        <p:txBody>
          <a:bodyPr wrap="square" lIns="0" tIns="0" rIns="0" bIns="0" rtlCol="0" anchor="ctr"/>
          <a:lstStyle/>
          <a:p>
            <a:pPr indent="0" marL="0">
              <a:buNone/>
            </a:pPr>
            <a:r>
              <a:rPr lang="en-US" sz="1700" b="1" dirty="0">
                <a:solidFill>
                  <a:srgbClr val="1B7F63"/>
                </a:solidFill>
                <a:latin typeface="Calibri" pitchFamily="34" charset="0"/>
                <a:ea typeface="Calibri" pitchFamily="34" charset="-122"/>
                <a:cs typeface="Calibri" pitchFamily="34" charset="-120"/>
              </a:rPr>
              <a:t>3+ Monate</a:t>
            </a:r>
            <a:endParaRPr lang="en-US" sz="1700" dirty="0"/>
          </a:p>
        </p:txBody>
      </p:sp>
      <p:sp>
        <p:nvSpPr>
          <p:cNvPr id="8" name="Text 5"/>
          <p:cNvSpPr txBox="1"/>
          <p:nvPr/>
        </p:nvSpPr>
        <p:spPr>
          <a:xfrm>
            <a:off x="822960" y="2651760"/>
            <a:ext cx="2073402" cy="365760"/>
          </a:xfrm>
          <a:prstGeom prst="rect">
            <a:avLst/>
          </a:prstGeom>
          <a:noFill/>
          <a:ln/>
        </p:spPr>
        <p:txBody>
          <a:bodyPr wrap="square" lIns="0" tIns="0" rIns="0" bIns="0" rtlCol="0" anchor="t"/>
          <a:lstStyle/>
          <a:p>
            <a:pPr indent="0" marL="0">
              <a:buNone/>
            </a:pPr>
            <a:r>
              <a:rPr lang="en-US" sz="1150" dirty="0">
                <a:solidFill>
                  <a:srgbClr val="7C86A2"/>
                </a:solidFill>
                <a:latin typeface="Calibri" pitchFamily="34" charset="0"/>
                <a:ea typeface="Calibri" pitchFamily="34" charset="-122"/>
                <a:cs typeface="Calibri" pitchFamily="34" charset="-120"/>
              </a:rPr>
              <a:t>vor dem 13.06. gestartet, läuft bis heute</a:t>
            </a:r>
            <a:endParaRPr lang="en-US" sz="1150" dirty="0"/>
          </a:p>
        </p:txBody>
      </p:sp>
      <p:sp>
        <p:nvSpPr>
          <p:cNvPr id="9" name="Text 6"/>
          <p:cNvSpPr txBox="1"/>
          <p:nvPr/>
        </p:nvSpPr>
        <p:spPr>
          <a:xfrm>
            <a:off x="822960" y="3072384"/>
            <a:ext cx="2073402" cy="1572768"/>
          </a:xfrm>
          <a:prstGeom prst="rect">
            <a:avLst/>
          </a:prstGeom>
          <a:noFill/>
          <a:ln/>
        </p:spPr>
        <p:txBody>
          <a:bodyPr wrap="square" lIns="0" tIns="0" rIns="0" bIns="0" rtlCol="0" anchor="t"/>
          <a:lstStyle/>
          <a:p>
            <a:pPr indent="0" marL="0">
              <a:lnSpc>
                <a:spcPct val="108000"/>
              </a:lnSpc>
              <a:buNone/>
            </a:pPr>
            <a:r>
              <a:rPr lang="en-US" sz="1200" dirty="0">
                <a:solidFill>
                  <a:srgbClr val="4A5470"/>
                </a:solidFill>
                <a:latin typeface="Calibri" pitchFamily="34" charset="0"/>
                <a:ea typeface="Calibri" pitchFamily="34" charset="-122"/>
                <a:cs typeface="Calibri" pitchFamily="34" charset="-120"/>
              </a:rPr>
              <a:t>Gesund. Unser bester Beleg, dass das Produkt trägt.</a:t>
            </a:r>
            <a:endParaRPr lang="en-US" sz="1200" dirty="0"/>
          </a:p>
        </p:txBody>
      </p:sp>
      <p:sp>
        <p:nvSpPr>
          <p:cNvPr id="10" name="Shape 7"/>
          <p:cNvSpPr/>
          <p:nvPr/>
        </p:nvSpPr>
        <p:spPr>
          <a:xfrm>
            <a:off x="3390138" y="1627632"/>
            <a:ext cx="2585466" cy="3246120"/>
          </a:xfrm>
          <a:prstGeom prst="roundRect">
            <a:avLst>
              <a:gd name="adj" fmla="val 3183"/>
            </a:avLst>
          </a:prstGeom>
          <a:solidFill>
            <a:srgbClr val="FBF0DC"/>
          </a:solidFill>
          <a:ln w="12700">
            <a:solidFill>
              <a:srgbClr val="FBF0DC"/>
            </a:solidFill>
            <a:prstDash val="solid"/>
          </a:ln>
        </p:spPr>
      </p:sp>
      <p:sp>
        <p:nvSpPr>
          <p:cNvPr id="11" name="Text 8"/>
          <p:cNvSpPr txBox="1"/>
          <p:nvPr/>
        </p:nvSpPr>
        <p:spPr>
          <a:xfrm>
            <a:off x="3646170" y="1810512"/>
            <a:ext cx="2073402" cy="384048"/>
          </a:xfrm>
          <a:prstGeom prst="rect">
            <a:avLst/>
          </a:prstGeom>
          <a:noFill/>
          <a:ln/>
        </p:spPr>
        <p:txBody>
          <a:bodyPr wrap="square" lIns="0" tIns="0" rIns="0" bIns="0" rtlCol="0" anchor="ctr"/>
          <a:lstStyle/>
          <a:p>
            <a:pPr indent="0" marL="0">
              <a:buNone/>
            </a:pPr>
            <a:r>
              <a:rPr lang="en-US" sz="1900" b="1" dirty="0">
                <a:solidFill>
                  <a:srgbClr val="141A2E"/>
                </a:solidFill>
                <a:latin typeface="Cambria" pitchFamily="34" charset="0"/>
                <a:ea typeface="Cambria" pitchFamily="34" charset="-122"/>
                <a:cs typeface="Cambria" pitchFamily="34" charset="-120"/>
              </a:rPr>
              <a:t>Abo B</a:t>
            </a:r>
            <a:endParaRPr lang="en-US" sz="1900" dirty="0"/>
          </a:p>
        </p:txBody>
      </p:sp>
      <p:sp>
        <p:nvSpPr>
          <p:cNvPr id="12" name="Text 9"/>
          <p:cNvSpPr txBox="1"/>
          <p:nvPr/>
        </p:nvSpPr>
        <p:spPr>
          <a:xfrm>
            <a:off x="3646170" y="2212848"/>
            <a:ext cx="2073402" cy="420624"/>
          </a:xfrm>
          <a:prstGeom prst="rect">
            <a:avLst/>
          </a:prstGeom>
          <a:noFill/>
          <a:ln/>
        </p:spPr>
        <p:txBody>
          <a:bodyPr wrap="square" lIns="0" tIns="0" rIns="0" bIns="0" rtlCol="0" anchor="ctr"/>
          <a:lstStyle/>
          <a:p>
            <a:pPr indent="0" marL="0">
              <a:buNone/>
            </a:pPr>
            <a:r>
              <a:rPr lang="en-US" sz="1700" b="1" dirty="0">
                <a:solidFill>
                  <a:srgbClr val="B0761A"/>
                </a:solidFill>
                <a:latin typeface="Calibri" pitchFamily="34" charset="0"/>
                <a:ea typeface="Calibri" pitchFamily="34" charset="-122"/>
                <a:cs typeface="Calibri" pitchFamily="34" charset="-120"/>
              </a:rPr>
              <a:t>exakt 30 Tage</a:t>
            </a:r>
            <a:endParaRPr lang="en-US" sz="1700" dirty="0"/>
          </a:p>
        </p:txBody>
      </p:sp>
      <p:sp>
        <p:nvSpPr>
          <p:cNvPr id="13" name="Text 10"/>
          <p:cNvSpPr txBox="1"/>
          <p:nvPr/>
        </p:nvSpPr>
        <p:spPr>
          <a:xfrm>
            <a:off x="3646170" y="2651760"/>
            <a:ext cx="2073402" cy="365760"/>
          </a:xfrm>
          <a:prstGeom prst="rect">
            <a:avLst/>
          </a:prstGeom>
          <a:noFill/>
          <a:ln/>
        </p:spPr>
        <p:txBody>
          <a:bodyPr wrap="square" lIns="0" tIns="0" rIns="0" bIns="0" rtlCol="0" anchor="t"/>
          <a:lstStyle/>
          <a:p>
            <a:pPr indent="0" marL="0">
              <a:buNone/>
            </a:pPr>
            <a:r>
              <a:rPr lang="en-US" sz="1150" dirty="0">
                <a:solidFill>
                  <a:srgbClr val="7C86A2"/>
                </a:solidFill>
                <a:latin typeface="Calibri" pitchFamily="34" charset="0"/>
                <a:ea typeface="Calibri" pitchFamily="34" charset="-122"/>
                <a:cs typeface="Calibri" pitchFamily="34" charset="-120"/>
              </a:rPr>
              <a:t>22.06. → 22.07.</a:t>
            </a:r>
            <a:endParaRPr lang="en-US" sz="1150" dirty="0"/>
          </a:p>
        </p:txBody>
      </p:sp>
      <p:sp>
        <p:nvSpPr>
          <p:cNvPr id="14" name="Text 11"/>
          <p:cNvSpPr txBox="1"/>
          <p:nvPr/>
        </p:nvSpPr>
        <p:spPr>
          <a:xfrm>
            <a:off x="3646170" y="3072384"/>
            <a:ext cx="2073402" cy="1572768"/>
          </a:xfrm>
          <a:prstGeom prst="rect">
            <a:avLst/>
          </a:prstGeom>
          <a:noFill/>
          <a:ln/>
        </p:spPr>
        <p:txBody>
          <a:bodyPr wrap="square" lIns="0" tIns="0" rIns="0" bIns="0" rtlCol="0" anchor="t"/>
          <a:lstStyle/>
          <a:p>
            <a:pPr indent="0" marL="0">
              <a:lnSpc>
                <a:spcPct val="108000"/>
              </a:lnSpc>
              <a:buNone/>
            </a:pPr>
            <a:r>
              <a:rPr lang="en-US" sz="1200" dirty="0">
                <a:solidFill>
                  <a:srgbClr val="4A5470"/>
                </a:solidFill>
                <a:latin typeface="Calibri" pitchFamily="34" charset="0"/>
                <a:ea typeface="Calibri" pitchFamily="34" charset="-122"/>
                <a:cs typeface="Calibri" pitchFamily="34" charset="-120"/>
              </a:rPr>
              <a:t>Genau ein Abrechnungszyklus. Wahrscheinlich kein unzufriedener Kunde, sondern einer, der mit seiner Klausur fertig war.</a:t>
            </a:r>
            <a:endParaRPr lang="en-US" sz="1200" dirty="0"/>
          </a:p>
        </p:txBody>
      </p:sp>
      <p:sp>
        <p:nvSpPr>
          <p:cNvPr id="15" name="Shape 12"/>
          <p:cNvSpPr/>
          <p:nvPr/>
        </p:nvSpPr>
        <p:spPr>
          <a:xfrm>
            <a:off x="6213348" y="1627632"/>
            <a:ext cx="2585466" cy="3246120"/>
          </a:xfrm>
          <a:prstGeom prst="roundRect">
            <a:avLst>
              <a:gd name="adj" fmla="val 3183"/>
            </a:avLst>
          </a:prstGeom>
          <a:solidFill>
            <a:srgbClr val="E3F2EC"/>
          </a:solidFill>
          <a:ln w="12700">
            <a:solidFill>
              <a:srgbClr val="E3F2EC"/>
            </a:solidFill>
            <a:prstDash val="solid"/>
          </a:ln>
        </p:spPr>
      </p:sp>
      <p:sp>
        <p:nvSpPr>
          <p:cNvPr id="16" name="Text 13"/>
          <p:cNvSpPr txBox="1"/>
          <p:nvPr/>
        </p:nvSpPr>
        <p:spPr>
          <a:xfrm>
            <a:off x="6469380" y="1810512"/>
            <a:ext cx="2073402" cy="384048"/>
          </a:xfrm>
          <a:prstGeom prst="rect">
            <a:avLst/>
          </a:prstGeom>
          <a:noFill/>
          <a:ln/>
        </p:spPr>
        <p:txBody>
          <a:bodyPr wrap="square" lIns="0" tIns="0" rIns="0" bIns="0" rtlCol="0" anchor="ctr"/>
          <a:lstStyle/>
          <a:p>
            <a:pPr indent="0" marL="0">
              <a:buNone/>
            </a:pPr>
            <a:r>
              <a:rPr lang="en-US" sz="1900" b="1" dirty="0">
                <a:solidFill>
                  <a:srgbClr val="141A2E"/>
                </a:solidFill>
                <a:latin typeface="Cambria" pitchFamily="34" charset="0"/>
                <a:ea typeface="Cambria" pitchFamily="34" charset="-122"/>
                <a:cs typeface="Cambria" pitchFamily="34" charset="-120"/>
              </a:rPr>
              <a:t>Abo C</a:t>
            </a:r>
            <a:endParaRPr lang="en-US" sz="1900" dirty="0"/>
          </a:p>
        </p:txBody>
      </p:sp>
      <p:sp>
        <p:nvSpPr>
          <p:cNvPr id="17" name="Text 14"/>
          <p:cNvSpPr txBox="1"/>
          <p:nvPr/>
        </p:nvSpPr>
        <p:spPr>
          <a:xfrm>
            <a:off x="6469380" y="2212848"/>
            <a:ext cx="2073402" cy="420624"/>
          </a:xfrm>
          <a:prstGeom prst="rect">
            <a:avLst/>
          </a:prstGeom>
          <a:noFill/>
          <a:ln/>
        </p:spPr>
        <p:txBody>
          <a:bodyPr wrap="square" lIns="0" tIns="0" rIns="0" bIns="0" rtlCol="0" anchor="ctr"/>
          <a:lstStyle/>
          <a:p>
            <a:pPr indent="0" marL="0">
              <a:buNone/>
            </a:pPr>
            <a:r>
              <a:rPr lang="en-US" sz="1700" b="1" dirty="0">
                <a:solidFill>
                  <a:srgbClr val="1B7F63"/>
                </a:solidFill>
                <a:latin typeface="Calibri" pitchFamily="34" charset="0"/>
                <a:ea typeface="Calibri" pitchFamily="34" charset="-122"/>
                <a:cs typeface="Calibri" pitchFamily="34" charset="-120"/>
              </a:rPr>
              <a:t>~2,3 Monate</a:t>
            </a:r>
            <a:endParaRPr lang="en-US" sz="1700" dirty="0"/>
          </a:p>
        </p:txBody>
      </p:sp>
      <p:sp>
        <p:nvSpPr>
          <p:cNvPr id="18" name="Text 15"/>
          <p:cNvSpPr txBox="1"/>
          <p:nvPr/>
        </p:nvSpPr>
        <p:spPr>
          <a:xfrm>
            <a:off x="6469380" y="2651760"/>
            <a:ext cx="2073402" cy="365760"/>
          </a:xfrm>
          <a:prstGeom prst="rect">
            <a:avLst/>
          </a:prstGeom>
          <a:noFill/>
          <a:ln/>
        </p:spPr>
        <p:txBody>
          <a:bodyPr wrap="square" lIns="0" tIns="0" rIns="0" bIns="0" rtlCol="0" anchor="t"/>
          <a:lstStyle/>
          <a:p>
            <a:pPr indent="0" marL="0">
              <a:buNone/>
            </a:pPr>
            <a:r>
              <a:rPr lang="en-US" sz="1150" dirty="0">
                <a:solidFill>
                  <a:srgbClr val="7C86A2"/>
                </a:solidFill>
                <a:latin typeface="Calibri" pitchFamily="34" charset="0"/>
                <a:ea typeface="Calibri" pitchFamily="34" charset="-122"/>
                <a:cs typeface="Calibri" pitchFamily="34" charset="-120"/>
              </a:rPr>
              <a:t>02.07. → läuft</a:t>
            </a:r>
            <a:endParaRPr lang="en-US" sz="1150" dirty="0"/>
          </a:p>
        </p:txBody>
      </p:sp>
      <p:sp>
        <p:nvSpPr>
          <p:cNvPr id="19" name="Text 16"/>
          <p:cNvSpPr txBox="1"/>
          <p:nvPr/>
        </p:nvSpPr>
        <p:spPr>
          <a:xfrm>
            <a:off x="6469380" y="3072384"/>
            <a:ext cx="2073402" cy="1572768"/>
          </a:xfrm>
          <a:prstGeom prst="rect">
            <a:avLst/>
          </a:prstGeom>
          <a:noFill/>
          <a:ln/>
        </p:spPr>
        <p:txBody>
          <a:bodyPr wrap="square" lIns="0" tIns="0" rIns="0" bIns="0" rtlCol="0" anchor="t"/>
          <a:lstStyle/>
          <a:p>
            <a:pPr indent="0" marL="0">
              <a:lnSpc>
                <a:spcPct val="108000"/>
              </a:lnSpc>
              <a:buNone/>
            </a:pPr>
            <a:r>
              <a:rPr lang="en-US" sz="1200" dirty="0">
                <a:solidFill>
                  <a:srgbClr val="4A5470"/>
                </a:solidFill>
                <a:latin typeface="Calibri" pitchFamily="34" charset="0"/>
                <a:ea typeface="Calibri" pitchFamily="34" charset="-122"/>
                <a:cs typeface="Calibri" pitchFamily="34" charset="-120"/>
              </a:rPr>
              <a:t>Gesund.</a:t>
            </a:r>
            <a:endParaRPr lang="en-US" sz="1200" dirty="0"/>
          </a:p>
        </p:txBody>
      </p:sp>
      <p:sp>
        <p:nvSpPr>
          <p:cNvPr id="20" name="Shape 17"/>
          <p:cNvSpPr/>
          <p:nvPr/>
        </p:nvSpPr>
        <p:spPr>
          <a:xfrm>
            <a:off x="9036558" y="1627632"/>
            <a:ext cx="2585466" cy="3246120"/>
          </a:xfrm>
          <a:prstGeom prst="roundRect">
            <a:avLst>
              <a:gd name="adj" fmla="val 3183"/>
            </a:avLst>
          </a:prstGeom>
          <a:solidFill>
            <a:srgbClr val="FBE7EF"/>
          </a:solidFill>
          <a:ln w="12700">
            <a:solidFill>
              <a:srgbClr val="FBE7EF"/>
            </a:solidFill>
            <a:prstDash val="solid"/>
          </a:ln>
        </p:spPr>
      </p:sp>
      <p:sp>
        <p:nvSpPr>
          <p:cNvPr id="21" name="Text 18"/>
          <p:cNvSpPr txBox="1"/>
          <p:nvPr/>
        </p:nvSpPr>
        <p:spPr>
          <a:xfrm>
            <a:off x="9292590" y="1810512"/>
            <a:ext cx="2073402" cy="384048"/>
          </a:xfrm>
          <a:prstGeom prst="rect">
            <a:avLst/>
          </a:prstGeom>
          <a:noFill/>
          <a:ln/>
        </p:spPr>
        <p:txBody>
          <a:bodyPr wrap="square" lIns="0" tIns="0" rIns="0" bIns="0" rtlCol="0" anchor="ctr"/>
          <a:lstStyle/>
          <a:p>
            <a:pPr indent="0" marL="0">
              <a:buNone/>
            </a:pPr>
            <a:r>
              <a:rPr lang="en-US" sz="1900" b="1" dirty="0">
                <a:solidFill>
                  <a:srgbClr val="141A2E"/>
                </a:solidFill>
                <a:latin typeface="Cambria" pitchFamily="34" charset="0"/>
                <a:ea typeface="Cambria" pitchFamily="34" charset="-122"/>
                <a:cs typeface="Cambria" pitchFamily="34" charset="-120"/>
              </a:rPr>
              <a:t>Abo D</a:t>
            </a:r>
            <a:endParaRPr lang="en-US" sz="1900" dirty="0"/>
          </a:p>
        </p:txBody>
      </p:sp>
      <p:sp>
        <p:nvSpPr>
          <p:cNvPr id="22" name="Text 19"/>
          <p:cNvSpPr txBox="1"/>
          <p:nvPr/>
        </p:nvSpPr>
        <p:spPr>
          <a:xfrm>
            <a:off x="9292590" y="2212848"/>
            <a:ext cx="2073402" cy="420624"/>
          </a:xfrm>
          <a:prstGeom prst="rect">
            <a:avLst/>
          </a:prstGeom>
          <a:noFill/>
          <a:ln/>
        </p:spPr>
        <p:txBody>
          <a:bodyPr wrap="square" lIns="0" tIns="0" rIns="0" bIns="0" rtlCol="0" anchor="ctr"/>
          <a:lstStyle/>
          <a:p>
            <a:pPr indent="0" marL="0">
              <a:buNone/>
            </a:pPr>
            <a:r>
              <a:rPr lang="en-US" sz="1700" b="1" dirty="0">
                <a:solidFill>
                  <a:srgbClr val="D93B72"/>
                </a:solidFill>
                <a:latin typeface="Calibri" pitchFamily="34" charset="0"/>
                <a:ea typeface="Calibri" pitchFamily="34" charset="-122"/>
                <a:cs typeface="Calibri" pitchFamily="34" charset="-120"/>
              </a:rPr>
              <a:t>1 Tag</a:t>
            </a:r>
            <a:endParaRPr lang="en-US" sz="1700" dirty="0"/>
          </a:p>
        </p:txBody>
      </p:sp>
      <p:sp>
        <p:nvSpPr>
          <p:cNvPr id="23" name="Text 20"/>
          <p:cNvSpPr txBox="1"/>
          <p:nvPr/>
        </p:nvSpPr>
        <p:spPr>
          <a:xfrm>
            <a:off x="9292590" y="2651760"/>
            <a:ext cx="2073402" cy="365760"/>
          </a:xfrm>
          <a:prstGeom prst="rect">
            <a:avLst/>
          </a:prstGeom>
          <a:noFill/>
          <a:ln/>
        </p:spPr>
        <p:txBody>
          <a:bodyPr wrap="square" lIns="0" tIns="0" rIns="0" bIns="0" rtlCol="0" anchor="t"/>
          <a:lstStyle/>
          <a:p>
            <a:pPr indent="0" marL="0">
              <a:buNone/>
            </a:pPr>
            <a:r>
              <a:rPr lang="en-US" sz="1150" dirty="0">
                <a:solidFill>
                  <a:srgbClr val="7C86A2"/>
                </a:solidFill>
                <a:latin typeface="Calibri" pitchFamily="34" charset="0"/>
                <a:ea typeface="Calibri" pitchFamily="34" charset="-122"/>
                <a:cs typeface="Calibri" pitchFamily="34" charset="-120"/>
              </a:rPr>
              <a:t>03.08. → 04.08.</a:t>
            </a:r>
            <a:endParaRPr lang="en-US" sz="1150" dirty="0"/>
          </a:p>
        </p:txBody>
      </p:sp>
      <p:sp>
        <p:nvSpPr>
          <p:cNvPr id="24" name="Text 21"/>
          <p:cNvSpPr txBox="1"/>
          <p:nvPr/>
        </p:nvSpPr>
        <p:spPr>
          <a:xfrm>
            <a:off x="9292590" y="3072384"/>
            <a:ext cx="2073402" cy="1572768"/>
          </a:xfrm>
          <a:prstGeom prst="rect">
            <a:avLst/>
          </a:prstGeom>
          <a:noFill/>
          <a:ln/>
        </p:spPr>
        <p:txBody>
          <a:bodyPr wrap="square" lIns="0" tIns="0" rIns="0" bIns="0" rtlCol="0" anchor="t"/>
          <a:lstStyle/>
          <a:p>
            <a:pPr indent="0" marL="0">
              <a:lnSpc>
                <a:spcPct val="108000"/>
              </a:lnSpc>
              <a:buNone/>
            </a:pPr>
            <a:r>
              <a:rPr lang="en-US" sz="1200" dirty="0">
                <a:solidFill>
                  <a:srgbClr val="4A5470"/>
                </a:solidFill>
                <a:latin typeface="Calibri" pitchFamily="34" charset="0"/>
                <a:ea typeface="Calibri" pitchFamily="34" charset="-122"/>
                <a:cs typeface="Calibri" pitchFamily="34" charset="-120"/>
              </a:rPr>
              <a:t>Fast sicher eine Rückerstattung oder Sofortkündigung in der Refund-Frist.</a:t>
            </a:r>
            <a:endParaRPr lang="en-US" sz="1200" dirty="0"/>
          </a:p>
        </p:txBody>
      </p:sp>
      <p:sp>
        <p:nvSpPr>
          <p:cNvPr id="25" name="Shape 22"/>
          <p:cNvSpPr/>
          <p:nvPr/>
        </p:nvSpPr>
        <p:spPr>
          <a:xfrm>
            <a:off x="566928" y="5084064"/>
            <a:ext cx="11055096" cy="1005840"/>
          </a:xfrm>
          <a:prstGeom prst="roundRect">
            <a:avLst>
              <a:gd name="adj" fmla="val 8182"/>
            </a:avLst>
          </a:prstGeom>
          <a:solidFill>
            <a:srgbClr val="141A2E"/>
          </a:solidFill>
          <a:ln w="12700">
            <a:solidFill>
              <a:srgbClr val="141A2E"/>
            </a:solidFill>
            <a:prstDash val="solid"/>
          </a:ln>
        </p:spPr>
      </p:sp>
      <p:sp>
        <p:nvSpPr>
          <p:cNvPr id="26" name="Text 23"/>
          <p:cNvSpPr txBox="1"/>
          <p:nvPr/>
        </p:nvSpPr>
        <p:spPr>
          <a:xfrm>
            <a:off x="896112" y="5175504"/>
            <a:ext cx="10396728" cy="292608"/>
          </a:xfrm>
          <a:prstGeom prst="rect">
            <a:avLst/>
          </a:prstGeom>
          <a:noFill/>
          <a:ln/>
        </p:spPr>
        <p:txBody>
          <a:bodyPr wrap="square" lIns="0" tIns="0" rIns="0" bIns="0" rtlCol="0" anchor="ctr"/>
          <a:lstStyle/>
          <a:p>
            <a:pPr indent="0" marL="0">
              <a:buNone/>
            </a:pPr>
            <a:r>
              <a:rPr lang="en-US" sz="1150" b="1" dirty="0">
                <a:solidFill>
                  <a:srgbClr val="8E9ABA"/>
                </a:solidFill>
                <a:latin typeface="Calibri" pitchFamily="34" charset="0"/>
                <a:ea typeface="Calibri" pitchFamily="34" charset="-122"/>
                <a:cs typeface="Calibri" pitchFamily="34" charset="-120"/>
              </a:rPr>
              <a:t>Die Kernaussage dieser Folie</a:t>
            </a:r>
            <a:endParaRPr lang="en-US" sz="1150" dirty="0"/>
          </a:p>
        </p:txBody>
      </p:sp>
      <p:sp>
        <p:nvSpPr>
          <p:cNvPr id="27" name="Text 24"/>
          <p:cNvSpPr txBox="1"/>
          <p:nvPr/>
        </p:nvSpPr>
        <p:spPr>
          <a:xfrm>
            <a:off x="896112" y="5449824"/>
            <a:ext cx="10396728" cy="566928"/>
          </a:xfrm>
          <a:prstGeom prst="rect">
            <a:avLst/>
          </a:prstGeom>
          <a:noFill/>
          <a:ln/>
        </p:spPr>
        <p:txBody>
          <a:bodyPr wrap="square" lIns="0" tIns="0" rIns="0" bIns="0" rtlCol="0" anchor="t"/>
          <a:lstStyle/>
          <a:p>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Bei 3 Zahlern hat jede Prozentzahl riesige Fehlerbalken — ein Kunde mehr macht aus 7,3 % sofort 9,8 %. Wir sind nicht in der Phase, in der Conversion-Optimierung messbar ist. Wir sind in der Phase, in der Struktur entschieden wird.</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141A2E"/>
                </a:solidFill>
                <a:latin typeface="Cambria" pitchFamily="34" charset="0"/>
                <a:ea typeface="Cambria" pitchFamily="34" charset="-122"/>
                <a:cs typeface="Cambria" pitchFamily="34" charset="-120"/>
              </a:rPr>
              <a:t>Octa gegen die Benchmarks</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4A5470"/>
                </a:solidFill>
                <a:latin typeface="Calibri" pitchFamily="34" charset="0"/>
                <a:ea typeface="Calibri" pitchFamily="34" charset="-122"/>
                <a:cs typeface="Calibri" pitchFamily="34" charset="-120"/>
              </a:rPr>
              <a:t>RevenueCat "State of Subscription Apps" · Sign-up→Trial für unsere Kategorie: Median 14–19 %, Top 10 % 25–32 %</a:t>
            </a:r>
            <a:endParaRPr lang="en-US" sz="14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5096" cy="914400"/>
        </p:xfrm>
        <a:graphic>
          <a:graphicData uri="http://schemas.openxmlformats.org/drawingml/2006/table">
            <a:tbl>
              <a:tblPr/>
              <a:tblGrid>
                <a:gridCol w="3657600"/>
                <a:gridCol w="2286000"/>
                <a:gridCol w="2103120"/>
                <a:gridCol w="3008376"/>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Kennzahl</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141A2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Benchmark</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141A2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Octa</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141A2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Bewertung</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141A2E"/>
                    </a:solidFill>
                  </a:tcPr>
                </a:tc>
              </a:tr>
              <a:tr h="365760">
                <a:tc>
                  <a:txBody>
                    <a:bodyPr/>
                    <a:lstStyle/>
                    <a:p>
                      <a:pPr indent="0" marL="0">
                        <a:buNone/>
                      </a:pPr>
                      <a:r>
                        <a:rPr lang="en-US" sz="1300" b="1" dirty="0">
                          <a:solidFill>
                            <a:srgbClr val="141A2E"/>
                          </a:solidFill>
                          <a:latin typeface="Calibri" pitchFamily="34" charset="0"/>
                          <a:ea typeface="Calibri" pitchFamily="34" charset="-122"/>
                          <a:cs typeface="Calibri" pitchFamily="34" charset="-120"/>
                        </a:rPr>
                        <a:t>Download → Trial</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300" dirty="0">
                          <a:solidFill>
                            <a:srgbClr val="4A5470"/>
                          </a:solidFill>
                          <a:latin typeface="Calibri" pitchFamily="34" charset="0"/>
                          <a:ea typeface="Calibri" pitchFamily="34" charset="-122"/>
                          <a:cs typeface="Calibri" pitchFamily="34" charset="-120"/>
                        </a:rPr>
                        <a:t>6,5 %</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400" b="1" dirty="0">
                          <a:solidFill>
                            <a:srgbClr val="1B7F63"/>
                          </a:solidFill>
                          <a:latin typeface="Calibri" pitchFamily="34" charset="0"/>
                          <a:ea typeface="Calibri" pitchFamily="34" charset="-122"/>
                          <a:cs typeface="Calibri" pitchFamily="34" charset="-120"/>
                        </a:rPr>
                        <a:t>6,7 %</a:t>
                      </a:r>
                      <a:endParaRPr lang="en-US" sz="14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250" dirty="0">
                          <a:solidFill>
                            <a:srgbClr val="1B7F63"/>
                          </a:solidFill>
                          <a:latin typeface="Calibri" pitchFamily="34" charset="0"/>
                          <a:ea typeface="Calibri" pitchFamily="34" charset="-122"/>
                          <a:cs typeface="Calibri" pitchFamily="34" charset="-120"/>
                        </a:rPr>
                        <a:t>auf Niveau</a:t>
                      </a:r>
                      <a:endParaRPr lang="en-US" sz="125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41A2E"/>
                          </a:solidFill>
                          <a:latin typeface="Calibri" pitchFamily="34" charset="0"/>
                          <a:ea typeface="Calibri" pitchFamily="34" charset="-122"/>
                          <a:cs typeface="Calibri" pitchFamily="34" charset="-120"/>
                        </a:rPr>
                        <a:t>Sign-up → Trial</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300" dirty="0">
                          <a:solidFill>
                            <a:srgbClr val="4A5470"/>
                          </a:solidFill>
                          <a:latin typeface="Calibri" pitchFamily="34" charset="0"/>
                          <a:ea typeface="Calibri" pitchFamily="34" charset="-122"/>
                          <a:cs typeface="Calibri" pitchFamily="34" charset="-120"/>
                        </a:rPr>
                        <a:t>14–19 %</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400" b="1" dirty="0">
                          <a:solidFill>
                            <a:srgbClr val="B0761A"/>
                          </a:solidFill>
                          <a:latin typeface="Calibri" pitchFamily="34" charset="0"/>
                          <a:ea typeface="Calibri" pitchFamily="34" charset="-122"/>
                          <a:cs typeface="Calibri" pitchFamily="34" charset="-120"/>
                        </a:rPr>
                        <a:t>6,4 %</a:t>
                      </a:r>
                      <a:endParaRPr lang="en-US" sz="14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250" dirty="0">
                          <a:solidFill>
                            <a:srgbClr val="B0761A"/>
                          </a:solidFill>
                          <a:latin typeface="Calibri" pitchFamily="34" charset="0"/>
                          <a:ea typeface="Calibri" pitchFamily="34" charset="-122"/>
                          <a:cs typeface="Calibri" pitchFamily="34" charset="-120"/>
                        </a:rPr>
                        <a:t>Kohorte nicht vergleichbar — siehe unten</a:t>
                      </a:r>
                      <a:endParaRPr lang="en-US" sz="125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r>
              <a:tr h="365760">
                <a:tc>
                  <a:txBody>
                    <a:bodyPr/>
                    <a:lstStyle/>
                    <a:p>
                      <a:pPr indent="0" marL="0">
                        <a:buNone/>
                      </a:pPr>
                      <a:r>
                        <a:rPr lang="en-US" sz="1300" b="1" dirty="0">
                          <a:solidFill>
                            <a:srgbClr val="141A2E"/>
                          </a:solidFill>
                          <a:latin typeface="Calibri" pitchFamily="34" charset="0"/>
                          <a:ea typeface="Calibri" pitchFamily="34" charset="-122"/>
                          <a:cs typeface="Calibri" pitchFamily="34" charset="-120"/>
                        </a:rPr>
                        <a:t>Paywall-View → Trial</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300" dirty="0">
                          <a:solidFill>
                            <a:srgbClr val="4A5470"/>
                          </a:solidFill>
                          <a:latin typeface="Calibri" pitchFamily="34" charset="0"/>
                          <a:ea typeface="Calibri" pitchFamily="34" charset="-122"/>
                          <a:cs typeface="Calibri" pitchFamily="34" charset="-120"/>
                        </a:rPr>
                        <a:t>14–19 %</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400" b="1" dirty="0">
                          <a:solidFill>
                            <a:srgbClr val="1B7F63"/>
                          </a:solidFill>
                          <a:latin typeface="Calibri" pitchFamily="34" charset="0"/>
                          <a:ea typeface="Calibri" pitchFamily="34" charset="-122"/>
                          <a:cs typeface="Calibri" pitchFamily="34" charset="-120"/>
                        </a:rPr>
                        <a:t>14,2 %</a:t>
                      </a:r>
                      <a:endParaRPr lang="en-US" sz="14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250" dirty="0">
                          <a:solidFill>
                            <a:srgbClr val="1B7F63"/>
                          </a:solidFill>
                          <a:latin typeface="Calibri" pitchFamily="34" charset="0"/>
                          <a:ea typeface="Calibri" pitchFamily="34" charset="-122"/>
                          <a:cs typeface="Calibri" pitchFamily="34" charset="-120"/>
                        </a:rPr>
                        <a:t>im Korridor, am unteren Rand</a:t>
                      </a:r>
                      <a:endParaRPr lang="en-US" sz="125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41A2E"/>
                          </a:solidFill>
                          <a:latin typeface="Calibri" pitchFamily="34" charset="0"/>
                          <a:ea typeface="Calibri" pitchFamily="34" charset="-122"/>
                          <a:cs typeface="Calibri" pitchFamily="34" charset="-120"/>
                        </a:rPr>
                        <a:t>Trial → zahlend</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300" dirty="0">
                          <a:solidFill>
                            <a:srgbClr val="4A5470"/>
                          </a:solidFill>
                          <a:latin typeface="Calibri" pitchFamily="34" charset="0"/>
                          <a:ea typeface="Calibri" pitchFamily="34" charset="-122"/>
                          <a:cs typeface="Calibri" pitchFamily="34" charset="-120"/>
                        </a:rPr>
                        <a:t>30,1 %</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400" b="1" dirty="0">
                          <a:solidFill>
                            <a:srgbClr val="D93B72"/>
                          </a:solidFill>
                          <a:latin typeface="Calibri" pitchFamily="34" charset="0"/>
                          <a:ea typeface="Calibri" pitchFamily="34" charset="-122"/>
                          <a:cs typeface="Calibri" pitchFamily="34" charset="-120"/>
                        </a:rPr>
                        <a:t>7,3 %</a:t>
                      </a:r>
                      <a:endParaRPr lang="en-US" sz="14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250" dirty="0">
                          <a:solidFill>
                            <a:srgbClr val="D93B72"/>
                          </a:solidFill>
                          <a:latin typeface="Calibri" pitchFamily="34" charset="0"/>
                          <a:ea typeface="Calibri" pitchFamily="34" charset="-122"/>
                          <a:cs typeface="Calibri" pitchFamily="34" charset="-120"/>
                        </a:rPr>
                        <a:t>Faktor 4,1 darunter</a:t>
                      </a:r>
                      <a:endParaRPr lang="en-US" sz="125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r>
              <a:tr h="365760">
                <a:tc>
                  <a:txBody>
                    <a:bodyPr/>
                    <a:lstStyle/>
                    <a:p>
                      <a:pPr indent="0" marL="0">
                        <a:buNone/>
                      </a:pPr>
                      <a:r>
                        <a:rPr lang="en-US" sz="1300" b="1" dirty="0">
                          <a:solidFill>
                            <a:srgbClr val="141A2E"/>
                          </a:solidFill>
                          <a:latin typeface="Calibri" pitchFamily="34" charset="0"/>
                          <a:ea typeface="Calibri" pitchFamily="34" charset="-122"/>
                          <a:cs typeface="Calibri" pitchFamily="34" charset="-120"/>
                        </a:rPr>
                        <a:t>Download → zahlend</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300" dirty="0">
                          <a:solidFill>
                            <a:srgbClr val="4A5470"/>
                          </a:solidFill>
                          <a:latin typeface="Calibri" pitchFamily="34" charset="0"/>
                          <a:ea typeface="Calibri" pitchFamily="34" charset="-122"/>
                          <a:cs typeface="Calibri" pitchFamily="34" charset="-120"/>
                        </a:rPr>
                        <a:t>2,3 %</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400" b="1" dirty="0">
                          <a:solidFill>
                            <a:srgbClr val="D93B72"/>
                          </a:solidFill>
                          <a:latin typeface="Calibri" pitchFamily="34" charset="0"/>
                          <a:ea typeface="Calibri" pitchFamily="34" charset="-122"/>
                          <a:cs typeface="Calibri" pitchFamily="34" charset="-120"/>
                        </a:rPr>
                        <a:t>0,49 %</a:t>
                      </a:r>
                      <a:endParaRPr lang="en-US" sz="14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250" dirty="0">
                          <a:solidFill>
                            <a:srgbClr val="D93B72"/>
                          </a:solidFill>
                          <a:latin typeface="Calibri" pitchFamily="34" charset="0"/>
                          <a:ea typeface="Calibri" pitchFamily="34" charset="-122"/>
                          <a:cs typeface="Calibri" pitchFamily="34" charset="-120"/>
                        </a:rPr>
                        <a:t>Faktor 4,7 darunter</a:t>
                      </a:r>
                      <a:endParaRPr lang="en-US" sz="125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41A2E"/>
                          </a:solidFill>
                          <a:latin typeface="Calibri" pitchFamily="34" charset="0"/>
                          <a:ea typeface="Calibri" pitchFamily="34" charset="-122"/>
                          <a:cs typeface="Calibri" pitchFamily="34" charset="-120"/>
                        </a:rPr>
                        <a:t>Umsatz je Install (D60)</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300" dirty="0">
                          <a:solidFill>
                            <a:srgbClr val="4A5470"/>
                          </a:solidFill>
                          <a:latin typeface="Calibri" pitchFamily="34" charset="0"/>
                          <a:ea typeface="Calibri" pitchFamily="34" charset="-122"/>
                          <a:cs typeface="Calibri" pitchFamily="34" charset="-120"/>
                        </a:rPr>
                        <a:t>0,50 $</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400" b="1" dirty="0">
                          <a:solidFill>
                            <a:srgbClr val="D93B72"/>
                          </a:solidFill>
                          <a:latin typeface="Calibri" pitchFamily="34" charset="0"/>
                          <a:ea typeface="Calibri" pitchFamily="34" charset="-122"/>
                          <a:cs typeface="Calibri" pitchFamily="34" charset="-120"/>
                        </a:rPr>
                        <a:t>0,09 $</a:t>
                      </a:r>
                      <a:endParaRPr lang="en-US" sz="14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250" dirty="0">
                          <a:solidFill>
                            <a:srgbClr val="D93B72"/>
                          </a:solidFill>
                          <a:latin typeface="Calibri" pitchFamily="34" charset="0"/>
                          <a:ea typeface="Calibri" pitchFamily="34" charset="-122"/>
                          <a:cs typeface="Calibri" pitchFamily="34" charset="-120"/>
                        </a:rPr>
                        <a:t>Faktor 5,5 darunter</a:t>
                      </a:r>
                      <a:endParaRPr lang="en-US" sz="125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r>
              <a:tr h="365760">
                <a:tc>
                  <a:txBody>
                    <a:bodyPr/>
                    <a:lstStyle/>
                    <a:p>
                      <a:pPr indent="0" marL="0">
                        <a:buNone/>
                      </a:pPr>
                      <a:r>
                        <a:rPr lang="en-US" sz="1300" b="1" dirty="0">
                          <a:solidFill>
                            <a:srgbClr val="141A2E"/>
                          </a:solidFill>
                          <a:latin typeface="Calibri" pitchFamily="34" charset="0"/>
                          <a:ea typeface="Calibri" pitchFamily="34" charset="-122"/>
                          <a:cs typeface="Calibri" pitchFamily="34" charset="-120"/>
                        </a:rPr>
                        <a:t>Preis monatlich</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300" dirty="0">
                          <a:solidFill>
                            <a:srgbClr val="4A5470"/>
                          </a:solidFill>
                          <a:latin typeface="Calibri" pitchFamily="34" charset="0"/>
                          <a:ea typeface="Calibri" pitchFamily="34" charset="-122"/>
                          <a:cs typeface="Calibri" pitchFamily="34" charset="-120"/>
                        </a:rPr>
                        <a:t>9,99 $</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400" b="1" dirty="0">
                          <a:solidFill>
                            <a:srgbClr val="B0761A"/>
                          </a:solidFill>
                          <a:latin typeface="Calibri" pitchFamily="34" charset="0"/>
                          <a:ea typeface="Calibri" pitchFamily="34" charset="-122"/>
                          <a:cs typeface="Calibri" pitchFamily="34" charset="-120"/>
                        </a:rPr>
                        <a:t>17,00 €</a:t>
                      </a:r>
                      <a:endParaRPr lang="en-US" sz="14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250" dirty="0">
                          <a:solidFill>
                            <a:srgbClr val="B0761A"/>
                          </a:solidFill>
                          <a:latin typeface="Calibri" pitchFamily="34" charset="0"/>
                          <a:ea typeface="Calibri" pitchFamily="34" charset="-122"/>
                          <a:cs typeface="Calibri" pitchFamily="34" charset="-120"/>
                        </a:rPr>
                        <a:t>rund doppelt so teuer</a:t>
                      </a:r>
                      <a:endParaRPr lang="en-US" sz="125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41A2E"/>
                          </a:solidFill>
                          <a:latin typeface="Calibri" pitchFamily="34" charset="0"/>
                          <a:ea typeface="Calibri" pitchFamily="34" charset="-122"/>
                          <a:cs typeface="Calibri" pitchFamily="34" charset="-120"/>
                        </a:rPr>
                        <a:t>Preis jährlich</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300" dirty="0">
                          <a:solidFill>
                            <a:srgbClr val="4A5470"/>
                          </a:solidFill>
                          <a:latin typeface="Calibri" pitchFamily="34" charset="0"/>
                          <a:ea typeface="Calibri" pitchFamily="34" charset="-122"/>
                          <a:cs typeface="Calibri" pitchFamily="34" charset="-120"/>
                        </a:rPr>
                        <a:t>44,99 $</a:t>
                      </a:r>
                      <a:endParaRPr lang="en-US" sz="13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400" b="1" dirty="0">
                          <a:solidFill>
                            <a:srgbClr val="B0761A"/>
                          </a:solidFill>
                          <a:latin typeface="Calibri" pitchFamily="34" charset="0"/>
                          <a:ea typeface="Calibri" pitchFamily="34" charset="-122"/>
                          <a:cs typeface="Calibri" pitchFamily="34" charset="-120"/>
                        </a:rPr>
                        <a:t>89,99 €</a:t>
                      </a:r>
                      <a:endParaRPr lang="en-US" sz="140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250" dirty="0">
                          <a:solidFill>
                            <a:srgbClr val="B0761A"/>
                          </a:solidFill>
                          <a:latin typeface="Calibri" pitchFamily="34" charset="0"/>
                          <a:ea typeface="Calibri" pitchFamily="34" charset="-122"/>
                          <a:cs typeface="Calibri" pitchFamily="34" charset="-120"/>
                        </a:rPr>
                        <a:t>rund doppelt so teuer</a:t>
                      </a:r>
                      <a:endParaRPr lang="en-US" sz="1250" dirty="0">
                        <a:latin typeface="Calibri" charset="0"/>
                        <a:ea typeface="Calibri" charset="0"/>
                        <a:cs typeface="Calibri" charset="0"/>
                      </a:endParaRPr>
                    </a:p>
                  </a:txBody>
                  <a:tcPr marL="128016" marR="128016" marT="27432" marB="27432"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r>
            </a:tbl>
          </a:graphicData>
        </a:graphic>
      </p:graphicFrame>
      <p:sp>
        <p:nvSpPr>
          <p:cNvPr id="6" name="Shape 2"/>
          <p:cNvSpPr/>
          <p:nvPr/>
        </p:nvSpPr>
        <p:spPr>
          <a:xfrm>
            <a:off x="566928" y="4974336"/>
            <a:ext cx="11055096" cy="1207008"/>
          </a:xfrm>
          <a:prstGeom prst="roundRect">
            <a:avLst>
              <a:gd name="adj" fmla="val 6818"/>
            </a:avLst>
          </a:prstGeom>
          <a:solidFill>
            <a:srgbClr val="F1F3F8"/>
          </a:solidFill>
          <a:ln w="12700">
            <a:solidFill>
              <a:srgbClr val="F1F3F8"/>
            </a:solidFill>
            <a:prstDash val="solid"/>
          </a:ln>
        </p:spPr>
      </p:sp>
      <p:sp>
        <p:nvSpPr>
          <p:cNvPr id="7" name="Text 3"/>
          <p:cNvSpPr txBox="1"/>
          <p:nvPr/>
        </p:nvSpPr>
        <p:spPr>
          <a:xfrm>
            <a:off x="896112" y="4974336"/>
            <a:ext cx="10396728" cy="1207008"/>
          </a:xfrm>
          <a:prstGeom prst="rect">
            <a:avLst/>
          </a:prstGeom>
          <a:noFill/>
          <a:ln/>
        </p:spPr>
        <p:txBody>
          <a:bodyPr wrap="square" lIns="0" tIns="0" rIns="0" bIns="0" rtlCol="0" anchor="ctr"/>
          <a:lstStyle/>
          <a:p>
            <a:pPr indent="0" marL="0">
              <a:lnSpc>
                <a:spcPct val="105000"/>
              </a:lnSpc>
              <a:buNone/>
            </a:pPr>
            <a:r>
              <a:rPr lang="en-US" sz="1100" b="1" dirty="0">
                <a:solidFill>
                  <a:srgbClr val="141A2E"/>
                </a:solidFill>
                <a:latin typeface="Calibri" pitchFamily="34" charset="0"/>
                <a:ea typeface="Calibri" pitchFamily="34" charset="-122"/>
                <a:cs typeface="Calibri" pitchFamily="34" charset="-120"/>
              </a:rPr>
              <a:t>Warum 6,4 % nicht mit 14–19 % vergleichbar sind: </a:t>
            </a:r>
            <a:pPr indent="0" marL="0">
              <a:lnSpc>
                <a:spcPct val="105000"/>
              </a:lnSpc>
              <a:buNone/>
            </a:pPr>
            <a:r>
              <a:rPr lang="en-US" sz="1100" dirty="0">
                <a:solidFill>
                  <a:srgbClr val="4A5470"/>
                </a:solidFill>
                <a:latin typeface="Calibri" pitchFamily="34" charset="0"/>
                <a:ea typeface="Calibri" pitchFamily="34" charset="-122"/>
                <a:cs typeface="Calibri" pitchFamily="34" charset="-120"/>
              </a:rPr>
              <a:t>Damit 6,5 % Download→Trial und 14–19 % Sign-up→Trial gleichzeitig stimmen können, dürfen in der Benchmark nur 34–46 % der Downloader einen Account anlegen — dort filtert die Registrierung die Unentschlossenen heraus. Bei uns legen 104 % einen an, weil wir alle dazu zwingen. Die vergleichbare Gruppe sind bei uns deshalb nicht die 638 Accounts, sondern die 289, die bis zur Paywall kommen: 47 % der Downloads, also genau die Größenordnung der Benchmark-Kohorte. Und die konvertiert mit 14,2 % — am unteren Rand des Korridors, nicht um Faktor 3 darunter.
</a:t>
            </a:r>
            <a:pPr indent="0" marL="0">
              <a:lnSpc>
                <a:spcPct val="105000"/>
              </a:lnSpc>
              <a:buNone/>
            </a:pPr>
            <a:r>
              <a:rPr lang="en-US" sz="1100" b="1" dirty="0">
                <a:solidFill>
                  <a:srgbClr val="D93B72"/>
                </a:solidFill>
                <a:latin typeface="Calibri" pitchFamily="34" charset="0"/>
                <a:ea typeface="Calibri" pitchFamily="34" charset="-122"/>
                <a:cs typeface="Calibri" pitchFamily="34" charset="-120"/>
              </a:rPr>
              <a:t>Luft bleibt trotzdem: </a:t>
            </a:r>
            <a:pPr indent="0" marL="0">
              <a:lnSpc>
                <a:spcPct val="105000"/>
              </a:lnSpc>
              <a:buNone/>
            </a:pPr>
            <a:r>
              <a:rPr lang="en-US" sz="1100" dirty="0">
                <a:solidFill>
                  <a:srgbClr val="141A2E"/>
                </a:solidFill>
                <a:latin typeface="Calibri" pitchFamily="34" charset="0"/>
                <a:ea typeface="Calibri" pitchFamily="34" charset="-122"/>
                <a:cs typeface="Calibri" pitchFamily="34" charset="-120"/>
              </a:rPr>
              <a:t>bei 19 % wären es 55 Trials statt 41, auf Top-10-%-Niveau 72 bis 92.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141A2E"/>
                </a:solidFill>
                <a:latin typeface="Cambria" pitchFamily="34" charset="0"/>
                <a:ea typeface="Cambria" pitchFamily="34" charset="-122"/>
                <a:cs typeface="Cambria" pitchFamily="34" charset="-120"/>
              </a:rPr>
              <a:t>Hier bricht es</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4A5470"/>
                </a:solidFill>
                <a:latin typeface="Calibri" pitchFamily="34" charset="0"/>
                <a:ea typeface="Calibri" pitchFamily="34" charset="-122"/>
                <a:cs typeface="Calibri" pitchFamily="34" charset="-120"/>
              </a:rPr>
              <a:t>Trial → zahlend im Vergleich</a:t>
            </a:r>
            <a:endParaRPr lang="en-US" sz="1450" dirty="0"/>
          </a:p>
        </p:txBody>
      </p:sp>
      <p:graphicFrame>
        <p:nvGraphicFramePr>
          <p:cNvPr id="5" name="Chart 0" descr=""/>
          <p:cNvGraphicFramePr/>
          <p:nvPr/>
        </p:nvGraphicFramePr>
        <p:xfrm>
          <a:off x="566928" y="1645920"/>
          <a:ext cx="7040880" cy="370332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973568" y="1645920"/>
            <a:ext cx="3648456" cy="3703320"/>
          </a:xfrm>
          <a:prstGeom prst="roundRect">
            <a:avLst>
              <a:gd name="adj" fmla="val 2256"/>
            </a:avLst>
          </a:prstGeom>
          <a:solidFill>
            <a:srgbClr val="141A2E"/>
          </a:solidFill>
          <a:ln w="12700">
            <a:solidFill>
              <a:srgbClr val="141A2E"/>
            </a:solidFill>
            <a:prstDash val="solid"/>
          </a:ln>
        </p:spPr>
      </p:sp>
      <p:sp>
        <p:nvSpPr>
          <p:cNvPr id="7" name="Text 3"/>
          <p:cNvSpPr txBox="1"/>
          <p:nvPr/>
        </p:nvSpPr>
        <p:spPr>
          <a:xfrm>
            <a:off x="8266176" y="1847088"/>
            <a:ext cx="3063240" cy="402336"/>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Zwei Erklärungen</a:t>
            </a:r>
            <a:endParaRPr lang="en-US" sz="1900" dirty="0"/>
          </a:p>
        </p:txBody>
      </p:sp>
      <p:sp>
        <p:nvSpPr>
          <p:cNvPr id="8" name="Text 4"/>
          <p:cNvSpPr txBox="1"/>
          <p:nvPr/>
        </p:nvSpPr>
        <p:spPr>
          <a:xfrm>
            <a:off x="8266176" y="2322576"/>
            <a:ext cx="3063240" cy="2880360"/>
          </a:xfrm>
          <a:prstGeom prst="rect">
            <a:avLst/>
          </a:prstGeom>
          <a:noFill/>
          <a:ln/>
        </p:spPr>
        <p:txBody>
          <a:bodyPr wrap="square" lIns="0" tIns="0" rIns="0" bIns="0" rtlCol="0" anchor="t"/>
          <a:lstStyle/>
          <a:p>
            <a:pPr indent="0" marL="0">
              <a:lnSpc>
                <a:spcPct val="106000"/>
              </a:lnSpc>
              <a:buNone/>
            </a:pPr>
            <a:r>
              <a:rPr lang="en-US" sz="1200" dirty="0">
                <a:solidFill>
                  <a:srgbClr val="B6BFD6"/>
                </a:solidFill>
                <a:latin typeface="Calibri" pitchFamily="34" charset="0"/>
                <a:ea typeface="Calibri" pitchFamily="34" charset="-122"/>
                <a:cs typeface="Calibri" pitchFamily="34" charset="-120"/>
              </a:rPr>
              <a:t>Wer einen Trial startet, hat Apple die Abbuchung bereits erlaubt. Wer nichts tut, zahlt. Rund 38 von 41 sind trotzdem aktiv in die Einstellungen gegangen und haben gekündigt.</a:t>
            </a:r>
            <a:endParaRPr lang="en-US" sz="1200" dirty="0"/>
          </a:p>
          <a:p>
            <a:pPr indent="0" marL="0">
              <a:lnSpc>
                <a:spcPct val="106000"/>
              </a:lnSpc>
              <a:buNone/>
            </a:pPr>
            <a:endParaRPr lang="en-US" sz="1200" dirty="0"/>
          </a:p>
          <a:p>
            <a:pPr indent="0" marL="0">
              <a:lnSpc>
                <a:spcPct val="106000"/>
              </a:lnSpc>
              <a:buNone/>
            </a:pPr>
            <a:r>
              <a:rPr lang="en-US" sz="1200" dirty="0">
                <a:solidFill>
                  <a:srgbClr val="B6BFD6"/>
                </a:solidFill>
                <a:latin typeface="Calibri" pitchFamily="34" charset="0"/>
                <a:ea typeface="Calibri" pitchFamily="34" charset="-122"/>
                <a:cs typeface="Calibri" pitchFamily="34" charset="-120"/>
              </a:rPr>
              <a:t>1 — 3 Tage reichen nicht. Unser Versprechen ist „du kannst es hinterher wirklich". Dieser Beweis entsteht frühestens, wenn die App nach Tagen etwas wieder abfragt.</a:t>
            </a:r>
            <a:endParaRPr lang="en-US" sz="1200" dirty="0"/>
          </a:p>
          <a:p>
            <a:pPr indent="0" marL="0">
              <a:lnSpc>
                <a:spcPct val="106000"/>
              </a:lnSpc>
              <a:buNone/>
            </a:pPr>
            <a:endParaRPr lang="en-US" sz="1200" dirty="0"/>
          </a:p>
          <a:p>
            <a:pPr indent="0" marL="0">
              <a:lnSpc>
                <a:spcPct val="106000"/>
              </a:lnSpc>
              <a:buNone/>
            </a:pPr>
            <a:r>
              <a:rPr lang="en-US" sz="1200" dirty="0">
                <a:solidFill>
                  <a:srgbClr val="B6BFD6"/>
                </a:solidFill>
                <a:latin typeface="Calibri" pitchFamily="34" charset="0"/>
                <a:ea typeface="Calibri" pitchFamily="34" charset="-122"/>
                <a:cs typeface="Calibri" pitchFamily="34" charset="-120"/>
              </a:rPr>
              <a:t>2 — Kündigen kostet bei uns fast nichts. Wer kündigt, behält die Gratis-Version. Der Preis des Neins ist bei uns niedriger als bei den meisten Apps im Vergleichswert.</a:t>
            </a:r>
            <a:endParaRPr lang="en-US" sz="1200" dirty="0"/>
          </a:p>
        </p:txBody>
      </p:sp>
      <p:sp>
        <p:nvSpPr>
          <p:cNvPr id="9" name="Shape 5"/>
          <p:cNvSpPr/>
          <p:nvPr/>
        </p:nvSpPr>
        <p:spPr>
          <a:xfrm>
            <a:off x="566928" y="5504688"/>
            <a:ext cx="11055096" cy="621792"/>
          </a:xfrm>
          <a:prstGeom prst="roundRect">
            <a:avLst>
              <a:gd name="adj" fmla="val 13235"/>
            </a:avLst>
          </a:prstGeom>
          <a:solidFill>
            <a:srgbClr val="FBE7EF"/>
          </a:solidFill>
          <a:ln w="12700">
            <a:solidFill>
              <a:srgbClr val="FBE7EF"/>
            </a:solidFill>
            <a:prstDash val="solid"/>
          </a:ln>
        </p:spPr>
      </p:sp>
      <p:sp>
        <p:nvSpPr>
          <p:cNvPr id="10" name="Text 6"/>
          <p:cNvSpPr txBox="1"/>
          <p:nvPr/>
        </p:nvSpPr>
        <p:spPr>
          <a:xfrm>
            <a:off x="896112" y="5504688"/>
            <a:ext cx="10396728" cy="621792"/>
          </a:xfrm>
          <a:prstGeom prst="rect">
            <a:avLst/>
          </a:prstGeom>
          <a:noFill/>
          <a:ln/>
        </p:spPr>
        <p:txBody>
          <a:bodyPr wrap="square" lIns="0" tIns="0" rIns="0" bIns="0" rtlCol="0" anchor="ctr"/>
          <a:lstStyle/>
          <a:p>
            <a:pPr indent="0" marL="0">
              <a:buNone/>
            </a:pPr>
            <a:r>
              <a:rPr lang="en-US" sz="1350" dirty="0">
                <a:solidFill>
                  <a:srgbClr val="141A2E"/>
                </a:solidFill>
                <a:latin typeface="Calibri" pitchFamily="34" charset="0"/>
                <a:ea typeface="Calibri" pitchFamily="34" charset="-122"/>
                <a:cs typeface="Calibri" pitchFamily="34" charset="-120"/>
              </a:rPr>
              <a:t>Den Preis hatten diese 38 Menschen bereits akzeptiert. Sie haben sich nach der Nutzung dagegen entschieden — das ist ein Urteil über Zeitpunkt und Wertbeweis, keine Preisablehnung.</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141A2E"/>
                </a:solidFill>
                <a:latin typeface="Cambria" pitchFamily="34" charset="0"/>
                <a:ea typeface="Cambria" pitchFamily="34" charset="-122"/>
                <a:cs typeface="Cambria" pitchFamily="34" charset="-120"/>
              </a:rPr>
              <a:t>Problem 1: 20 Screens — und nie das Produkt</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4A5470"/>
                </a:solidFill>
                <a:latin typeface="Calibri" pitchFamily="34" charset="0"/>
                <a:ea typeface="Calibri" pitchFamily="34" charset="-122"/>
                <a:cs typeface="Calibri" pitchFamily="34" charset="-120"/>
              </a:rPr>
              <a:t>Vom App-Start bis zur Paywall</a:t>
            </a:r>
            <a:endParaRPr lang="en-US" sz="1450" dirty="0"/>
          </a:p>
        </p:txBody>
      </p:sp>
      <p:sp>
        <p:nvSpPr>
          <p:cNvPr id="5" name="Shape 2"/>
          <p:cNvSpPr/>
          <p:nvPr/>
        </p:nvSpPr>
        <p:spPr>
          <a:xfrm>
            <a:off x="566928" y="1627632"/>
            <a:ext cx="5074920" cy="2011680"/>
          </a:xfrm>
          <a:prstGeom prst="roundRect">
            <a:avLst>
              <a:gd name="adj" fmla="val 4091"/>
            </a:avLst>
          </a:prstGeom>
          <a:solidFill>
            <a:srgbClr val="F1F3F8"/>
          </a:solidFill>
          <a:ln w="12700">
            <a:solidFill>
              <a:srgbClr val="F1F3F8"/>
            </a:solidFill>
            <a:prstDash val="solid"/>
          </a:ln>
        </p:spPr>
      </p:sp>
      <p:sp>
        <p:nvSpPr>
          <p:cNvPr id="6" name="Text 3"/>
          <p:cNvSpPr txBox="1"/>
          <p:nvPr/>
        </p:nvSpPr>
        <p:spPr>
          <a:xfrm>
            <a:off x="804672" y="1847088"/>
            <a:ext cx="1517904" cy="749808"/>
          </a:xfrm>
          <a:prstGeom prst="rect">
            <a:avLst/>
          </a:prstGeom>
          <a:noFill/>
          <a:ln/>
        </p:spPr>
        <p:txBody>
          <a:bodyPr wrap="square" lIns="0" tIns="0" rIns="0" bIns="0" rtlCol="0" anchor="ctr"/>
          <a:lstStyle/>
          <a:p>
            <a:pPr algn="ctr" indent="0" marL="0">
              <a:buNone/>
            </a:pPr>
            <a:r>
              <a:rPr lang="en-US" sz="3200" b="1" dirty="0">
                <a:solidFill>
                  <a:srgbClr val="141A2E"/>
                </a:solidFill>
                <a:latin typeface="Calibri" pitchFamily="34" charset="0"/>
                <a:ea typeface="Calibri" pitchFamily="34" charset="-122"/>
                <a:cs typeface="Calibri" pitchFamily="34" charset="-120"/>
              </a:rPr>
              <a:t>20</a:t>
            </a:r>
            <a:endParaRPr lang="en-US" sz="3200" dirty="0"/>
          </a:p>
        </p:txBody>
      </p:sp>
      <p:sp>
        <p:nvSpPr>
          <p:cNvPr id="7" name="Text 4"/>
          <p:cNvSpPr txBox="1"/>
          <p:nvPr/>
        </p:nvSpPr>
        <p:spPr>
          <a:xfrm>
            <a:off x="804672" y="2615184"/>
            <a:ext cx="1517904" cy="841248"/>
          </a:xfrm>
          <a:prstGeom prst="rect">
            <a:avLst/>
          </a:prstGeom>
          <a:noFill/>
          <a:ln/>
        </p:spPr>
        <p:txBody>
          <a:bodyPr wrap="square" lIns="0" tIns="0" rIns="0" bIns="0" rtlCol="0" anchor="t"/>
          <a:lstStyle/>
          <a:p>
            <a:pPr algn="ctr" indent="0" marL="0">
              <a:lnSpc>
                <a:spcPct val="105000"/>
              </a:lnSpc>
              <a:buNone/>
            </a:pPr>
            <a:r>
              <a:rPr lang="en-US" sz="1150" dirty="0">
                <a:solidFill>
                  <a:srgbClr val="4A5470"/>
                </a:solidFill>
                <a:latin typeface="Calibri" pitchFamily="34" charset="0"/>
                <a:ea typeface="Calibri" pitchFamily="34" charset="-122"/>
                <a:cs typeface="Calibri" pitchFamily="34" charset="-120"/>
              </a:rPr>
              <a:t>Screens vor der Paywall</a:t>
            </a:r>
            <a:endParaRPr lang="en-US" sz="1150" dirty="0"/>
          </a:p>
        </p:txBody>
      </p:sp>
      <p:sp>
        <p:nvSpPr>
          <p:cNvPr id="8" name="Text 5"/>
          <p:cNvSpPr txBox="1"/>
          <p:nvPr/>
        </p:nvSpPr>
        <p:spPr>
          <a:xfrm>
            <a:off x="2377440" y="1847088"/>
            <a:ext cx="1517904" cy="749808"/>
          </a:xfrm>
          <a:prstGeom prst="rect">
            <a:avLst/>
          </a:prstGeom>
          <a:noFill/>
          <a:ln/>
        </p:spPr>
        <p:txBody>
          <a:bodyPr wrap="square" lIns="0" tIns="0" rIns="0" bIns="0" rtlCol="0" anchor="ctr"/>
          <a:lstStyle/>
          <a:p>
            <a:pPr algn="ctr" indent="0" marL="0">
              <a:buNone/>
            </a:pPr>
            <a:r>
              <a:rPr lang="en-US" sz="3200" b="1" dirty="0">
                <a:solidFill>
                  <a:srgbClr val="141A2E"/>
                </a:solidFill>
                <a:latin typeface="Calibri" pitchFamily="34" charset="0"/>
                <a:ea typeface="Calibri" pitchFamily="34" charset="-122"/>
                <a:cs typeface="Calibri" pitchFamily="34" charset="-120"/>
              </a:rPr>
              <a:t>~5,5 %</a:t>
            </a:r>
            <a:endParaRPr lang="en-US" sz="3200" dirty="0"/>
          </a:p>
        </p:txBody>
      </p:sp>
      <p:sp>
        <p:nvSpPr>
          <p:cNvPr id="9" name="Text 6"/>
          <p:cNvSpPr txBox="1"/>
          <p:nvPr/>
        </p:nvSpPr>
        <p:spPr>
          <a:xfrm>
            <a:off x="2377440" y="2615184"/>
            <a:ext cx="1517904" cy="841248"/>
          </a:xfrm>
          <a:prstGeom prst="rect">
            <a:avLst/>
          </a:prstGeom>
          <a:noFill/>
          <a:ln/>
        </p:spPr>
        <p:txBody>
          <a:bodyPr wrap="square" lIns="0" tIns="0" rIns="0" bIns="0" rtlCol="0" anchor="t"/>
          <a:lstStyle/>
          <a:p>
            <a:pPr algn="ctr" indent="0" marL="0">
              <a:lnSpc>
                <a:spcPct val="105000"/>
              </a:lnSpc>
              <a:buNone/>
            </a:pPr>
            <a:r>
              <a:rPr lang="en-US" sz="1150" dirty="0">
                <a:solidFill>
                  <a:srgbClr val="4A5470"/>
                </a:solidFill>
                <a:latin typeface="Calibri" pitchFamily="34" charset="0"/>
                <a:ea typeface="Calibri" pitchFamily="34" charset="-122"/>
                <a:cs typeface="Calibri" pitchFamily="34" charset="-120"/>
              </a:rPr>
              <a:t>Verlust pro Screen</a:t>
            </a:r>
            <a:endParaRPr lang="en-US" sz="1150" dirty="0"/>
          </a:p>
        </p:txBody>
      </p:sp>
      <p:sp>
        <p:nvSpPr>
          <p:cNvPr id="10" name="Text 7"/>
          <p:cNvSpPr txBox="1"/>
          <p:nvPr/>
        </p:nvSpPr>
        <p:spPr>
          <a:xfrm>
            <a:off x="3950208" y="1847088"/>
            <a:ext cx="1517904" cy="749808"/>
          </a:xfrm>
          <a:prstGeom prst="rect">
            <a:avLst/>
          </a:prstGeom>
          <a:noFill/>
          <a:ln/>
        </p:spPr>
        <p:txBody>
          <a:bodyPr wrap="square" lIns="0" tIns="0" rIns="0" bIns="0" rtlCol="0" anchor="ctr"/>
          <a:lstStyle/>
          <a:p>
            <a:pPr algn="ctr" indent="0" marL="0">
              <a:buNone/>
            </a:pPr>
            <a:r>
              <a:rPr lang="en-US" sz="3200" b="1" dirty="0">
                <a:solidFill>
                  <a:srgbClr val="141A2E"/>
                </a:solidFill>
                <a:latin typeface="Calibri" pitchFamily="34" charset="0"/>
                <a:ea typeface="Calibri" pitchFamily="34" charset="-122"/>
                <a:cs typeface="Calibri" pitchFamily="34" charset="-120"/>
              </a:rPr>
              <a:t>54,7 %</a:t>
            </a:r>
            <a:endParaRPr lang="en-US" sz="3200" dirty="0"/>
          </a:p>
        </p:txBody>
      </p:sp>
      <p:sp>
        <p:nvSpPr>
          <p:cNvPr id="11" name="Text 8"/>
          <p:cNvSpPr txBox="1"/>
          <p:nvPr/>
        </p:nvSpPr>
        <p:spPr>
          <a:xfrm>
            <a:off x="3950208" y="2615184"/>
            <a:ext cx="1517904" cy="841248"/>
          </a:xfrm>
          <a:prstGeom prst="rect">
            <a:avLst/>
          </a:prstGeom>
          <a:noFill/>
          <a:ln/>
        </p:spPr>
        <p:txBody>
          <a:bodyPr wrap="square" lIns="0" tIns="0" rIns="0" bIns="0" rtlCol="0" anchor="t"/>
          <a:lstStyle/>
          <a:p>
            <a:pPr algn="ctr" indent="0" marL="0">
              <a:lnSpc>
                <a:spcPct val="105000"/>
              </a:lnSpc>
              <a:buNone/>
            </a:pPr>
            <a:r>
              <a:rPr lang="en-US" sz="1150" dirty="0">
                <a:solidFill>
                  <a:srgbClr val="4A5470"/>
                </a:solidFill>
                <a:latin typeface="Calibri" pitchFamily="34" charset="0"/>
                <a:ea typeface="Calibri" pitchFamily="34" charset="-122"/>
                <a:cs typeface="Calibri" pitchFamily="34" charset="-120"/>
              </a:rPr>
              <a:t>brechen davor ab</a:t>
            </a:r>
            <a:endParaRPr lang="en-US" sz="1150" dirty="0"/>
          </a:p>
        </p:txBody>
      </p:sp>
      <p:sp>
        <p:nvSpPr>
          <p:cNvPr id="12" name="Shape 9"/>
          <p:cNvSpPr/>
          <p:nvPr/>
        </p:nvSpPr>
        <p:spPr>
          <a:xfrm>
            <a:off x="566928" y="3785616"/>
            <a:ext cx="5074920" cy="2212848"/>
          </a:xfrm>
          <a:prstGeom prst="roundRect">
            <a:avLst>
              <a:gd name="adj" fmla="val 3719"/>
            </a:avLst>
          </a:prstGeom>
          <a:solidFill>
            <a:srgbClr val="141A2E"/>
          </a:solidFill>
          <a:ln w="12700">
            <a:solidFill>
              <a:srgbClr val="141A2E"/>
            </a:solidFill>
            <a:prstDash val="solid"/>
          </a:ln>
        </p:spPr>
      </p:sp>
      <p:sp>
        <p:nvSpPr>
          <p:cNvPr id="13" name="Text 10"/>
          <p:cNvSpPr txBox="1"/>
          <p:nvPr/>
        </p:nvSpPr>
        <p:spPr>
          <a:xfrm>
            <a:off x="859536" y="3950208"/>
            <a:ext cx="4480560" cy="310896"/>
          </a:xfrm>
          <a:prstGeom prst="rect">
            <a:avLst/>
          </a:prstGeom>
          <a:noFill/>
          <a:ln/>
        </p:spPr>
        <p:txBody>
          <a:bodyPr wrap="square" lIns="0" tIns="0" rIns="0" bIns="0" rtlCol="0" anchor="ctr"/>
          <a:lstStyle/>
          <a:p>
            <a:pPr indent="0" marL="0">
              <a:buNone/>
            </a:pPr>
            <a:r>
              <a:rPr lang="en-US" sz="1150" b="1" dirty="0">
                <a:solidFill>
                  <a:srgbClr val="8E9ABA"/>
                </a:solidFill>
                <a:latin typeface="Calibri" pitchFamily="34" charset="0"/>
                <a:ea typeface="Calibri" pitchFamily="34" charset="-122"/>
                <a:cs typeface="Calibri" pitchFamily="34" charset="-120"/>
              </a:rPr>
              <a:t>Rechnerisch</a:t>
            </a:r>
            <a:endParaRPr lang="en-US" sz="1150" dirty="0"/>
          </a:p>
        </p:txBody>
      </p:sp>
      <p:sp>
        <p:nvSpPr>
          <p:cNvPr id="14" name="Text 11"/>
          <p:cNvSpPr txBox="1"/>
          <p:nvPr/>
        </p:nvSpPr>
        <p:spPr>
          <a:xfrm>
            <a:off x="859536" y="4242816"/>
            <a:ext cx="4480560" cy="786384"/>
          </a:xfrm>
          <a:prstGeom prst="rect">
            <a:avLst/>
          </a:prstGeom>
          <a:noFill/>
          <a:ln/>
        </p:spPr>
        <p:txBody>
          <a:bodyPr wrap="square" lIns="0" tIns="0" rIns="0" bIns="0" rtlCol="0" anchor="t"/>
          <a:lstStyle/>
          <a:p>
            <a:pPr indent="0" marL="0">
              <a:lnSpc>
                <a:spcPct val="106000"/>
              </a:lnSpc>
              <a:buNone/>
            </a:pPr>
            <a:r>
              <a:rPr lang="en-US" sz="1250" dirty="0">
                <a:solidFill>
                  <a:srgbClr val="B6BFD6"/>
                </a:solidFill>
                <a:latin typeface="Calibri" pitchFamily="34" charset="0"/>
                <a:ea typeface="Calibri" pitchFamily="34" charset="-122"/>
                <a:cs typeface="Calibri" pitchFamily="34" charset="-120"/>
              </a:rPr>
              <a:t>Die Registrierung an Screen 5 passieren praktisch alle. Von dort auf die Paywall verlieren wir 54,7 % über 14 Screens — rund 5,5 % pro Screen.</a:t>
            </a:r>
            <a:endParaRPr lang="en-US" sz="1250" dirty="0"/>
          </a:p>
        </p:txBody>
      </p:sp>
      <p:sp>
        <p:nvSpPr>
          <p:cNvPr id="15" name="Text 12"/>
          <p:cNvSpPr txBox="1"/>
          <p:nvPr/>
        </p:nvSpPr>
        <p:spPr>
          <a:xfrm>
            <a:off x="859536" y="5047488"/>
            <a:ext cx="4480560" cy="786384"/>
          </a:xfrm>
          <a:prstGeom prst="rect">
            <a:avLst/>
          </a:prstGeom>
          <a:noFill/>
          <a:ln/>
        </p:spPr>
        <p:txBody>
          <a:bodyPr wrap="square" lIns="0" tIns="0" rIns="0" bIns="0" rtlCol="0" anchor="t"/>
          <a:lstStyle/>
          <a:p>
            <a:pPr indent="0" marL="0">
              <a:lnSpc>
                <a:spcPct val="106000"/>
              </a:lnSpc>
              <a:buNone/>
            </a:pPr>
            <a:r>
              <a:rPr lang="en-US" sz="1500" b="1" dirty="0">
                <a:solidFill>
                  <a:srgbClr val="FFFFFF"/>
                </a:solidFill>
                <a:latin typeface="Calibri" pitchFamily="34" charset="0"/>
                <a:ea typeface="Calibri" pitchFamily="34" charset="-122"/>
                <a:cs typeface="Calibri" pitchFamily="34" charset="-120"/>
              </a:rPr>
              <a:t>8 Screens weniger  →  454 statt 289 Paywall-Views</a:t>
            </a:r>
            <a:pPr indent="0" marL="0">
              <a:lnSpc>
                <a:spcPct val="106000"/>
              </a:lnSpc>
              <a:buNone/>
            </a:pPr>
            <a:endParaRPr lang="en-US" sz="1500" dirty="0"/>
          </a:p>
          <a:p>
            <a:pPr indent="0" marL="0">
              <a:lnSpc>
                <a:spcPct val="106000"/>
              </a:lnSpc>
              <a:buNone/>
            </a:pPr>
            <a:r>
              <a:rPr lang="en-US" sz="1150" dirty="0">
                <a:solidFill>
                  <a:srgbClr val="8E9ABA"/>
                </a:solidFill>
                <a:latin typeface="Calibri" pitchFamily="34" charset="0"/>
                <a:ea typeface="Calibri" pitchFamily="34" charset="-122"/>
                <a:cs typeface="Calibri" pitchFamily="34" charset="-120"/>
              </a:rPr>
              <a:t>Ein Plus von 57 %, ohne irgendetwas anderes zu ändern.</a:t>
            </a:r>
            <a:endParaRPr lang="en-US" sz="1500" dirty="0"/>
          </a:p>
        </p:txBody>
      </p:sp>
      <p:sp>
        <p:nvSpPr>
          <p:cNvPr id="16" name="Shape 13"/>
          <p:cNvSpPr/>
          <p:nvPr/>
        </p:nvSpPr>
        <p:spPr>
          <a:xfrm>
            <a:off x="5989320" y="1627632"/>
            <a:ext cx="5632704" cy="4370832"/>
          </a:xfrm>
          <a:prstGeom prst="roundRect">
            <a:avLst>
              <a:gd name="adj" fmla="val 1883"/>
            </a:avLst>
          </a:prstGeom>
          <a:solidFill>
            <a:srgbClr val="FBE7EF"/>
          </a:solidFill>
          <a:ln w="12700">
            <a:solidFill>
              <a:srgbClr val="FBE7EF"/>
            </a:solidFill>
            <a:prstDash val="solid"/>
          </a:ln>
        </p:spPr>
      </p:sp>
      <p:sp>
        <p:nvSpPr>
          <p:cNvPr id="17" name="Text 14"/>
          <p:cNvSpPr txBox="1"/>
          <p:nvPr/>
        </p:nvSpPr>
        <p:spPr>
          <a:xfrm>
            <a:off x="6300216" y="1828800"/>
            <a:ext cx="5010912" cy="402336"/>
          </a:xfrm>
          <a:prstGeom prst="rect">
            <a:avLst/>
          </a:prstGeom>
          <a:noFill/>
          <a:ln/>
        </p:spPr>
        <p:txBody>
          <a:bodyPr wrap="square" lIns="0" tIns="0" rIns="0" bIns="0" rtlCol="0" anchor="ctr"/>
          <a:lstStyle/>
          <a:p>
            <a:pPr indent="0" marL="0">
              <a:buNone/>
            </a:pPr>
            <a:r>
              <a:rPr lang="en-US" sz="2100" b="1" dirty="0">
                <a:solidFill>
                  <a:srgbClr val="141A2E"/>
                </a:solidFill>
                <a:latin typeface="Cambria" pitchFamily="34" charset="0"/>
                <a:ea typeface="Cambria" pitchFamily="34" charset="-122"/>
                <a:cs typeface="Cambria" pitchFamily="34" charset="-120"/>
              </a:rPr>
              <a:t>Der eigentliche Fehler</a:t>
            </a:r>
            <a:endParaRPr lang="en-US" sz="2100" dirty="0"/>
          </a:p>
        </p:txBody>
      </p:sp>
      <p:sp>
        <p:nvSpPr>
          <p:cNvPr id="18" name="Text 15"/>
          <p:cNvSpPr txBox="1"/>
          <p:nvPr/>
        </p:nvSpPr>
        <p:spPr>
          <a:xfrm>
            <a:off x="6300216" y="2267712"/>
            <a:ext cx="5010912" cy="640080"/>
          </a:xfrm>
          <a:prstGeom prst="rect">
            <a:avLst/>
          </a:prstGeom>
          <a:noFill/>
          <a:ln/>
        </p:spPr>
        <p:txBody>
          <a:bodyPr wrap="square" lIns="0" tIns="0" rIns="0" bIns="0" rtlCol="0" anchor="t"/>
          <a:lstStyle/>
          <a:p>
            <a:pPr indent="0" marL="0">
              <a:lnSpc>
                <a:spcPct val="105000"/>
              </a:lnSpc>
              <a:buNone/>
            </a:pPr>
            <a:r>
              <a:rPr lang="en-US" sz="1600" b="1" dirty="0">
                <a:solidFill>
                  <a:srgbClr val="D93B72"/>
                </a:solidFill>
                <a:latin typeface="Calibri" pitchFamily="34" charset="0"/>
                <a:ea typeface="Calibri" pitchFamily="34" charset="-122"/>
                <a:cs typeface="Calibri" pitchFamily="34" charset="-120"/>
              </a:rPr>
              <a:t>Der Nutzer sieht 18 Folien lang Behauptungen und kein einziges Mal das Produkt.</a:t>
            </a:r>
            <a:endParaRPr lang="en-US" sz="1600" dirty="0"/>
          </a:p>
        </p:txBody>
      </p:sp>
      <p:sp>
        <p:nvSpPr>
          <p:cNvPr id="19" name="Text 16"/>
          <p:cNvSpPr txBox="1"/>
          <p:nvPr/>
        </p:nvSpPr>
        <p:spPr>
          <a:xfrm>
            <a:off x="6300216" y="2980944"/>
            <a:ext cx="5010912" cy="2834640"/>
          </a:xfrm>
          <a:prstGeom prst="rect">
            <a:avLst/>
          </a:prstGeom>
          <a:noFill/>
          <a:ln/>
        </p:spPr>
        <p:txBody>
          <a:bodyPr wrap="square" lIns="0" tIns="0" rIns="0" bIns="0" rtlCol="0" anchor="t"/>
          <a:lstStyle/>
          <a:p>
            <a:pPr indent="0" marL="0">
              <a:lnSpc>
                <a:spcPct val="108000"/>
              </a:lnSpc>
              <a:buNone/>
            </a:pPr>
            <a:r>
              <a:rPr lang="en-US" sz="1250" dirty="0">
                <a:solidFill>
                  <a:srgbClr val="4A5470"/>
                </a:solidFill>
                <a:latin typeface="Calibri" pitchFamily="34" charset="0"/>
                <a:ea typeface="Calibri" pitchFamily="34" charset="-122"/>
                <a:cs typeface="Calibri" pitchFamily="34" charset="-120"/>
              </a:rPr>
              <a:t>Wertversprechen, Problemliste, Feature-Slideshow, Vorher-Nachher, Fächer, Klausurdatum, Streak-Ziel, Methoden-Graph, Name, Push-Freigabe, Ziele, Raketen-Animation, Bewertungen, Streak Tag 1 — dann die Preisfrage.</a:t>
            </a:r>
            <a:endParaRPr lang="en-US" sz="1250" dirty="0"/>
          </a:p>
          <a:p>
            <a:pPr indent="0" marL="0">
              <a:lnSpc>
                <a:spcPct val="108000"/>
              </a:lnSpc>
              <a:buNone/>
            </a:pPr>
            <a:endParaRPr lang="en-US" sz="1250" dirty="0"/>
          </a:p>
          <a:p>
            <a:pPr indent="0" marL="0">
              <a:lnSpc>
                <a:spcPct val="108000"/>
              </a:lnSpc>
              <a:buNone/>
            </a:pPr>
            <a:r>
              <a:rPr lang="en-US" sz="1250" dirty="0">
                <a:solidFill>
                  <a:srgbClr val="4A5470"/>
                </a:solidFill>
                <a:latin typeface="Calibri" pitchFamily="34" charset="0"/>
                <a:ea typeface="Calibri" pitchFamily="34" charset="-122"/>
                <a:cs typeface="Calibri" pitchFamily="34" charset="-120"/>
              </a:rPr>
              <a:t>An keiner Stelle passiert etwas mit dem Material des Nutzers. An keiner Stelle erlebt er, dass Octa ihm eine Frage stellt, die er nicht beantworten kann.</a:t>
            </a:r>
            <a:endParaRPr lang="en-US" sz="1250" dirty="0"/>
          </a:p>
          <a:p>
            <a:pPr indent="0" marL="0">
              <a:lnSpc>
                <a:spcPct val="108000"/>
              </a:lnSpc>
              <a:buNone/>
            </a:pPr>
            <a:endParaRPr lang="en-US" sz="1250" dirty="0"/>
          </a:p>
          <a:p>
            <a:pPr indent="0" marL="0">
              <a:lnSpc>
                <a:spcPct val="108000"/>
              </a:lnSpc>
              <a:buNone/>
            </a:pPr>
            <a:r>
              <a:rPr lang="en-US" sz="1250" dirty="0">
                <a:solidFill>
                  <a:srgbClr val="4A5470"/>
                </a:solidFill>
                <a:latin typeface="Calibri" pitchFamily="34" charset="0"/>
                <a:ea typeface="Calibri" pitchFamily="34" charset="-122"/>
                <a:cs typeface="Calibri" pitchFamily="34" charset="-120"/>
              </a:rPr>
              <a:t>Bei einer Kalorien-App funktioniert dieses Muster, weil man im Onboarding einen Teller fotografiert und drei Sekunden später die Analyse sieht. Unser Versprechen — "du kannst es hinterher wirklich" — kann keine Folie beweisen. Nur die App.</a:t>
            </a:r>
            <a:endParaRPr lang="en-US" sz="1250" dirty="0"/>
          </a:p>
        </p:txBody>
      </p:sp>
      <p:sp>
        <p:nvSpPr>
          <p:cNvPr id="20" name="Text 17"/>
          <p:cNvSpPr txBox="1"/>
          <p:nvPr/>
        </p:nvSpPr>
        <p:spPr>
          <a:xfrm>
            <a:off x="566928" y="6236208"/>
            <a:ext cx="11055096" cy="347472"/>
          </a:xfrm>
          <a:prstGeom prst="rect">
            <a:avLst/>
          </a:prstGeom>
          <a:noFill/>
          <a:ln/>
        </p:spPr>
        <p:txBody>
          <a:bodyPr wrap="square" lIns="0" tIns="0" rIns="0" bIns="0" rtlCol="0" anchor="ctr"/>
          <a:lstStyle/>
          <a:p>
            <a:pPr indent="0" marL="0">
              <a:buNone/>
            </a:pPr>
            <a:r>
              <a:rPr lang="en-US" sz="1050" i="1" dirty="0">
                <a:solidFill>
                  <a:srgbClr val="7C86A2"/>
                </a:solidFill>
                <a:latin typeface="Calibri" pitchFamily="34" charset="0"/>
                <a:ea typeface="Calibri" pitchFamily="34" charset="-122"/>
                <a:cs typeface="Calibri" pitchFamily="34" charset="-120"/>
              </a:rPr>
              <a:t>Die Registrierung an Screen 5 kostet uns keine Nutzer — aber sie erzeugt Accounts ohne Kaufabsicht und macht unsere Nutzerzahl zu einem schwachen Signal.</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141A2E"/>
                </a:solidFill>
                <a:latin typeface="Cambria" pitchFamily="34" charset="0"/>
                <a:ea typeface="Cambria" pitchFamily="34" charset="-122"/>
                <a:cs typeface="Cambria" pitchFamily="34" charset="-120"/>
              </a:rPr>
              <a:t>Problem 2: Wir bestrafen unsere besten Kunden</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4A5470"/>
                </a:solidFill>
                <a:latin typeface="Calibri" pitchFamily="34" charset="0"/>
                <a:ea typeface="Calibri" pitchFamily="34" charset="-122"/>
                <a:cs typeface="Calibri" pitchFamily="34" charset="-120"/>
              </a:rPr>
              <a:t>Was der Nutzer je nach Pfad tatsächlich bezahlt</a:t>
            </a:r>
            <a:endParaRPr lang="en-US" sz="14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609344"/>
          <a:ext cx="11055096" cy="914400"/>
        </p:xfrm>
        <a:graphic>
          <a:graphicData uri="http://schemas.openxmlformats.org/drawingml/2006/table">
            <a:tbl>
              <a:tblPr/>
              <a:tblGrid>
                <a:gridCol w="3383280"/>
                <a:gridCol w="1737360"/>
                <a:gridCol w="1280160"/>
                <a:gridCol w="4654296"/>
              </a:tblGrid>
              <a:tr h="49377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Pfad</a:t>
                      </a:r>
                      <a:endParaRPr lang="en-US" sz="130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141A2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Jahrespreis</a:t>
                      </a:r>
                      <a:endParaRPr lang="en-US" sz="130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141A2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Trial</a:t>
                      </a:r>
                      <a:endParaRPr lang="en-US" sz="130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141A2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Was der Nutzer erlebt</a:t>
                      </a:r>
                      <a:endParaRPr lang="en-US" sz="130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141A2E"/>
                    </a:solidFill>
                  </a:tcPr>
                </a:tc>
              </a:tr>
              <a:tr h="493776">
                <a:tc>
                  <a:txBody>
                    <a:bodyPr/>
                    <a:lstStyle/>
                    <a:p>
                      <a:pPr indent="0" marL="0">
                        <a:buNone/>
                      </a:pPr>
                      <a:r>
                        <a:rPr lang="en-US" sz="1300" b="1" dirty="0">
                          <a:solidFill>
                            <a:srgbClr val="141A2E"/>
                          </a:solidFill>
                          <a:latin typeface="Calibri" pitchFamily="34" charset="0"/>
                          <a:ea typeface="Calibri" pitchFamily="34" charset="-122"/>
                          <a:cs typeface="Calibri" pitchFamily="34" charset="-120"/>
                        </a:rPr>
                        <a:t>Sagt an der Paywall sofort Ja</a:t>
                      </a:r>
                      <a:endParaRPr lang="en-US" sz="130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600" b="1" dirty="0">
                          <a:solidFill>
                            <a:srgbClr val="D93B72"/>
                          </a:solidFill>
                          <a:latin typeface="Calibri" pitchFamily="34" charset="0"/>
                          <a:ea typeface="Calibri" pitchFamily="34" charset="-122"/>
                          <a:cs typeface="Calibri" pitchFamily="34" charset="-120"/>
                        </a:rPr>
                        <a:t>99,99 €</a:t>
                      </a:r>
                      <a:endParaRPr lang="en-US" sz="160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400" b="1" dirty="0">
                          <a:solidFill>
                            <a:srgbClr val="D93B72"/>
                          </a:solidFill>
                          <a:latin typeface="Calibri" pitchFamily="34" charset="0"/>
                          <a:ea typeface="Calibri" pitchFamily="34" charset="-122"/>
                          <a:cs typeface="Calibri" pitchFamily="34" charset="-120"/>
                        </a:rPr>
                        <a:t>3 Tage</a:t>
                      </a:r>
                      <a:endParaRPr lang="en-US" sz="140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250" dirty="0">
                          <a:solidFill>
                            <a:srgbClr val="4A5470"/>
                          </a:solidFill>
                          <a:latin typeface="Calibri" pitchFamily="34" charset="0"/>
                          <a:ea typeface="Calibri" pitchFamily="34" charset="-122"/>
                          <a:cs typeface="Calibri" pitchFamily="34" charset="-120"/>
                        </a:rPr>
                        <a:t>Zahlt am meisten, testet am kürzesten</a:t>
                      </a:r>
                      <a:endParaRPr lang="en-US" sz="125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r>
              <a:tr h="493776">
                <a:tc>
                  <a:txBody>
                    <a:bodyPr/>
                    <a:lstStyle/>
                    <a:p>
                      <a:pPr indent="0" marL="0">
                        <a:buNone/>
                      </a:pPr>
                      <a:r>
                        <a:rPr lang="en-US" sz="1300" b="1" dirty="0">
                          <a:solidFill>
                            <a:srgbClr val="141A2E"/>
                          </a:solidFill>
                          <a:latin typeface="Calibri" pitchFamily="34" charset="0"/>
                          <a:ea typeface="Calibri" pitchFamily="34" charset="-122"/>
                          <a:cs typeface="Calibri" pitchFamily="34" charset="-120"/>
                        </a:rPr>
                        <a:t>Wählt „ohne Trial"</a:t>
                      </a:r>
                      <a:endParaRPr lang="en-US" sz="130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600" b="1" dirty="0">
                          <a:solidFill>
                            <a:srgbClr val="B0761A"/>
                          </a:solidFill>
                          <a:latin typeface="Calibri" pitchFamily="34" charset="0"/>
                          <a:ea typeface="Calibri" pitchFamily="34" charset="-122"/>
                          <a:cs typeface="Calibri" pitchFamily="34" charset="-120"/>
                        </a:rPr>
                        <a:t>89,99 €</a:t>
                      </a:r>
                      <a:endParaRPr lang="en-US" sz="160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400" b="1" dirty="0">
                          <a:solidFill>
                            <a:srgbClr val="B0761A"/>
                          </a:solidFill>
                          <a:latin typeface="Calibri" pitchFamily="34" charset="0"/>
                          <a:ea typeface="Calibri" pitchFamily="34" charset="-122"/>
                          <a:cs typeface="Calibri" pitchFamily="34" charset="-120"/>
                        </a:rPr>
                        <a:t>keiner</a:t>
                      </a:r>
                      <a:endParaRPr lang="en-US" sz="140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c>
                  <a:txBody>
                    <a:bodyPr/>
                    <a:lstStyle/>
                    <a:p>
                      <a:pPr indent="0" marL="0">
                        <a:buNone/>
                      </a:pPr>
                      <a:r>
                        <a:rPr lang="en-US" sz="1250" dirty="0">
                          <a:solidFill>
                            <a:srgbClr val="4A5470"/>
                          </a:solidFill>
                          <a:latin typeface="Calibri" pitchFamily="34" charset="0"/>
                          <a:ea typeface="Calibri" pitchFamily="34" charset="-122"/>
                          <a:cs typeface="Calibri" pitchFamily="34" charset="-120"/>
                        </a:rPr>
                        <a:t>Trial kostet 10 € Aufpreis — eine Strafe für Vorsicht</a:t>
                      </a:r>
                      <a:endParaRPr lang="en-US" sz="125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1F3F8"/>
                    </a:solidFill>
                  </a:tcPr>
                </a:tc>
              </a:tr>
              <a:tr h="493776">
                <a:tc>
                  <a:txBody>
                    <a:bodyPr/>
                    <a:lstStyle/>
                    <a:p>
                      <a:pPr indent="0" marL="0">
                        <a:buNone/>
                      </a:pPr>
                      <a:r>
                        <a:rPr lang="en-US" sz="1300" b="1" dirty="0">
                          <a:solidFill>
                            <a:srgbClr val="141A2E"/>
                          </a:solidFill>
                          <a:latin typeface="Calibri" pitchFamily="34" charset="0"/>
                          <a:ea typeface="Calibri" pitchFamily="34" charset="-122"/>
                          <a:cs typeface="Calibri" pitchFamily="34" charset="-120"/>
                        </a:rPr>
                        <a:t>Schließt die Paywall</a:t>
                      </a:r>
                      <a:endParaRPr lang="en-US" sz="130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600" b="1" dirty="0">
                          <a:solidFill>
                            <a:srgbClr val="1B7F63"/>
                          </a:solidFill>
                          <a:latin typeface="Calibri" pitchFamily="34" charset="0"/>
                          <a:ea typeface="Calibri" pitchFamily="34" charset="-122"/>
                          <a:cs typeface="Calibri" pitchFamily="34" charset="-120"/>
                        </a:rPr>
                        <a:t>~50 €</a:t>
                      </a:r>
                      <a:endParaRPr lang="en-US" sz="160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400" b="1" dirty="0">
                          <a:solidFill>
                            <a:srgbClr val="1B7F63"/>
                          </a:solidFill>
                          <a:latin typeface="Calibri" pitchFamily="34" charset="0"/>
                          <a:ea typeface="Calibri" pitchFamily="34" charset="-122"/>
                          <a:cs typeface="Calibri" pitchFamily="34" charset="-120"/>
                        </a:rPr>
                        <a:t>7 Tage</a:t>
                      </a:r>
                      <a:endParaRPr lang="en-US" sz="140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c>
                  <a:txBody>
                    <a:bodyPr/>
                    <a:lstStyle/>
                    <a:p>
                      <a:pPr indent="0" marL="0">
                        <a:buNone/>
                      </a:pPr>
                      <a:r>
                        <a:rPr lang="en-US" sz="1250" dirty="0">
                          <a:solidFill>
                            <a:srgbClr val="4A5470"/>
                          </a:solidFill>
                          <a:latin typeface="Calibri" pitchFamily="34" charset="0"/>
                          <a:ea typeface="Calibri" pitchFamily="34" charset="-122"/>
                          <a:cs typeface="Calibri" pitchFamily="34" charset="-120"/>
                        </a:rPr>
                        <a:t>Bekommt 50 % Rabatt, doppelte Testzeit — und darf die App auch gratis nutzen</a:t>
                      </a:r>
                      <a:endParaRPr lang="en-US" sz="1250" dirty="0">
                        <a:latin typeface="Calibri" charset="0"/>
                        <a:ea typeface="Calibri" charset="0"/>
                        <a:cs typeface="Calibri" charset="0"/>
                      </a:endParaRPr>
                    </a:p>
                  </a:txBody>
                  <a:tcPr marL="128016" marR="128016" marT="45720" marB="45720" anchor="ctr">
                    <a:lnL w="12700" cap="flat" cmpd="sng" algn="ctr">
                      <a:solidFill>
                        <a:srgbClr val="D7DCE9"/>
                      </a:solidFill>
                      <a:prstDash val="solid"/>
                      <a:round/>
                      <a:headEnd type="none" w="med" len="med"/>
                      <a:tailEnd type="none" w="med" len="med"/>
                    </a:lnL>
                    <a:lnR w="12700" cap="flat" cmpd="sng" algn="ctr">
                      <a:solidFill>
                        <a:srgbClr val="D7DCE9"/>
                      </a:solidFill>
                      <a:prstDash val="solid"/>
                      <a:round/>
                      <a:headEnd type="none" w="med" len="med"/>
                      <a:tailEnd type="none" w="med" len="med"/>
                    </a:lnR>
                    <a:lnT w="12700" cap="flat" cmpd="sng" algn="ctr">
                      <a:solidFill>
                        <a:srgbClr val="D7DCE9"/>
                      </a:solidFill>
                      <a:prstDash val="solid"/>
                      <a:round/>
                      <a:headEnd type="none" w="med" len="med"/>
                      <a:tailEnd type="none" w="med" len="med"/>
                    </a:lnT>
                    <a:lnB w="12700" cap="flat" cmpd="sng" algn="ctr">
                      <a:solidFill>
                        <a:srgbClr val="D7DCE9"/>
                      </a:solidFill>
                      <a:prstDash val="solid"/>
                      <a:round/>
                      <a:headEnd type="none" w="med" len="med"/>
                      <a:tailEnd type="none" w="med" len="med"/>
                    </a:lnB>
                    <a:solidFill>
                      <a:srgbClr val="FFFFFF"/>
                    </a:solidFill>
                  </a:tcPr>
                </a:tc>
              </a:tr>
            </a:tbl>
          </a:graphicData>
        </a:graphic>
      </p:graphicFrame>
      <p:sp>
        <p:nvSpPr>
          <p:cNvPr id="6" name="Shape 2"/>
          <p:cNvSpPr/>
          <p:nvPr/>
        </p:nvSpPr>
        <p:spPr>
          <a:xfrm>
            <a:off x="566928" y="3950208"/>
            <a:ext cx="3502152" cy="2157984"/>
          </a:xfrm>
          <a:prstGeom prst="roundRect">
            <a:avLst>
              <a:gd name="adj" fmla="val 3814"/>
            </a:avLst>
          </a:prstGeom>
          <a:solidFill>
            <a:srgbClr val="FBE7EF"/>
          </a:solidFill>
          <a:ln w="12700">
            <a:solidFill>
              <a:srgbClr val="FBE7EF"/>
            </a:solidFill>
            <a:prstDash val="solid"/>
          </a:ln>
        </p:spPr>
      </p:sp>
      <p:sp>
        <p:nvSpPr>
          <p:cNvPr id="7" name="Text 3"/>
          <p:cNvSpPr txBox="1"/>
          <p:nvPr/>
        </p:nvSpPr>
        <p:spPr>
          <a:xfrm>
            <a:off x="841248" y="4096512"/>
            <a:ext cx="2953512" cy="365760"/>
          </a:xfrm>
          <a:prstGeom prst="rect">
            <a:avLst/>
          </a:prstGeom>
          <a:noFill/>
          <a:ln/>
        </p:spPr>
        <p:txBody>
          <a:bodyPr wrap="square" lIns="0" tIns="0" rIns="0" bIns="0" rtlCol="0" anchor="ctr"/>
          <a:lstStyle/>
          <a:p>
            <a:pPr indent="0" marL="0">
              <a:buNone/>
            </a:pPr>
            <a:r>
              <a:rPr lang="en-US" sz="1500" b="1" dirty="0">
                <a:solidFill>
                  <a:srgbClr val="D93B72"/>
                </a:solidFill>
                <a:latin typeface="Calibri" pitchFamily="34" charset="0"/>
                <a:ea typeface="Calibri" pitchFamily="34" charset="-122"/>
                <a:cs typeface="Calibri" pitchFamily="34" charset="-120"/>
              </a:rPr>
              <a:t>Der Trial-Aufpreis</a:t>
            </a:r>
            <a:endParaRPr lang="en-US" sz="1500" dirty="0"/>
          </a:p>
        </p:txBody>
      </p:sp>
      <p:sp>
        <p:nvSpPr>
          <p:cNvPr id="8" name="Text 4"/>
          <p:cNvSpPr txBox="1"/>
          <p:nvPr/>
        </p:nvSpPr>
        <p:spPr>
          <a:xfrm>
            <a:off x="841248" y="4480560"/>
            <a:ext cx="2953512" cy="1499616"/>
          </a:xfrm>
          <a:prstGeom prst="rect">
            <a:avLst/>
          </a:prstGeom>
          <a:noFill/>
          <a:ln/>
        </p:spPr>
        <p:txBody>
          <a:bodyPr wrap="square" lIns="0" tIns="0" rIns="0" bIns="0" rtlCol="0" anchor="t"/>
          <a:lstStyle/>
          <a:p>
            <a:pPr indent="0" marL="0">
              <a:lnSpc>
                <a:spcPct val="108000"/>
              </a:lnSpc>
              <a:buNone/>
            </a:pPr>
            <a:r>
              <a:rPr lang="en-US" sz="1200" dirty="0">
                <a:solidFill>
                  <a:srgbClr val="4A5470"/>
                </a:solidFill>
                <a:latin typeface="Calibri" pitchFamily="34" charset="0"/>
                <a:ea typeface="Calibri" pitchFamily="34" charset="-122"/>
                <a:cs typeface="Calibri" pitchFamily="34" charset="-120"/>
              </a:rPr>
              <a:t>Wir bauen auf Folie 18 Vertrauen auf („wir erinnern dich rechtzeitig") und verlangen auf Folie 19 zehn Euro dafür, dass jemand es in Anspruch nimmt. Der Nutzer liest daraus: Die rechnen damit, dass ich kündige.</a:t>
            </a:r>
            <a:endParaRPr lang="en-US" sz="1200" dirty="0"/>
          </a:p>
        </p:txBody>
      </p:sp>
      <p:sp>
        <p:nvSpPr>
          <p:cNvPr id="9" name="Shape 5"/>
          <p:cNvSpPr/>
          <p:nvPr/>
        </p:nvSpPr>
        <p:spPr>
          <a:xfrm>
            <a:off x="4343400" y="3950208"/>
            <a:ext cx="3502152" cy="2157984"/>
          </a:xfrm>
          <a:prstGeom prst="roundRect">
            <a:avLst>
              <a:gd name="adj" fmla="val 3814"/>
            </a:avLst>
          </a:prstGeom>
          <a:solidFill>
            <a:srgbClr val="FBF0DC"/>
          </a:solidFill>
          <a:ln w="12700">
            <a:solidFill>
              <a:srgbClr val="FBF0DC"/>
            </a:solidFill>
            <a:prstDash val="solid"/>
          </a:ln>
        </p:spPr>
      </p:sp>
      <p:sp>
        <p:nvSpPr>
          <p:cNvPr id="10" name="Text 6"/>
          <p:cNvSpPr txBox="1"/>
          <p:nvPr/>
        </p:nvSpPr>
        <p:spPr>
          <a:xfrm>
            <a:off x="4617720" y="4096512"/>
            <a:ext cx="2953512" cy="365760"/>
          </a:xfrm>
          <a:prstGeom prst="rect">
            <a:avLst/>
          </a:prstGeom>
          <a:noFill/>
          <a:ln/>
        </p:spPr>
        <p:txBody>
          <a:bodyPr wrap="square" lIns="0" tIns="0" rIns="0" bIns="0" rtlCol="0" anchor="ctr"/>
          <a:lstStyle/>
          <a:p>
            <a:pPr indent="0" marL="0">
              <a:buNone/>
            </a:pPr>
            <a:r>
              <a:rPr lang="en-US" sz="1500" b="1" dirty="0">
                <a:solidFill>
                  <a:srgbClr val="B0761A"/>
                </a:solidFill>
                <a:latin typeface="Calibri" pitchFamily="34" charset="0"/>
                <a:ea typeface="Calibri" pitchFamily="34" charset="-122"/>
                <a:cs typeface="Calibri" pitchFamily="34" charset="-120"/>
              </a:rPr>
              <a:t>Das Ausstiegs-Angebot</a:t>
            </a:r>
            <a:endParaRPr lang="en-US" sz="1500" dirty="0"/>
          </a:p>
        </p:txBody>
      </p:sp>
      <p:sp>
        <p:nvSpPr>
          <p:cNvPr id="11" name="Text 7"/>
          <p:cNvSpPr txBox="1"/>
          <p:nvPr/>
        </p:nvSpPr>
        <p:spPr>
          <a:xfrm>
            <a:off x="4617720" y="4480560"/>
            <a:ext cx="2953512" cy="1499616"/>
          </a:xfrm>
          <a:prstGeom prst="rect">
            <a:avLst/>
          </a:prstGeom>
          <a:noFill/>
          <a:ln/>
        </p:spPr>
        <p:txBody>
          <a:bodyPr wrap="square" lIns="0" tIns="0" rIns="0" bIns="0" rtlCol="0" anchor="t"/>
          <a:lstStyle/>
          <a:p>
            <a:pPr indent="0" marL="0">
              <a:lnSpc>
                <a:spcPct val="108000"/>
              </a:lnSpc>
              <a:buNone/>
            </a:pPr>
            <a:r>
              <a:rPr lang="en-US" sz="1200" dirty="0">
                <a:solidFill>
                  <a:srgbClr val="4A5470"/>
                </a:solidFill>
                <a:latin typeface="Calibri" pitchFamily="34" charset="0"/>
                <a:ea typeface="Calibri" pitchFamily="34" charset="-122"/>
                <a:cs typeface="Calibri" pitchFamily="34" charset="-120"/>
              </a:rPr>
              <a:t>Der rationale Zug für jeden Nutzer ist, die Paywall zu schließen. Wenn ein Sofort-Käufer je erfährt, dass sein Kommilitone 50 € gezahlt hat, haben wir eine Rückerstattung und eine Ein-Stern-Bewertung. Unser Ein-Tages-Abo vom 03.08. könnte genau das gewesen sein.</a:t>
            </a:r>
            <a:endParaRPr lang="en-US" sz="1200" dirty="0"/>
          </a:p>
        </p:txBody>
      </p:sp>
      <p:sp>
        <p:nvSpPr>
          <p:cNvPr id="12" name="Shape 8"/>
          <p:cNvSpPr/>
          <p:nvPr/>
        </p:nvSpPr>
        <p:spPr>
          <a:xfrm>
            <a:off x="8119872" y="3950208"/>
            <a:ext cx="3502152" cy="2157984"/>
          </a:xfrm>
          <a:prstGeom prst="roundRect">
            <a:avLst>
              <a:gd name="adj" fmla="val 3814"/>
            </a:avLst>
          </a:prstGeom>
          <a:solidFill>
            <a:srgbClr val="E3F2EC"/>
          </a:solidFill>
          <a:ln w="12700">
            <a:solidFill>
              <a:srgbClr val="E3F2EC"/>
            </a:solidFill>
            <a:prstDash val="solid"/>
          </a:ln>
        </p:spPr>
      </p:sp>
      <p:sp>
        <p:nvSpPr>
          <p:cNvPr id="13" name="Text 9"/>
          <p:cNvSpPr txBox="1"/>
          <p:nvPr/>
        </p:nvSpPr>
        <p:spPr>
          <a:xfrm>
            <a:off x="8394192" y="4096512"/>
            <a:ext cx="2953512" cy="365760"/>
          </a:xfrm>
          <a:prstGeom prst="rect">
            <a:avLst/>
          </a:prstGeom>
          <a:noFill/>
          <a:ln/>
        </p:spPr>
        <p:txBody>
          <a:bodyPr wrap="square" lIns="0" tIns="0" rIns="0" bIns="0" rtlCol="0" anchor="ctr"/>
          <a:lstStyle/>
          <a:p>
            <a:pPr indent="0" marL="0">
              <a:buNone/>
            </a:pPr>
            <a:r>
              <a:rPr lang="en-US" sz="1500" b="1" dirty="0">
                <a:solidFill>
                  <a:srgbClr val="1B7F63"/>
                </a:solidFill>
                <a:latin typeface="Calibri" pitchFamily="34" charset="0"/>
                <a:ea typeface="Calibri" pitchFamily="34" charset="-122"/>
                <a:cs typeface="Calibri" pitchFamily="34" charset="-120"/>
              </a:rPr>
              <a:t>Die gute Nachricht</a:t>
            </a:r>
            <a:endParaRPr lang="en-US" sz="1500" dirty="0"/>
          </a:p>
        </p:txBody>
      </p:sp>
      <p:sp>
        <p:nvSpPr>
          <p:cNvPr id="14" name="Text 10"/>
          <p:cNvSpPr txBox="1"/>
          <p:nvPr/>
        </p:nvSpPr>
        <p:spPr>
          <a:xfrm>
            <a:off x="8394192" y="4480560"/>
            <a:ext cx="2953512" cy="1499616"/>
          </a:xfrm>
          <a:prstGeom prst="rect">
            <a:avLst/>
          </a:prstGeom>
          <a:noFill/>
          <a:ln/>
        </p:spPr>
        <p:txBody>
          <a:bodyPr wrap="square" lIns="0" tIns="0" rIns="0" bIns="0" rtlCol="0" anchor="t"/>
          <a:lstStyle/>
          <a:p>
            <a:pPr indent="0" marL="0">
              <a:lnSpc>
                <a:spcPct val="108000"/>
              </a:lnSpc>
              <a:buNone/>
            </a:pPr>
            <a:r>
              <a:rPr lang="en-US" sz="1200" dirty="0">
                <a:solidFill>
                  <a:srgbClr val="4A5470"/>
                </a:solidFill>
                <a:latin typeface="Calibri" pitchFamily="34" charset="0"/>
                <a:ea typeface="Calibri" pitchFamily="34" charset="-122"/>
                <a:cs typeface="Calibri" pitchFamily="34" charset="-120"/>
              </a:rPr>
              <a:t>Auf dem Rabatt-Pfad sind wir mit ~50 €/Jahr nicht teuer, sondern günstig — das sind gut 4 € im Monat. Teuer ist nur das 17-€-Monatsabo. Und ein 7-Tage-Trial existiert bereits im System, nur auf dem falschen Pfad.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141A2E"/>
                </a:solidFill>
                <a:latin typeface="Cambria" pitchFamily="34" charset="0"/>
                <a:ea typeface="Cambria" pitchFamily="34" charset="-122"/>
                <a:cs typeface="Cambria" pitchFamily="34" charset="-120"/>
              </a:rPr>
              <a:t>Was nicht das Problem ist</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4A5470"/>
                </a:solidFill>
                <a:latin typeface="Calibri" pitchFamily="34" charset="0"/>
                <a:ea typeface="Calibri" pitchFamily="34" charset="-122"/>
                <a:cs typeface="Calibri" pitchFamily="34" charset="-120"/>
              </a:rPr>
              <a:t>Damit wir nicht an der falschen Stelle reparieren</a:t>
            </a:r>
            <a:endParaRPr lang="en-US" sz="1450" dirty="0"/>
          </a:p>
        </p:txBody>
      </p:sp>
      <p:sp>
        <p:nvSpPr>
          <p:cNvPr id="5" name="Shape 2"/>
          <p:cNvSpPr/>
          <p:nvPr/>
        </p:nvSpPr>
        <p:spPr>
          <a:xfrm>
            <a:off x="566928" y="1627632"/>
            <a:ext cx="11055096" cy="1481328"/>
          </a:xfrm>
          <a:prstGeom prst="roundRect">
            <a:avLst>
              <a:gd name="adj" fmla="val 5556"/>
            </a:avLst>
          </a:prstGeom>
          <a:solidFill>
            <a:srgbClr val="E3F2EC"/>
          </a:solidFill>
          <a:ln w="12700">
            <a:solidFill>
              <a:srgbClr val="E3F2EC"/>
            </a:solidFill>
            <a:prstDash val="solid"/>
          </a:ln>
        </p:spPr>
      </p:sp>
      <p:sp>
        <p:nvSpPr>
          <p:cNvPr id="6" name="Text 3"/>
          <p:cNvSpPr txBox="1"/>
          <p:nvPr/>
        </p:nvSpPr>
        <p:spPr>
          <a:xfrm>
            <a:off x="950976" y="1773936"/>
            <a:ext cx="10287000" cy="475488"/>
          </a:xfrm>
          <a:prstGeom prst="rect">
            <a:avLst/>
          </a:prstGeom>
          <a:noFill/>
          <a:ln/>
        </p:spPr>
        <p:txBody>
          <a:bodyPr wrap="square" lIns="0" tIns="0" rIns="0" bIns="0" rtlCol="0" anchor="ctr"/>
          <a:lstStyle/>
          <a:p>
            <a:pPr indent="0" marL="0">
              <a:buNone/>
            </a:pPr>
            <a:r>
              <a:rPr lang="en-US" sz="2400" b="1" dirty="0">
                <a:solidFill>
                  <a:srgbClr val="1B7F63"/>
                </a:solidFill>
                <a:latin typeface="Cambria" pitchFamily="34" charset="0"/>
                <a:ea typeface="Cambria" pitchFamily="34" charset="-122"/>
                <a:cs typeface="Cambria" pitchFamily="34" charset="-120"/>
              </a:rPr>
              <a:t>Die Bedienung trägt.</a:t>
            </a:r>
            <a:endParaRPr lang="en-US" sz="2400" dirty="0"/>
          </a:p>
        </p:txBody>
      </p:sp>
      <p:sp>
        <p:nvSpPr>
          <p:cNvPr id="7" name="Text 4"/>
          <p:cNvSpPr txBox="1"/>
          <p:nvPr/>
        </p:nvSpPr>
        <p:spPr>
          <a:xfrm>
            <a:off x="950976" y="2267712"/>
            <a:ext cx="10287000" cy="713232"/>
          </a:xfrm>
          <a:prstGeom prst="rect">
            <a:avLst/>
          </a:prstGeom>
          <a:noFill/>
          <a:ln/>
        </p:spPr>
        <p:txBody>
          <a:bodyPr wrap="square" lIns="0" tIns="0" rIns="0" bIns="0" rtlCol="0" anchor="t"/>
          <a:lstStyle/>
          <a:p>
            <a:pPr indent="0" marL="0">
              <a:lnSpc>
                <a:spcPct val="106000"/>
              </a:lnSpc>
              <a:buNone/>
            </a:pPr>
            <a:r>
              <a:rPr lang="en-US" sz="1400" dirty="0">
                <a:solidFill>
                  <a:srgbClr val="141A2E"/>
                </a:solidFill>
                <a:latin typeface="Calibri" pitchFamily="34" charset="0"/>
                <a:ea typeface="Calibri" pitchFamily="34" charset="-122"/>
                <a:cs typeface="Calibri" pitchFamily="34" charset="-120"/>
              </a:rPr>
              <a:t>Studenten, denen wir die App persönlich gezeigt haben, fanden sie gut. Wer einen Trial aktiviert, kommt in den PostHog-Aufzeichnungen zurecht — verbesserungsfähig, aber okay. Es ist kein Usability- und kein Verständnisproblem.</a:t>
            </a:r>
            <a:endParaRPr lang="en-US" sz="1400" dirty="0"/>
          </a:p>
        </p:txBody>
      </p:sp>
      <p:sp>
        <p:nvSpPr>
          <p:cNvPr id="8" name="Text 5"/>
          <p:cNvSpPr txBox="1"/>
          <p:nvPr/>
        </p:nvSpPr>
        <p:spPr>
          <a:xfrm>
            <a:off x="566928" y="3310128"/>
            <a:ext cx="11055096" cy="365760"/>
          </a:xfrm>
          <a:prstGeom prst="rect">
            <a:avLst/>
          </a:prstGeom>
          <a:noFill/>
          <a:ln/>
        </p:spPr>
        <p:txBody>
          <a:bodyPr wrap="square" lIns="0" tIns="0" rIns="0" bIns="0" rtlCol="0" anchor="ctr"/>
          <a:lstStyle/>
          <a:p>
            <a:pPr indent="0" marL="0">
              <a:buNone/>
            </a:pPr>
            <a:r>
              <a:rPr lang="en-US" sz="1450" b="1" dirty="0">
                <a:solidFill>
                  <a:srgbClr val="141A2E"/>
                </a:solidFill>
                <a:latin typeface="Calibri" pitchFamily="34" charset="0"/>
                <a:ea typeface="Calibri" pitchFamily="34" charset="-122"/>
                <a:cs typeface="Calibri" pitchFamily="34" charset="-120"/>
              </a:rPr>
              <a:t>Damit bleiben genau drei Kandidaten — und alle drei sind Packaging-Fragen, keine Entwicklungsfragen:</a:t>
            </a:r>
            <a:endParaRPr lang="en-US" sz="1450" dirty="0"/>
          </a:p>
        </p:txBody>
      </p:sp>
      <p:sp>
        <p:nvSpPr>
          <p:cNvPr id="9" name="Shape 6"/>
          <p:cNvSpPr/>
          <p:nvPr/>
        </p:nvSpPr>
        <p:spPr>
          <a:xfrm>
            <a:off x="566928" y="3803904"/>
            <a:ext cx="3489960" cy="2048256"/>
          </a:xfrm>
          <a:prstGeom prst="roundRect">
            <a:avLst>
              <a:gd name="adj" fmla="val 4018"/>
            </a:avLst>
          </a:prstGeom>
          <a:solidFill>
            <a:srgbClr val="F1F3F8"/>
          </a:solidFill>
          <a:ln w="12700">
            <a:solidFill>
              <a:srgbClr val="F1F3F8"/>
            </a:solidFill>
            <a:prstDash val="solid"/>
          </a:ln>
        </p:spPr>
      </p:sp>
      <p:sp>
        <p:nvSpPr>
          <p:cNvPr id="10" name="Shape 7"/>
          <p:cNvSpPr/>
          <p:nvPr/>
        </p:nvSpPr>
        <p:spPr>
          <a:xfrm>
            <a:off x="859536" y="4041648"/>
            <a:ext cx="384048" cy="384048"/>
          </a:xfrm>
          <a:prstGeom prst="roundRect">
            <a:avLst>
              <a:gd name="adj" fmla="val 28571"/>
            </a:avLst>
          </a:prstGeom>
          <a:solidFill>
            <a:srgbClr val="141A2E"/>
          </a:solidFill>
          <a:ln w="12700">
            <a:solidFill>
              <a:srgbClr val="141A2E"/>
            </a:solidFill>
            <a:prstDash val="solid"/>
          </a:ln>
        </p:spPr>
      </p:sp>
      <p:sp>
        <p:nvSpPr>
          <p:cNvPr id="11" name="Text 8"/>
          <p:cNvSpPr txBox="1"/>
          <p:nvPr/>
        </p:nvSpPr>
        <p:spPr>
          <a:xfrm>
            <a:off x="859536" y="40416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9"/>
          <p:cNvSpPr txBox="1"/>
          <p:nvPr/>
        </p:nvSpPr>
        <p:spPr>
          <a:xfrm>
            <a:off x="1353312" y="4041648"/>
            <a:ext cx="2410968" cy="384048"/>
          </a:xfrm>
          <a:prstGeom prst="rect">
            <a:avLst/>
          </a:prstGeom>
          <a:noFill/>
          <a:ln/>
        </p:spPr>
        <p:txBody>
          <a:bodyPr wrap="square" lIns="0" tIns="0" rIns="0" bIns="0" rtlCol="0" anchor="ctr"/>
          <a:lstStyle/>
          <a:p>
            <a:pPr indent="0" marL="0">
              <a:buNone/>
            </a:pPr>
            <a:r>
              <a:rPr lang="en-US" sz="1700" b="1" dirty="0">
                <a:solidFill>
                  <a:srgbClr val="141A2E"/>
                </a:solidFill>
                <a:latin typeface="Calibri" pitchFamily="34" charset="0"/>
                <a:ea typeface="Calibri" pitchFamily="34" charset="-122"/>
                <a:cs typeface="Calibri" pitchFamily="34" charset="-120"/>
              </a:rPr>
              <a:t>Der Preis</a:t>
            </a:r>
            <a:endParaRPr lang="en-US" sz="1700" dirty="0"/>
          </a:p>
        </p:txBody>
      </p:sp>
      <p:sp>
        <p:nvSpPr>
          <p:cNvPr id="13" name="Text 10"/>
          <p:cNvSpPr txBox="1"/>
          <p:nvPr/>
        </p:nvSpPr>
        <p:spPr>
          <a:xfrm>
            <a:off x="859536" y="4572000"/>
            <a:ext cx="2904744" cy="1133856"/>
          </a:xfrm>
          <a:prstGeom prst="rect">
            <a:avLst/>
          </a:prstGeom>
          <a:noFill/>
          <a:ln/>
        </p:spPr>
        <p:txBody>
          <a:bodyPr wrap="square" lIns="0" tIns="0" rIns="0" bIns="0" rtlCol="0" anchor="t"/>
          <a:lstStyle/>
          <a:p>
            <a:pPr indent="0" marL="0">
              <a:lnSpc>
                <a:spcPct val="108000"/>
              </a:lnSpc>
              <a:buNone/>
            </a:pPr>
            <a:r>
              <a:rPr lang="en-US" sz="1250" dirty="0">
                <a:solidFill>
                  <a:srgbClr val="4A5470"/>
                </a:solidFill>
                <a:latin typeface="Calibri" pitchFamily="34" charset="0"/>
                <a:ea typeface="Calibri" pitchFamily="34" charset="-122"/>
                <a:cs typeface="Calibri" pitchFamily="34" charset="-120"/>
              </a:rPr>
              <a:t>17 € im Monat ist für einen Studenten eine echte Budgetposition — und wir verlangen die Entscheidung, bevor er den Wert gesehen hat.</a:t>
            </a:r>
            <a:endParaRPr lang="en-US" sz="1250" dirty="0"/>
          </a:p>
        </p:txBody>
      </p:sp>
      <p:sp>
        <p:nvSpPr>
          <p:cNvPr id="14" name="Shape 11"/>
          <p:cNvSpPr/>
          <p:nvPr/>
        </p:nvSpPr>
        <p:spPr>
          <a:xfrm>
            <a:off x="4349496" y="3803904"/>
            <a:ext cx="3489960" cy="2048256"/>
          </a:xfrm>
          <a:prstGeom prst="roundRect">
            <a:avLst>
              <a:gd name="adj" fmla="val 4018"/>
            </a:avLst>
          </a:prstGeom>
          <a:solidFill>
            <a:srgbClr val="F1F3F8"/>
          </a:solidFill>
          <a:ln w="12700">
            <a:solidFill>
              <a:srgbClr val="F1F3F8"/>
            </a:solidFill>
            <a:prstDash val="solid"/>
          </a:ln>
        </p:spPr>
      </p:sp>
      <p:sp>
        <p:nvSpPr>
          <p:cNvPr id="15" name="Shape 12"/>
          <p:cNvSpPr/>
          <p:nvPr/>
        </p:nvSpPr>
        <p:spPr>
          <a:xfrm>
            <a:off x="4642104" y="4041648"/>
            <a:ext cx="384048" cy="384048"/>
          </a:xfrm>
          <a:prstGeom prst="roundRect">
            <a:avLst>
              <a:gd name="adj" fmla="val 28571"/>
            </a:avLst>
          </a:prstGeom>
          <a:solidFill>
            <a:srgbClr val="141A2E"/>
          </a:solidFill>
          <a:ln w="12700">
            <a:solidFill>
              <a:srgbClr val="141A2E"/>
            </a:solidFill>
            <a:prstDash val="solid"/>
          </a:ln>
        </p:spPr>
      </p:sp>
      <p:sp>
        <p:nvSpPr>
          <p:cNvPr id="16" name="Text 13"/>
          <p:cNvSpPr txBox="1"/>
          <p:nvPr/>
        </p:nvSpPr>
        <p:spPr>
          <a:xfrm>
            <a:off x="4642104" y="40416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txBox="1"/>
          <p:nvPr/>
        </p:nvSpPr>
        <p:spPr>
          <a:xfrm>
            <a:off x="5135880" y="4041648"/>
            <a:ext cx="2410968" cy="384048"/>
          </a:xfrm>
          <a:prstGeom prst="rect">
            <a:avLst/>
          </a:prstGeom>
          <a:noFill/>
          <a:ln/>
        </p:spPr>
        <p:txBody>
          <a:bodyPr wrap="square" lIns="0" tIns="0" rIns="0" bIns="0" rtlCol="0" anchor="ctr"/>
          <a:lstStyle/>
          <a:p>
            <a:pPr indent="0" marL="0">
              <a:buNone/>
            </a:pPr>
            <a:r>
              <a:rPr lang="en-US" sz="1700" b="1" dirty="0">
                <a:solidFill>
                  <a:srgbClr val="141A2E"/>
                </a:solidFill>
                <a:latin typeface="Calibri" pitchFamily="34" charset="0"/>
                <a:ea typeface="Calibri" pitchFamily="34" charset="-122"/>
                <a:cs typeface="Calibri" pitchFamily="34" charset="-120"/>
              </a:rPr>
              <a:t>Der Zeitpunkt</a:t>
            </a:r>
            <a:endParaRPr lang="en-US" sz="1700" dirty="0"/>
          </a:p>
        </p:txBody>
      </p:sp>
      <p:sp>
        <p:nvSpPr>
          <p:cNvPr id="18" name="Text 15"/>
          <p:cNvSpPr txBox="1"/>
          <p:nvPr/>
        </p:nvSpPr>
        <p:spPr>
          <a:xfrm>
            <a:off x="4642104" y="4572000"/>
            <a:ext cx="2904744" cy="1133856"/>
          </a:xfrm>
          <a:prstGeom prst="rect">
            <a:avLst/>
          </a:prstGeom>
          <a:noFill/>
          <a:ln/>
        </p:spPr>
        <p:txBody>
          <a:bodyPr wrap="square" lIns="0" tIns="0" rIns="0" bIns="0" rtlCol="0" anchor="t"/>
          <a:lstStyle/>
          <a:p>
            <a:pPr indent="0" marL="0">
              <a:lnSpc>
                <a:spcPct val="108000"/>
              </a:lnSpc>
              <a:buNone/>
            </a:pPr>
            <a:r>
              <a:rPr lang="en-US" sz="1250" dirty="0">
                <a:solidFill>
                  <a:srgbClr val="4A5470"/>
                </a:solidFill>
                <a:latin typeface="Calibri" pitchFamily="34" charset="0"/>
                <a:ea typeface="Calibri" pitchFamily="34" charset="-122"/>
                <a:cs typeface="Calibri" pitchFamily="34" charset="-120"/>
              </a:rPr>
              <a:t>3 Tage reichen nicht, um „ich kann es hinterher wirklich" zu beweisen. Dieser Beweis entsteht erst, wenn die App nach Tagen etwas wieder abfragt.</a:t>
            </a:r>
            <a:endParaRPr lang="en-US" sz="1250" dirty="0"/>
          </a:p>
        </p:txBody>
      </p:sp>
      <p:sp>
        <p:nvSpPr>
          <p:cNvPr id="19" name="Shape 16"/>
          <p:cNvSpPr/>
          <p:nvPr/>
        </p:nvSpPr>
        <p:spPr>
          <a:xfrm>
            <a:off x="8132064" y="3803904"/>
            <a:ext cx="3489960" cy="2048256"/>
          </a:xfrm>
          <a:prstGeom prst="roundRect">
            <a:avLst>
              <a:gd name="adj" fmla="val 4018"/>
            </a:avLst>
          </a:prstGeom>
          <a:solidFill>
            <a:srgbClr val="F1F3F8"/>
          </a:solidFill>
          <a:ln w="12700">
            <a:solidFill>
              <a:srgbClr val="F1F3F8"/>
            </a:solidFill>
            <a:prstDash val="solid"/>
          </a:ln>
        </p:spPr>
      </p:sp>
      <p:sp>
        <p:nvSpPr>
          <p:cNvPr id="20" name="Shape 17"/>
          <p:cNvSpPr/>
          <p:nvPr/>
        </p:nvSpPr>
        <p:spPr>
          <a:xfrm>
            <a:off x="8424672" y="4041648"/>
            <a:ext cx="384048" cy="384048"/>
          </a:xfrm>
          <a:prstGeom prst="roundRect">
            <a:avLst>
              <a:gd name="adj" fmla="val 28571"/>
            </a:avLst>
          </a:prstGeom>
          <a:solidFill>
            <a:srgbClr val="141A2E"/>
          </a:solidFill>
          <a:ln w="12700">
            <a:solidFill>
              <a:srgbClr val="141A2E"/>
            </a:solidFill>
            <a:prstDash val="solid"/>
          </a:ln>
        </p:spPr>
      </p:sp>
      <p:sp>
        <p:nvSpPr>
          <p:cNvPr id="21" name="Text 18"/>
          <p:cNvSpPr txBox="1"/>
          <p:nvPr/>
        </p:nvSpPr>
        <p:spPr>
          <a:xfrm>
            <a:off x="8424672" y="40416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19"/>
          <p:cNvSpPr txBox="1"/>
          <p:nvPr/>
        </p:nvSpPr>
        <p:spPr>
          <a:xfrm>
            <a:off x="8918448" y="4041648"/>
            <a:ext cx="2410968" cy="384048"/>
          </a:xfrm>
          <a:prstGeom prst="rect">
            <a:avLst/>
          </a:prstGeom>
          <a:noFill/>
          <a:ln/>
        </p:spPr>
        <p:txBody>
          <a:bodyPr wrap="square" lIns="0" tIns="0" rIns="0" bIns="0" rtlCol="0" anchor="ctr"/>
          <a:lstStyle/>
          <a:p>
            <a:pPr indent="0" marL="0">
              <a:buNone/>
            </a:pPr>
            <a:r>
              <a:rPr lang="en-US" sz="1700" b="1" dirty="0">
                <a:solidFill>
                  <a:srgbClr val="141A2E"/>
                </a:solidFill>
                <a:latin typeface="Calibri" pitchFamily="34" charset="0"/>
                <a:ea typeface="Calibri" pitchFamily="34" charset="-122"/>
                <a:cs typeface="Calibri" pitchFamily="34" charset="-120"/>
              </a:rPr>
              <a:t>Die weiche Landung</a:t>
            </a:r>
            <a:endParaRPr lang="en-US" sz="1700" dirty="0"/>
          </a:p>
        </p:txBody>
      </p:sp>
      <p:sp>
        <p:nvSpPr>
          <p:cNvPr id="23" name="Text 20"/>
          <p:cNvSpPr txBox="1"/>
          <p:nvPr/>
        </p:nvSpPr>
        <p:spPr>
          <a:xfrm>
            <a:off x="8424672" y="4572000"/>
            <a:ext cx="2904744" cy="1133856"/>
          </a:xfrm>
          <a:prstGeom prst="rect">
            <a:avLst/>
          </a:prstGeom>
          <a:noFill/>
          <a:ln/>
        </p:spPr>
        <p:txBody>
          <a:bodyPr wrap="square" lIns="0" tIns="0" rIns="0" bIns="0" rtlCol="0" anchor="t"/>
          <a:lstStyle/>
          <a:p>
            <a:pPr indent="0" marL="0">
              <a:lnSpc>
                <a:spcPct val="108000"/>
              </a:lnSpc>
              <a:buNone/>
            </a:pPr>
            <a:r>
              <a:rPr lang="en-US" sz="1250" dirty="0">
                <a:solidFill>
                  <a:srgbClr val="4A5470"/>
                </a:solidFill>
                <a:latin typeface="Calibri" pitchFamily="34" charset="0"/>
                <a:ea typeface="Calibri" pitchFamily="34" charset="-122"/>
                <a:cs typeface="Calibri" pitchFamily="34" charset="-120"/>
              </a:rPr>
              <a:t>Wer den Trial kündigt, behält bei uns die Gratis-Version. Kündigen ist dadurch fast kostenlos — und danach fragen wir nie wieder nach.</a:t>
            </a:r>
            <a:endParaRPr lang="en-US" sz="1250" dirty="0"/>
          </a:p>
        </p:txBody>
      </p:sp>
      <p:sp>
        <p:nvSpPr>
          <p:cNvPr id="24" name="Text 21"/>
          <p:cNvSpPr txBox="1"/>
          <p:nvPr/>
        </p:nvSpPr>
        <p:spPr>
          <a:xfrm>
            <a:off x="566928" y="6236208"/>
            <a:ext cx="11055096" cy="347472"/>
          </a:xfrm>
          <a:prstGeom prst="rect">
            <a:avLst/>
          </a:prstGeom>
          <a:noFill/>
          <a:ln/>
        </p:spPr>
        <p:txBody>
          <a:bodyPr wrap="square" lIns="0" tIns="0" rIns="0" bIns="0" rtlCol="0" anchor="ctr"/>
          <a:lstStyle/>
          <a:p>
            <a:pPr indent="0" marL="0">
              <a:buNone/>
            </a:pPr>
            <a:r>
              <a:rPr lang="en-US" sz="1050" i="1" dirty="0">
                <a:solidFill>
                  <a:srgbClr val="7C86A2"/>
                </a:solidFill>
                <a:latin typeface="Calibri" pitchFamily="34" charset="0"/>
                <a:ea typeface="Calibri" pitchFamily="34" charset="-122"/>
                <a:cs typeface="Calibri" pitchFamily="34" charset="-120"/>
              </a:rPr>
              <a:t>Keiner dieser drei Punkte wird durch mehr Downloads besser.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141A2E"/>
                </a:solidFill>
                <a:latin typeface="Cambria" pitchFamily="34" charset="0"/>
                <a:ea typeface="Cambria" pitchFamily="34" charset="-122"/>
                <a:cs typeface="Cambria" pitchFamily="34" charset="-120"/>
              </a:rPr>
              <a:t>Agentur? Nein — und das ist keine Meinung</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4A5470"/>
                </a:solidFill>
                <a:latin typeface="Calibri" pitchFamily="34" charset="0"/>
                <a:ea typeface="Calibri" pitchFamily="34" charset="-122"/>
                <a:cs typeface="Calibri" pitchFamily="34" charset="-120"/>
              </a:rPr>
              <a:t>Angebote von Hulo Media, Appfillip und Founderblock, gerechnet mit unseren echten Zahlen</a:t>
            </a:r>
            <a:endParaRPr lang="en-US" sz="1450" dirty="0"/>
          </a:p>
        </p:txBody>
      </p:sp>
      <p:sp>
        <p:nvSpPr>
          <p:cNvPr id="5" name="Shape 2"/>
          <p:cNvSpPr/>
          <p:nvPr/>
        </p:nvSpPr>
        <p:spPr>
          <a:xfrm>
            <a:off x="566928" y="1737360"/>
            <a:ext cx="2571750" cy="2103120"/>
          </a:xfrm>
          <a:prstGeom prst="roundRect">
            <a:avLst>
              <a:gd name="adj" fmla="val 3913"/>
            </a:avLst>
          </a:prstGeom>
          <a:solidFill>
            <a:srgbClr val="F1F3F8"/>
          </a:solidFill>
          <a:ln w="12700">
            <a:solidFill>
              <a:srgbClr val="F1F3F8"/>
            </a:solidFill>
            <a:prstDash val="solid"/>
          </a:ln>
        </p:spPr>
      </p:sp>
      <p:sp>
        <p:nvSpPr>
          <p:cNvPr id="6" name="Text 3"/>
          <p:cNvSpPr txBox="1"/>
          <p:nvPr/>
        </p:nvSpPr>
        <p:spPr>
          <a:xfrm>
            <a:off x="749808" y="1993392"/>
            <a:ext cx="2205990" cy="731520"/>
          </a:xfrm>
          <a:prstGeom prst="rect">
            <a:avLst/>
          </a:prstGeom>
          <a:noFill/>
          <a:ln/>
        </p:spPr>
        <p:txBody>
          <a:bodyPr wrap="square" lIns="0" tIns="0" rIns="0" bIns="0" rtlCol="0" anchor="ctr"/>
          <a:lstStyle/>
          <a:p>
            <a:pPr algn="ctr" indent="0" marL="0">
              <a:buNone/>
            </a:pPr>
            <a:r>
              <a:rPr lang="en-US" sz="3200" b="1" dirty="0">
                <a:solidFill>
                  <a:srgbClr val="141A2E"/>
                </a:solidFill>
                <a:latin typeface="Calibri" pitchFamily="34" charset="0"/>
                <a:ea typeface="Calibri" pitchFamily="34" charset="-122"/>
                <a:cs typeface="Calibri" pitchFamily="34" charset="-120"/>
              </a:rPr>
              <a:t>2.000 €</a:t>
            </a:r>
            <a:endParaRPr lang="en-US" sz="3200" dirty="0"/>
          </a:p>
        </p:txBody>
      </p:sp>
      <p:sp>
        <p:nvSpPr>
          <p:cNvPr id="7" name="Text 4"/>
          <p:cNvSpPr txBox="1"/>
          <p:nvPr/>
        </p:nvSpPr>
        <p:spPr>
          <a:xfrm>
            <a:off x="749808" y="2761488"/>
            <a:ext cx="2205990" cy="932688"/>
          </a:xfrm>
          <a:prstGeom prst="rect">
            <a:avLst/>
          </a:prstGeom>
          <a:noFill/>
          <a:ln/>
        </p:spPr>
        <p:txBody>
          <a:bodyPr wrap="square" lIns="0" tIns="0" rIns="0" bIns="0" rtlCol="0" anchor="t"/>
          <a:lstStyle/>
          <a:p>
            <a:pPr algn="ctr" indent="0" marL="0">
              <a:lnSpc>
                <a:spcPct val="108000"/>
              </a:lnSpc>
              <a:buNone/>
            </a:pPr>
            <a:r>
              <a:rPr lang="en-US" sz="1200" dirty="0">
                <a:solidFill>
                  <a:srgbClr val="4A5470"/>
                </a:solidFill>
                <a:latin typeface="Calibri" pitchFamily="34" charset="0"/>
                <a:ea typeface="Calibri" pitchFamily="34" charset="-122"/>
                <a:cs typeface="Calibri" pitchFamily="34" charset="-120"/>
              </a:rPr>
              <a:t>Budget für rund 800 Downloads</a:t>
            </a:r>
            <a:endParaRPr lang="en-US" sz="1200" dirty="0"/>
          </a:p>
          <a:p>
            <a:pPr algn="ctr" indent="0" marL="0">
              <a:lnSpc>
                <a:spcPct val="108000"/>
              </a:lnSpc>
              <a:buNone/>
            </a:pPr>
            <a:r>
              <a:rPr lang="en-US" sz="1200" dirty="0">
                <a:solidFill>
                  <a:srgbClr val="4A5470"/>
                </a:solidFill>
                <a:latin typeface="Calibri" pitchFamily="34" charset="0"/>
                <a:ea typeface="Calibri" pitchFamily="34" charset="-122"/>
                <a:cs typeface="Calibri" pitchFamily="34" charset="-120"/>
              </a:rPr>
              <a:t>à 2,50 €</a:t>
            </a:r>
            <a:endParaRPr lang="en-US" sz="1200" dirty="0"/>
          </a:p>
        </p:txBody>
      </p:sp>
      <p:sp>
        <p:nvSpPr>
          <p:cNvPr id="8" name="Shape 5"/>
          <p:cNvSpPr/>
          <p:nvPr/>
        </p:nvSpPr>
        <p:spPr>
          <a:xfrm>
            <a:off x="3394710" y="1737360"/>
            <a:ext cx="2571750" cy="2103120"/>
          </a:xfrm>
          <a:prstGeom prst="roundRect">
            <a:avLst>
              <a:gd name="adj" fmla="val 3913"/>
            </a:avLst>
          </a:prstGeom>
          <a:solidFill>
            <a:srgbClr val="F1F3F8"/>
          </a:solidFill>
          <a:ln w="12700">
            <a:solidFill>
              <a:srgbClr val="F1F3F8"/>
            </a:solidFill>
            <a:prstDash val="solid"/>
          </a:ln>
        </p:spPr>
      </p:sp>
      <p:sp>
        <p:nvSpPr>
          <p:cNvPr id="9" name="Text 6"/>
          <p:cNvSpPr txBox="1"/>
          <p:nvPr/>
        </p:nvSpPr>
        <p:spPr>
          <a:xfrm>
            <a:off x="3577590" y="1993392"/>
            <a:ext cx="2205990" cy="731520"/>
          </a:xfrm>
          <a:prstGeom prst="rect">
            <a:avLst/>
          </a:prstGeom>
          <a:noFill/>
          <a:ln/>
        </p:spPr>
        <p:txBody>
          <a:bodyPr wrap="square" lIns="0" tIns="0" rIns="0" bIns="0" rtlCol="0" anchor="ctr"/>
          <a:lstStyle/>
          <a:p>
            <a:pPr algn="ctr" indent="0" marL="0">
              <a:buNone/>
            </a:pPr>
            <a:r>
              <a:rPr lang="en-US" sz="3200" b="1" dirty="0">
                <a:solidFill>
                  <a:srgbClr val="141A2E"/>
                </a:solidFill>
                <a:latin typeface="Calibri" pitchFamily="34" charset="0"/>
                <a:ea typeface="Calibri" pitchFamily="34" charset="-122"/>
                <a:cs typeface="Calibri" pitchFamily="34" charset="-120"/>
              </a:rPr>
              <a:t>~3,9</a:t>
            </a:r>
            <a:endParaRPr lang="en-US" sz="3200" dirty="0"/>
          </a:p>
        </p:txBody>
      </p:sp>
      <p:sp>
        <p:nvSpPr>
          <p:cNvPr id="10" name="Text 7"/>
          <p:cNvSpPr txBox="1"/>
          <p:nvPr/>
        </p:nvSpPr>
        <p:spPr>
          <a:xfrm>
            <a:off x="3577590" y="2761488"/>
            <a:ext cx="2205990" cy="932688"/>
          </a:xfrm>
          <a:prstGeom prst="rect">
            <a:avLst/>
          </a:prstGeom>
          <a:noFill/>
          <a:ln/>
        </p:spPr>
        <p:txBody>
          <a:bodyPr wrap="square" lIns="0" tIns="0" rIns="0" bIns="0" rtlCol="0" anchor="t"/>
          <a:lstStyle/>
          <a:p>
            <a:pPr algn="ctr" indent="0" marL="0">
              <a:lnSpc>
                <a:spcPct val="108000"/>
              </a:lnSpc>
              <a:buNone/>
            </a:pPr>
            <a:r>
              <a:rPr lang="en-US" sz="1200" dirty="0">
                <a:solidFill>
                  <a:srgbClr val="4A5470"/>
                </a:solidFill>
                <a:latin typeface="Calibri" pitchFamily="34" charset="0"/>
                <a:ea typeface="Calibri" pitchFamily="34" charset="-122"/>
                <a:cs typeface="Calibri" pitchFamily="34" charset="-120"/>
              </a:rPr>
              <a:t>neue Zahler, hochgerechnet auf</a:t>
            </a:r>
            <a:endParaRPr lang="en-US" sz="1200" dirty="0"/>
          </a:p>
          <a:p>
            <a:pPr algn="ctr" indent="0" marL="0">
              <a:lnSpc>
                <a:spcPct val="108000"/>
              </a:lnSpc>
              <a:buNone/>
            </a:pPr>
            <a:r>
              <a:rPr lang="en-US" sz="1200" dirty="0">
                <a:solidFill>
                  <a:srgbClr val="4A5470"/>
                </a:solidFill>
                <a:latin typeface="Calibri" pitchFamily="34" charset="0"/>
                <a:ea typeface="Calibri" pitchFamily="34" charset="-122"/>
                <a:cs typeface="Calibri" pitchFamily="34" charset="-120"/>
              </a:rPr>
              <a:t>unsere Quote (3 Zahler je 612 Downloads)</a:t>
            </a:r>
            <a:endParaRPr lang="en-US" sz="1200" dirty="0"/>
          </a:p>
        </p:txBody>
      </p:sp>
      <p:sp>
        <p:nvSpPr>
          <p:cNvPr id="11" name="Shape 8"/>
          <p:cNvSpPr/>
          <p:nvPr/>
        </p:nvSpPr>
        <p:spPr>
          <a:xfrm>
            <a:off x="6222492" y="1737360"/>
            <a:ext cx="2571750" cy="2103120"/>
          </a:xfrm>
          <a:prstGeom prst="roundRect">
            <a:avLst>
              <a:gd name="adj" fmla="val 3913"/>
            </a:avLst>
          </a:prstGeom>
          <a:solidFill>
            <a:srgbClr val="F1F3F8"/>
          </a:solidFill>
          <a:ln w="12700">
            <a:solidFill>
              <a:srgbClr val="F1F3F8"/>
            </a:solidFill>
            <a:prstDash val="solid"/>
          </a:ln>
        </p:spPr>
      </p:sp>
      <p:sp>
        <p:nvSpPr>
          <p:cNvPr id="12" name="Text 9"/>
          <p:cNvSpPr txBox="1"/>
          <p:nvPr/>
        </p:nvSpPr>
        <p:spPr>
          <a:xfrm>
            <a:off x="6405372" y="1993392"/>
            <a:ext cx="2205990" cy="731520"/>
          </a:xfrm>
          <a:prstGeom prst="rect">
            <a:avLst/>
          </a:prstGeom>
          <a:noFill/>
          <a:ln/>
        </p:spPr>
        <p:txBody>
          <a:bodyPr wrap="square" lIns="0" tIns="0" rIns="0" bIns="0" rtlCol="0" anchor="ctr"/>
          <a:lstStyle/>
          <a:p>
            <a:pPr algn="ctr" indent="0" marL="0">
              <a:buNone/>
            </a:pPr>
            <a:r>
              <a:rPr lang="en-US" sz="3200" b="1" dirty="0">
                <a:solidFill>
                  <a:srgbClr val="141A2E"/>
                </a:solidFill>
                <a:latin typeface="Calibri" pitchFamily="34" charset="0"/>
                <a:ea typeface="Calibri" pitchFamily="34" charset="-122"/>
                <a:cs typeface="Calibri" pitchFamily="34" charset="-120"/>
              </a:rPr>
              <a:t>~100–150 €</a:t>
            </a:r>
            <a:endParaRPr lang="en-US" sz="3200" dirty="0"/>
          </a:p>
        </p:txBody>
      </p:sp>
      <p:sp>
        <p:nvSpPr>
          <p:cNvPr id="13" name="Text 10"/>
          <p:cNvSpPr txBox="1"/>
          <p:nvPr/>
        </p:nvSpPr>
        <p:spPr>
          <a:xfrm>
            <a:off x="6405372" y="2761488"/>
            <a:ext cx="2205990" cy="932688"/>
          </a:xfrm>
          <a:prstGeom prst="rect">
            <a:avLst/>
          </a:prstGeom>
          <a:noFill/>
          <a:ln/>
        </p:spPr>
        <p:txBody>
          <a:bodyPr wrap="square" lIns="0" tIns="0" rIns="0" bIns="0" rtlCol="0" anchor="t"/>
          <a:lstStyle/>
          <a:p>
            <a:pPr algn="ctr" indent="0" marL="0">
              <a:lnSpc>
                <a:spcPct val="108000"/>
              </a:lnSpc>
              <a:buNone/>
            </a:pPr>
            <a:r>
              <a:rPr lang="en-US" sz="1200" dirty="0">
                <a:solidFill>
                  <a:srgbClr val="4A5470"/>
                </a:solidFill>
                <a:latin typeface="Calibri" pitchFamily="34" charset="0"/>
                <a:ea typeface="Calibri" pitchFamily="34" charset="-122"/>
                <a:cs typeface="Calibri" pitchFamily="34" charset="-120"/>
              </a:rPr>
              <a:t>Umsatz daraus, nach bisheriger</a:t>
            </a:r>
            <a:endParaRPr lang="en-US" sz="1200" dirty="0"/>
          </a:p>
          <a:p>
            <a:pPr algn="ctr" indent="0" marL="0">
              <a:lnSpc>
                <a:spcPct val="108000"/>
              </a:lnSpc>
              <a:buNone/>
            </a:pPr>
            <a:r>
              <a:rPr lang="en-US" sz="1200" dirty="0">
                <a:solidFill>
                  <a:srgbClr val="4A5470"/>
                </a:solidFill>
                <a:latin typeface="Calibri" pitchFamily="34" charset="0"/>
                <a:ea typeface="Calibri" pitchFamily="34" charset="-122"/>
                <a:cs typeface="Calibri" pitchFamily="34" charset="-120"/>
              </a:rPr>
              <a:t>Überlebensrate im ersten Monat</a:t>
            </a:r>
            <a:endParaRPr lang="en-US" sz="1200" dirty="0"/>
          </a:p>
        </p:txBody>
      </p:sp>
      <p:sp>
        <p:nvSpPr>
          <p:cNvPr id="14" name="Shape 11"/>
          <p:cNvSpPr/>
          <p:nvPr/>
        </p:nvSpPr>
        <p:spPr>
          <a:xfrm>
            <a:off x="9050274" y="1737360"/>
            <a:ext cx="2571750" cy="2103120"/>
          </a:xfrm>
          <a:prstGeom prst="roundRect">
            <a:avLst>
              <a:gd name="adj" fmla="val 3913"/>
            </a:avLst>
          </a:prstGeom>
          <a:solidFill>
            <a:srgbClr val="FBE7EF"/>
          </a:solidFill>
          <a:ln w="12700">
            <a:solidFill>
              <a:srgbClr val="FBE7EF"/>
            </a:solidFill>
            <a:prstDash val="solid"/>
          </a:ln>
        </p:spPr>
      </p:sp>
      <p:sp>
        <p:nvSpPr>
          <p:cNvPr id="15" name="Text 12"/>
          <p:cNvSpPr txBox="1"/>
          <p:nvPr/>
        </p:nvSpPr>
        <p:spPr>
          <a:xfrm>
            <a:off x="9233154" y="1993392"/>
            <a:ext cx="2205990" cy="731520"/>
          </a:xfrm>
          <a:prstGeom prst="rect">
            <a:avLst/>
          </a:prstGeom>
          <a:noFill/>
          <a:ln/>
        </p:spPr>
        <p:txBody>
          <a:bodyPr wrap="square" lIns="0" tIns="0" rIns="0" bIns="0" rtlCol="0" anchor="ctr"/>
          <a:lstStyle/>
          <a:p>
            <a:pPr algn="ctr" indent="0" marL="0">
              <a:buNone/>
            </a:pPr>
            <a:r>
              <a:rPr lang="en-US" sz="3200" b="1" dirty="0">
                <a:solidFill>
                  <a:srgbClr val="D93B72"/>
                </a:solidFill>
                <a:latin typeface="Calibri" pitchFamily="34" charset="0"/>
                <a:ea typeface="Calibri" pitchFamily="34" charset="-122"/>
                <a:cs typeface="Calibri" pitchFamily="34" charset="-120"/>
              </a:rPr>
              <a:t>−1.850 €</a:t>
            </a:r>
            <a:endParaRPr lang="en-US" sz="3200" dirty="0"/>
          </a:p>
        </p:txBody>
      </p:sp>
      <p:sp>
        <p:nvSpPr>
          <p:cNvPr id="16" name="Text 13"/>
          <p:cNvSpPr txBox="1"/>
          <p:nvPr/>
        </p:nvSpPr>
        <p:spPr>
          <a:xfrm>
            <a:off x="9233154" y="2761488"/>
            <a:ext cx="2205990" cy="932688"/>
          </a:xfrm>
          <a:prstGeom prst="rect">
            <a:avLst/>
          </a:prstGeom>
          <a:noFill/>
          <a:ln/>
        </p:spPr>
        <p:txBody>
          <a:bodyPr wrap="square" lIns="0" tIns="0" rIns="0" bIns="0" rtlCol="0" anchor="t"/>
          <a:lstStyle/>
          <a:p>
            <a:pPr algn="ctr" indent="0" marL="0">
              <a:lnSpc>
                <a:spcPct val="108000"/>
              </a:lnSpc>
              <a:buNone/>
            </a:pPr>
            <a:r>
              <a:rPr lang="en-US" sz="1200" dirty="0">
                <a:solidFill>
                  <a:srgbClr val="4A5470"/>
                </a:solidFill>
                <a:latin typeface="Calibri" pitchFamily="34" charset="0"/>
                <a:ea typeface="Calibri" pitchFamily="34" charset="-122"/>
                <a:cs typeface="Calibri" pitchFamily="34" charset="-120"/>
              </a:rPr>
              <a:t>Ergebnis. Und gekaufte Downloads</a:t>
            </a:r>
            <a:endParaRPr lang="en-US" sz="1200" dirty="0"/>
          </a:p>
          <a:p>
            <a:pPr algn="ctr" indent="0" marL="0">
              <a:lnSpc>
                <a:spcPct val="108000"/>
              </a:lnSpc>
              <a:buNone/>
            </a:pPr>
            <a:r>
              <a:rPr lang="en-US" sz="1200" dirty="0">
                <a:solidFill>
                  <a:srgbClr val="4A5470"/>
                </a:solidFill>
                <a:latin typeface="Calibri" pitchFamily="34" charset="0"/>
                <a:ea typeface="Calibri" pitchFamily="34" charset="-122"/>
                <a:cs typeface="Calibri" pitchFamily="34" charset="-120"/>
              </a:rPr>
              <a:t>konvertieren schlechter als organische.</a:t>
            </a:r>
            <a:endParaRPr lang="en-US" sz="1200" dirty="0"/>
          </a:p>
        </p:txBody>
      </p:sp>
      <p:sp>
        <p:nvSpPr>
          <p:cNvPr id="17" name="Shape 14"/>
          <p:cNvSpPr/>
          <p:nvPr/>
        </p:nvSpPr>
        <p:spPr>
          <a:xfrm>
            <a:off x="566928" y="4078224"/>
            <a:ext cx="11055096" cy="1920240"/>
          </a:xfrm>
          <a:prstGeom prst="roundRect">
            <a:avLst>
              <a:gd name="adj" fmla="val 4286"/>
            </a:avLst>
          </a:prstGeom>
          <a:solidFill>
            <a:srgbClr val="141A2E"/>
          </a:solidFill>
          <a:ln w="12700">
            <a:solidFill>
              <a:srgbClr val="141A2E"/>
            </a:solidFill>
            <a:prstDash val="solid"/>
          </a:ln>
        </p:spPr>
      </p:sp>
      <p:sp>
        <p:nvSpPr>
          <p:cNvPr id="18" name="Text 15"/>
          <p:cNvSpPr txBox="1"/>
          <p:nvPr/>
        </p:nvSpPr>
        <p:spPr>
          <a:xfrm>
            <a:off x="932688" y="4261104"/>
            <a:ext cx="10323576" cy="347472"/>
          </a:xfrm>
          <a:prstGeom prst="rect">
            <a:avLst/>
          </a:prstGeom>
          <a:noFill/>
          <a:ln/>
        </p:spPr>
        <p:txBody>
          <a:bodyPr wrap="square" lIns="0" tIns="0" rIns="0" bIns="0" rtlCol="0" anchor="ctr"/>
          <a:lstStyle/>
          <a:p>
            <a:pPr indent="0" marL="0">
              <a:buNone/>
            </a:pPr>
            <a:r>
              <a:rPr lang="en-US" sz="1200" b="1" dirty="0">
                <a:solidFill>
                  <a:srgbClr val="8E9ABA"/>
                </a:solidFill>
                <a:latin typeface="Calibri" pitchFamily="34" charset="0"/>
                <a:ea typeface="Calibri" pitchFamily="34" charset="-122"/>
                <a:cs typeface="Calibri" pitchFamily="34" charset="-120"/>
              </a:rPr>
              <a:t>Die Gegenprobe: selbst eine perfekt durchschnittliche Bildungs-App</a:t>
            </a:r>
            <a:endParaRPr lang="en-US" sz="1200" dirty="0"/>
          </a:p>
        </p:txBody>
      </p:sp>
      <p:sp>
        <p:nvSpPr>
          <p:cNvPr id="19" name="Text 16"/>
          <p:cNvSpPr txBox="1"/>
          <p:nvPr/>
        </p:nvSpPr>
        <p:spPr>
          <a:xfrm>
            <a:off x="932688" y="4626864"/>
            <a:ext cx="10323576" cy="38404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800 gekaufte Downloads × 2,3 % Download-zu-Zahlend (Median) × 22,82 $ Umsatz pro Zahler im ersten Jahr (Median) ≈ 420 $.</a:t>
            </a:r>
            <a:endParaRPr lang="en-US" sz="1450" dirty="0"/>
          </a:p>
        </p:txBody>
      </p:sp>
      <p:sp>
        <p:nvSpPr>
          <p:cNvPr id="20" name="Text 17"/>
          <p:cNvSpPr txBox="1"/>
          <p:nvPr/>
        </p:nvSpPr>
        <p:spPr>
          <a:xfrm>
            <a:off x="932688" y="5065776"/>
            <a:ext cx="10323576" cy="822960"/>
          </a:xfrm>
          <a:prstGeom prst="rect">
            <a:avLst/>
          </a:prstGeom>
          <a:noFill/>
          <a:ln/>
        </p:spPr>
        <p:txBody>
          <a:bodyPr wrap="square" lIns="0" tIns="0" rIns="0" bIns="0" rtlCol="0" anchor="t"/>
          <a:lstStyle/>
          <a:p>
            <a:pPr indent="0" marL="0">
              <a:lnSpc>
                <a:spcPct val="106000"/>
              </a:lnSpc>
              <a:buNone/>
            </a:pPr>
            <a:r>
              <a:rPr lang="en-US" sz="1300" dirty="0">
                <a:solidFill>
                  <a:srgbClr val="B6BFD6"/>
                </a:solidFill>
                <a:latin typeface="Calibri" pitchFamily="34" charset="0"/>
                <a:ea typeface="Calibri" pitchFamily="34" charset="-122"/>
                <a:cs typeface="Calibri" pitchFamily="34" charset="-120"/>
              </a:rPr>
              <a:t>Das heißt: Downloads für 2,50 € einzukaufen rechnet sich in dieser Kategorie selbst dann nicht, wenn man alles richtig macht. Keine der drei Agenturen löst unser Problem — sie würden mehr Leute in einen Trichter kippen, der heute bei 0,5 % endet. Erst die Paywall reparieren, dann skalieren.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141A2E"/>
                </a:solidFill>
                <a:latin typeface="Cambria" pitchFamily="34" charset="0"/>
                <a:ea typeface="Cambria" pitchFamily="34" charset="-122"/>
                <a:cs typeface="Cambria" pitchFamily="34" charset="-120"/>
              </a:rPr>
              <a:t>Der Plan</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4A5470"/>
                </a:solidFill>
                <a:latin typeface="Calibri" pitchFamily="34" charset="0"/>
                <a:ea typeface="Calibri" pitchFamily="34" charset="-122"/>
                <a:cs typeface="Calibri" pitchFamily="34" charset="-120"/>
              </a:rPr>
              <a:t>Nach Aufwand-Wirkung sortiert</a:t>
            </a:r>
            <a:endParaRPr lang="en-US" sz="1450" dirty="0"/>
          </a:p>
        </p:txBody>
      </p:sp>
      <p:sp>
        <p:nvSpPr>
          <p:cNvPr id="5" name="Shape 2"/>
          <p:cNvSpPr/>
          <p:nvPr/>
        </p:nvSpPr>
        <p:spPr>
          <a:xfrm>
            <a:off x="566928" y="1572768"/>
            <a:ext cx="11055096" cy="1042416"/>
          </a:xfrm>
          <a:prstGeom prst="roundRect">
            <a:avLst>
              <a:gd name="adj" fmla="val 7895"/>
            </a:avLst>
          </a:prstGeom>
          <a:solidFill>
            <a:srgbClr val="F1F3F8"/>
          </a:solidFill>
          <a:ln w="12700">
            <a:solidFill>
              <a:srgbClr val="F1F3F8"/>
            </a:solidFill>
            <a:prstDash val="solid"/>
          </a:ln>
        </p:spPr>
      </p:sp>
      <p:sp>
        <p:nvSpPr>
          <p:cNvPr id="6" name="Shape 3"/>
          <p:cNvSpPr/>
          <p:nvPr/>
        </p:nvSpPr>
        <p:spPr>
          <a:xfrm>
            <a:off x="841248" y="1901952"/>
            <a:ext cx="384048" cy="384048"/>
          </a:xfrm>
          <a:prstGeom prst="roundRect">
            <a:avLst>
              <a:gd name="adj" fmla="val 28571"/>
            </a:avLst>
          </a:prstGeom>
          <a:solidFill>
            <a:srgbClr val="1B7F63"/>
          </a:solidFill>
          <a:ln w="12700">
            <a:solidFill>
              <a:srgbClr val="1B7F63"/>
            </a:solidFill>
            <a:prstDash val="solid"/>
          </a:ln>
        </p:spPr>
      </p:sp>
      <p:sp>
        <p:nvSpPr>
          <p:cNvPr id="7" name="Text 4"/>
          <p:cNvSpPr txBox="1"/>
          <p:nvPr/>
        </p:nvSpPr>
        <p:spPr>
          <a:xfrm>
            <a:off x="841248" y="19019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408176" y="1682496"/>
            <a:ext cx="7589520" cy="329184"/>
          </a:xfrm>
          <a:prstGeom prst="rect">
            <a:avLst/>
          </a:prstGeom>
          <a:noFill/>
          <a:ln/>
        </p:spPr>
        <p:txBody>
          <a:bodyPr wrap="square" lIns="0" tIns="0" rIns="0" bIns="0" rtlCol="0" anchor="ctr"/>
          <a:lstStyle/>
          <a:p>
            <a:pPr indent="0" marL="0">
              <a:buNone/>
            </a:pPr>
            <a:r>
              <a:rPr lang="en-US" sz="1600" b="1" dirty="0">
                <a:solidFill>
                  <a:srgbClr val="141A2E"/>
                </a:solidFill>
                <a:latin typeface="Calibri" pitchFamily="34" charset="0"/>
                <a:ea typeface="Calibri" pitchFamily="34" charset="-122"/>
                <a:cs typeface="Calibri" pitchFamily="34" charset="-120"/>
              </a:rPr>
              <a:t>Trial-Aufpreis streichen, 7 Tage überall</a:t>
            </a:r>
            <a:endParaRPr lang="en-US" sz="1600" dirty="0"/>
          </a:p>
        </p:txBody>
      </p:sp>
      <p:sp>
        <p:nvSpPr>
          <p:cNvPr id="9" name="Text 6"/>
          <p:cNvSpPr txBox="1"/>
          <p:nvPr/>
        </p:nvSpPr>
        <p:spPr>
          <a:xfrm>
            <a:off x="1408176" y="2020824"/>
            <a:ext cx="7589520" cy="530352"/>
          </a:xfrm>
          <a:prstGeom prst="rect">
            <a:avLst/>
          </a:prstGeom>
          <a:noFill/>
          <a:ln/>
        </p:spPr>
        <p:txBody>
          <a:bodyPr wrap="square" lIns="0" tIns="0" rIns="0" bIns="0" rtlCol="0" anchor="t"/>
          <a:lstStyle/>
          <a:p>
            <a:pPr indent="0" marL="0">
              <a:lnSpc>
                <a:spcPct val="105000"/>
              </a:lnSpc>
              <a:buNone/>
            </a:pPr>
            <a:r>
              <a:rPr lang="en-US" sz="1150" dirty="0">
                <a:solidFill>
                  <a:srgbClr val="4A5470"/>
                </a:solidFill>
                <a:latin typeface="Calibri" pitchFamily="34" charset="0"/>
                <a:ea typeface="Calibri" pitchFamily="34" charset="-122"/>
                <a:cs typeface="Calibri" pitchFamily="34" charset="-120"/>
              </a:rPr>
              <a:t>Der 10-€-Aufschlag für den Trial fällt weg. Der 7-Tage-Trial, den es auf dem Rabatt-Pfad schon gibt, wird Standard. Rabattlogik so bauen, dass der Sofort-Käufer nie schlechter dasteht.</a:t>
            </a:r>
            <a:endParaRPr lang="en-US" sz="1150" dirty="0"/>
          </a:p>
        </p:txBody>
      </p:sp>
      <p:sp>
        <p:nvSpPr>
          <p:cNvPr id="10" name="Text 7"/>
          <p:cNvSpPr txBox="1"/>
          <p:nvPr/>
        </p:nvSpPr>
        <p:spPr>
          <a:xfrm>
            <a:off x="9162288" y="1572768"/>
            <a:ext cx="2185416" cy="1042416"/>
          </a:xfrm>
          <a:prstGeom prst="rect">
            <a:avLst/>
          </a:prstGeom>
          <a:noFill/>
          <a:ln/>
        </p:spPr>
        <p:txBody>
          <a:bodyPr wrap="square" lIns="0" tIns="0" rIns="0" bIns="0" rtlCol="0" anchor="ctr"/>
          <a:lstStyle/>
          <a:p>
            <a:pPr algn="r" indent="0" marL="0">
              <a:buNone/>
            </a:pPr>
            <a:r>
              <a:rPr lang="en-US" sz="1200" b="1" dirty="0">
                <a:solidFill>
                  <a:srgbClr val="1B7F63"/>
                </a:solidFill>
                <a:latin typeface="Calibri" pitchFamily="34" charset="0"/>
                <a:ea typeface="Calibri" pitchFamily="34" charset="-122"/>
                <a:cs typeface="Calibri" pitchFamily="34" charset="-120"/>
              </a:rPr>
              <a:t>Konfiguration · heute machbar</a:t>
            </a:r>
            <a:endParaRPr lang="en-US" sz="1200" dirty="0"/>
          </a:p>
        </p:txBody>
      </p:sp>
      <p:sp>
        <p:nvSpPr>
          <p:cNvPr id="11" name="Shape 8"/>
          <p:cNvSpPr/>
          <p:nvPr/>
        </p:nvSpPr>
        <p:spPr>
          <a:xfrm>
            <a:off x="566928" y="2734056"/>
            <a:ext cx="11055096" cy="1042416"/>
          </a:xfrm>
          <a:prstGeom prst="roundRect">
            <a:avLst>
              <a:gd name="adj" fmla="val 7895"/>
            </a:avLst>
          </a:prstGeom>
          <a:solidFill>
            <a:srgbClr val="F1F3F8"/>
          </a:solidFill>
          <a:ln w="12700">
            <a:solidFill>
              <a:srgbClr val="F1F3F8"/>
            </a:solidFill>
            <a:prstDash val="solid"/>
          </a:ln>
        </p:spPr>
      </p:sp>
      <p:sp>
        <p:nvSpPr>
          <p:cNvPr id="12" name="Shape 9"/>
          <p:cNvSpPr/>
          <p:nvPr/>
        </p:nvSpPr>
        <p:spPr>
          <a:xfrm>
            <a:off x="841248" y="3063240"/>
            <a:ext cx="384048" cy="384048"/>
          </a:xfrm>
          <a:prstGeom prst="roundRect">
            <a:avLst>
              <a:gd name="adj" fmla="val 28571"/>
            </a:avLst>
          </a:prstGeom>
          <a:solidFill>
            <a:srgbClr val="1B7F63"/>
          </a:solidFill>
          <a:ln w="12700">
            <a:solidFill>
              <a:srgbClr val="1B7F63"/>
            </a:solidFill>
            <a:prstDash val="solid"/>
          </a:ln>
        </p:spPr>
      </p:sp>
      <p:sp>
        <p:nvSpPr>
          <p:cNvPr id="13" name="Text 10"/>
          <p:cNvSpPr txBox="1"/>
          <p:nvPr/>
        </p:nvSpPr>
        <p:spPr>
          <a:xfrm>
            <a:off x="841248" y="3063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1"/>
          <p:cNvSpPr txBox="1"/>
          <p:nvPr/>
        </p:nvSpPr>
        <p:spPr>
          <a:xfrm>
            <a:off x="1408176" y="2843784"/>
            <a:ext cx="7589520" cy="329184"/>
          </a:xfrm>
          <a:prstGeom prst="rect">
            <a:avLst/>
          </a:prstGeom>
          <a:noFill/>
          <a:ln/>
        </p:spPr>
        <p:txBody>
          <a:bodyPr wrap="square" lIns="0" tIns="0" rIns="0" bIns="0" rtlCol="0" anchor="ctr"/>
          <a:lstStyle/>
          <a:p>
            <a:pPr indent="0" marL="0">
              <a:buNone/>
            </a:pPr>
            <a:r>
              <a:rPr lang="en-US" sz="1600" b="1" dirty="0">
                <a:solidFill>
                  <a:srgbClr val="141A2E"/>
                </a:solidFill>
                <a:latin typeface="Calibri" pitchFamily="34" charset="0"/>
                <a:ea typeface="Calibri" pitchFamily="34" charset="-122"/>
                <a:cs typeface="Calibri" pitchFamily="34" charset="-120"/>
              </a:rPr>
              <a:t>Preisleiter aufräumen</a:t>
            </a:r>
            <a:endParaRPr lang="en-US" sz="1600" dirty="0"/>
          </a:p>
        </p:txBody>
      </p:sp>
      <p:sp>
        <p:nvSpPr>
          <p:cNvPr id="15" name="Text 12"/>
          <p:cNvSpPr txBox="1"/>
          <p:nvPr/>
        </p:nvSpPr>
        <p:spPr>
          <a:xfrm>
            <a:off x="1408176" y="3182112"/>
            <a:ext cx="7589520" cy="530352"/>
          </a:xfrm>
          <a:prstGeom prst="rect">
            <a:avLst/>
          </a:prstGeom>
          <a:noFill/>
          <a:ln/>
        </p:spPr>
        <p:txBody>
          <a:bodyPr wrap="square" lIns="0" tIns="0" rIns="0" bIns="0" rtlCol="0" anchor="t"/>
          <a:lstStyle/>
          <a:p>
            <a:pPr indent="0" marL="0">
              <a:lnSpc>
                <a:spcPct val="105000"/>
              </a:lnSpc>
              <a:buNone/>
            </a:pPr>
            <a:r>
              <a:rPr lang="en-US" sz="1150" dirty="0">
                <a:solidFill>
                  <a:srgbClr val="4A5470"/>
                </a:solidFill>
                <a:latin typeface="Calibri" pitchFamily="34" charset="0"/>
                <a:ea typeface="Calibri" pitchFamily="34" charset="-122"/>
                <a:cs typeface="Calibri" pitchFamily="34" charset="-120"/>
              </a:rPr>
              <a:t>17-€-Monatsabo raus, Wochenabo als Einstieg rein, Semester als Empfehlung. Details auf der nächsten Folie.</a:t>
            </a:r>
            <a:endParaRPr lang="en-US" sz="1150" dirty="0"/>
          </a:p>
        </p:txBody>
      </p:sp>
      <p:sp>
        <p:nvSpPr>
          <p:cNvPr id="16" name="Text 13"/>
          <p:cNvSpPr txBox="1"/>
          <p:nvPr/>
        </p:nvSpPr>
        <p:spPr>
          <a:xfrm>
            <a:off x="9162288" y="2734056"/>
            <a:ext cx="2185416" cy="1042416"/>
          </a:xfrm>
          <a:prstGeom prst="rect">
            <a:avLst/>
          </a:prstGeom>
          <a:noFill/>
          <a:ln/>
        </p:spPr>
        <p:txBody>
          <a:bodyPr wrap="square" lIns="0" tIns="0" rIns="0" bIns="0" rtlCol="0" anchor="ctr"/>
          <a:lstStyle/>
          <a:p>
            <a:pPr algn="r" indent="0" marL="0">
              <a:buNone/>
            </a:pPr>
            <a:r>
              <a:rPr lang="en-US" sz="1200" b="1" dirty="0">
                <a:solidFill>
                  <a:srgbClr val="1B7F63"/>
                </a:solidFill>
                <a:latin typeface="Calibri" pitchFamily="34" charset="0"/>
                <a:ea typeface="Calibri" pitchFamily="34" charset="-122"/>
                <a:cs typeface="Calibri" pitchFamily="34" charset="-120"/>
              </a:rPr>
              <a:t>App Store Connect · 1 Tag</a:t>
            </a:r>
            <a:endParaRPr lang="en-US" sz="1200" dirty="0"/>
          </a:p>
        </p:txBody>
      </p:sp>
      <p:sp>
        <p:nvSpPr>
          <p:cNvPr id="17" name="Shape 14"/>
          <p:cNvSpPr/>
          <p:nvPr/>
        </p:nvSpPr>
        <p:spPr>
          <a:xfrm>
            <a:off x="566928" y="3895344"/>
            <a:ext cx="11055096" cy="1042416"/>
          </a:xfrm>
          <a:prstGeom prst="roundRect">
            <a:avLst>
              <a:gd name="adj" fmla="val 7895"/>
            </a:avLst>
          </a:prstGeom>
          <a:solidFill>
            <a:srgbClr val="F1F3F8"/>
          </a:solidFill>
          <a:ln w="12700">
            <a:solidFill>
              <a:srgbClr val="F1F3F8"/>
            </a:solidFill>
            <a:prstDash val="solid"/>
          </a:ln>
        </p:spPr>
      </p:sp>
      <p:sp>
        <p:nvSpPr>
          <p:cNvPr id="18" name="Shape 15"/>
          <p:cNvSpPr/>
          <p:nvPr/>
        </p:nvSpPr>
        <p:spPr>
          <a:xfrm>
            <a:off x="841248" y="4224528"/>
            <a:ext cx="384048" cy="384048"/>
          </a:xfrm>
          <a:prstGeom prst="roundRect">
            <a:avLst>
              <a:gd name="adj" fmla="val 28571"/>
            </a:avLst>
          </a:prstGeom>
          <a:solidFill>
            <a:srgbClr val="B0761A"/>
          </a:solidFill>
          <a:ln w="12700">
            <a:solidFill>
              <a:srgbClr val="B0761A"/>
            </a:solidFill>
            <a:prstDash val="solid"/>
          </a:ln>
        </p:spPr>
      </p:sp>
      <p:sp>
        <p:nvSpPr>
          <p:cNvPr id="19" name="Text 16"/>
          <p:cNvSpPr txBox="1"/>
          <p:nvPr/>
        </p:nvSpPr>
        <p:spPr>
          <a:xfrm>
            <a:off x="841248" y="4224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txBox="1"/>
          <p:nvPr/>
        </p:nvSpPr>
        <p:spPr>
          <a:xfrm>
            <a:off x="1408176" y="4005072"/>
            <a:ext cx="7589520" cy="329184"/>
          </a:xfrm>
          <a:prstGeom prst="rect">
            <a:avLst/>
          </a:prstGeom>
          <a:noFill/>
          <a:ln/>
        </p:spPr>
        <p:txBody>
          <a:bodyPr wrap="square" lIns="0" tIns="0" rIns="0" bIns="0" rtlCol="0" anchor="ctr"/>
          <a:lstStyle/>
          <a:p>
            <a:pPr indent="0" marL="0">
              <a:buNone/>
            </a:pPr>
            <a:r>
              <a:rPr lang="en-US" sz="1600" b="1" dirty="0">
                <a:solidFill>
                  <a:srgbClr val="141A2E"/>
                </a:solidFill>
                <a:latin typeface="Calibri" pitchFamily="34" charset="0"/>
                <a:ea typeface="Calibri" pitchFamily="34" charset="-122"/>
                <a:cs typeface="Calibri" pitchFamily="34" charset="-120"/>
              </a:rPr>
              <a:t>Onboarding von 20 auf ~10 Screens</a:t>
            </a:r>
            <a:endParaRPr lang="en-US" sz="1600" dirty="0"/>
          </a:p>
        </p:txBody>
      </p:sp>
      <p:sp>
        <p:nvSpPr>
          <p:cNvPr id="21" name="Text 18"/>
          <p:cNvSpPr txBox="1"/>
          <p:nvPr/>
        </p:nvSpPr>
        <p:spPr>
          <a:xfrm>
            <a:off x="1408176" y="4343400"/>
            <a:ext cx="7589520" cy="530352"/>
          </a:xfrm>
          <a:prstGeom prst="rect">
            <a:avLst/>
          </a:prstGeom>
          <a:noFill/>
          <a:ln/>
        </p:spPr>
        <p:txBody>
          <a:bodyPr wrap="square" lIns="0" tIns="0" rIns="0" bIns="0" rtlCol="0" anchor="t"/>
          <a:lstStyle/>
          <a:p>
            <a:pPr indent="0" marL="0">
              <a:lnSpc>
                <a:spcPct val="105000"/>
              </a:lnSpc>
              <a:buNone/>
            </a:pPr>
            <a:r>
              <a:rPr lang="en-US" sz="1150" dirty="0">
                <a:solidFill>
                  <a:srgbClr val="4A5470"/>
                </a:solidFill>
                <a:latin typeface="Calibri" pitchFamily="34" charset="0"/>
                <a:ea typeface="Calibri" pitchFamily="34" charset="-122"/>
                <a:cs typeface="Calibri" pitchFamily="34" charset="-120"/>
              </a:rPr>
              <a:t>Streichen: Feature-Slideshow, Raketen-Animation, Tag-1-Streak. Zusammenlegen: Fächer- und Ziele-Abfrage. Verschieben: Streak-Ziel hinter die erste Session. Die Registrierung bleibt, wo sie ist — sie kostet uns messbar keine Nutzer.</a:t>
            </a:r>
            <a:endParaRPr lang="en-US" sz="1150" dirty="0"/>
          </a:p>
        </p:txBody>
      </p:sp>
      <p:sp>
        <p:nvSpPr>
          <p:cNvPr id="22" name="Text 19"/>
          <p:cNvSpPr txBox="1"/>
          <p:nvPr/>
        </p:nvSpPr>
        <p:spPr>
          <a:xfrm>
            <a:off x="9162288" y="3895344"/>
            <a:ext cx="2185416" cy="1042416"/>
          </a:xfrm>
          <a:prstGeom prst="rect">
            <a:avLst/>
          </a:prstGeom>
          <a:noFill/>
          <a:ln/>
        </p:spPr>
        <p:txBody>
          <a:bodyPr wrap="square" lIns="0" tIns="0" rIns="0" bIns="0" rtlCol="0" anchor="ctr"/>
          <a:lstStyle/>
          <a:p>
            <a:pPr algn="r" indent="0" marL="0">
              <a:buNone/>
            </a:pPr>
            <a:r>
              <a:rPr lang="en-US" sz="1200" b="1" dirty="0">
                <a:solidFill>
                  <a:srgbClr val="B0761A"/>
                </a:solidFill>
                <a:latin typeface="Calibri" pitchFamily="34" charset="0"/>
                <a:ea typeface="Calibri" pitchFamily="34" charset="-122"/>
                <a:cs typeface="Calibri" pitchFamily="34" charset="-120"/>
              </a:rPr>
              <a:t>reine Streicharbeit · 1–2 Tage</a:t>
            </a:r>
            <a:endParaRPr lang="en-US" sz="1200" dirty="0"/>
          </a:p>
        </p:txBody>
      </p:sp>
      <p:sp>
        <p:nvSpPr>
          <p:cNvPr id="23" name="Shape 20"/>
          <p:cNvSpPr/>
          <p:nvPr/>
        </p:nvSpPr>
        <p:spPr>
          <a:xfrm>
            <a:off x="566928" y="5056632"/>
            <a:ext cx="11055096" cy="1042416"/>
          </a:xfrm>
          <a:prstGeom prst="roundRect">
            <a:avLst>
              <a:gd name="adj" fmla="val 7895"/>
            </a:avLst>
          </a:prstGeom>
          <a:solidFill>
            <a:srgbClr val="FBE7EF"/>
          </a:solidFill>
          <a:ln w="12700">
            <a:solidFill>
              <a:srgbClr val="FBE7EF"/>
            </a:solidFill>
            <a:prstDash val="solid"/>
          </a:ln>
        </p:spPr>
      </p:sp>
      <p:sp>
        <p:nvSpPr>
          <p:cNvPr id="24" name="Shape 21"/>
          <p:cNvSpPr/>
          <p:nvPr/>
        </p:nvSpPr>
        <p:spPr>
          <a:xfrm>
            <a:off x="841248" y="5385816"/>
            <a:ext cx="384048" cy="384048"/>
          </a:xfrm>
          <a:prstGeom prst="roundRect">
            <a:avLst>
              <a:gd name="adj" fmla="val 28571"/>
            </a:avLst>
          </a:prstGeom>
          <a:solidFill>
            <a:srgbClr val="D93B72"/>
          </a:solidFill>
          <a:ln w="12700">
            <a:solidFill>
              <a:srgbClr val="D93B72"/>
            </a:solidFill>
            <a:prstDash val="solid"/>
          </a:ln>
        </p:spPr>
      </p:sp>
      <p:sp>
        <p:nvSpPr>
          <p:cNvPr id="25" name="Text 22"/>
          <p:cNvSpPr txBox="1"/>
          <p:nvPr/>
        </p:nvSpPr>
        <p:spPr>
          <a:xfrm>
            <a:off x="841248" y="53858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3"/>
          <p:cNvSpPr txBox="1"/>
          <p:nvPr/>
        </p:nvSpPr>
        <p:spPr>
          <a:xfrm>
            <a:off x="1408176" y="5166360"/>
            <a:ext cx="7589520" cy="329184"/>
          </a:xfrm>
          <a:prstGeom prst="rect">
            <a:avLst/>
          </a:prstGeom>
          <a:noFill/>
          <a:ln/>
        </p:spPr>
        <p:txBody>
          <a:bodyPr wrap="square" lIns="0" tIns="0" rIns="0" bIns="0" rtlCol="0" anchor="ctr"/>
          <a:lstStyle/>
          <a:p>
            <a:pPr indent="0" marL="0">
              <a:buNone/>
            </a:pPr>
            <a:r>
              <a:rPr lang="en-US" sz="1600" b="1" dirty="0">
                <a:solidFill>
                  <a:srgbClr val="141A2E"/>
                </a:solidFill>
                <a:latin typeface="Calibri" pitchFamily="34" charset="0"/>
                <a:ea typeface="Calibri" pitchFamily="34" charset="-122"/>
                <a:cs typeface="Calibri" pitchFamily="34" charset="-120"/>
              </a:rPr>
              <a:t>Den Produktmoment bauen</a:t>
            </a:r>
            <a:endParaRPr lang="en-US" sz="1600" dirty="0"/>
          </a:p>
        </p:txBody>
      </p:sp>
      <p:sp>
        <p:nvSpPr>
          <p:cNvPr id="27" name="Text 24"/>
          <p:cNvSpPr txBox="1"/>
          <p:nvPr/>
        </p:nvSpPr>
        <p:spPr>
          <a:xfrm>
            <a:off x="1408176" y="5504688"/>
            <a:ext cx="7589520" cy="530352"/>
          </a:xfrm>
          <a:prstGeom prst="rect">
            <a:avLst/>
          </a:prstGeom>
          <a:noFill/>
          <a:ln/>
        </p:spPr>
        <p:txBody>
          <a:bodyPr wrap="square" lIns="0" tIns="0" rIns="0" bIns="0" rtlCol="0" anchor="t"/>
          <a:lstStyle/>
          <a:p>
            <a:pPr indent="0" marL="0">
              <a:lnSpc>
                <a:spcPct val="105000"/>
              </a:lnSpc>
              <a:buNone/>
            </a:pPr>
            <a:r>
              <a:rPr lang="en-US" sz="1150" dirty="0">
                <a:solidFill>
                  <a:srgbClr val="4A5470"/>
                </a:solidFill>
                <a:latin typeface="Calibri" pitchFamily="34" charset="0"/>
                <a:ea typeface="Calibri" pitchFamily="34" charset="-122"/>
                <a:cs typeface="Calibri" pitchFamily="34" charset="-120"/>
              </a:rPr>
              <a:t>Vor der Paywall: eine Seite aus dem Skript fotografieren → Octa erzeugt live 3 Karteikarten → stellt eine davon laut → gibt Feedback. Danach eine Paywall, die das Klausurdatum nutzt: „Deine Klausur ist in 41 Tagen."</a:t>
            </a:r>
            <a:endParaRPr lang="en-US" sz="1150" dirty="0"/>
          </a:p>
        </p:txBody>
      </p:sp>
      <p:sp>
        <p:nvSpPr>
          <p:cNvPr id="28" name="Text 25"/>
          <p:cNvSpPr txBox="1"/>
          <p:nvPr/>
        </p:nvSpPr>
        <p:spPr>
          <a:xfrm>
            <a:off x="9162288" y="5056632"/>
            <a:ext cx="2185416" cy="1042416"/>
          </a:xfrm>
          <a:prstGeom prst="rect">
            <a:avLst/>
          </a:prstGeom>
          <a:noFill/>
          <a:ln/>
        </p:spPr>
        <p:txBody>
          <a:bodyPr wrap="square" lIns="0" tIns="0" rIns="0" bIns="0" rtlCol="0" anchor="ctr"/>
          <a:lstStyle/>
          <a:p>
            <a:pPr algn="r" indent="0" marL="0">
              <a:buNone/>
            </a:pPr>
            <a:r>
              <a:rPr lang="en-US" sz="1200" b="1" dirty="0">
                <a:solidFill>
                  <a:srgbClr val="D93B72"/>
                </a:solidFill>
                <a:latin typeface="Calibri" pitchFamily="34" charset="0"/>
                <a:ea typeface="Calibri" pitchFamily="34" charset="-122"/>
                <a:cs typeface="Calibri" pitchFamily="34" charset="-120"/>
              </a:rPr>
              <a:t>das eigentliche Projekt</a:t>
            </a:r>
            <a:endParaRPr lang="en-US" sz="1200" dirty="0"/>
          </a:p>
        </p:txBody>
      </p:sp>
      <p:sp>
        <p:nvSpPr>
          <p:cNvPr id="29" name="Text 26"/>
          <p:cNvSpPr txBox="1"/>
          <p:nvPr/>
        </p:nvSpPr>
        <p:spPr>
          <a:xfrm>
            <a:off x="566928" y="6236208"/>
            <a:ext cx="11055096" cy="347472"/>
          </a:xfrm>
          <a:prstGeom prst="rect">
            <a:avLst/>
          </a:prstGeom>
          <a:noFill/>
          <a:ln/>
        </p:spPr>
        <p:txBody>
          <a:bodyPr wrap="square" lIns="0" tIns="0" rIns="0" bIns="0" rtlCol="0" anchor="ctr"/>
          <a:lstStyle/>
          <a:p>
            <a:pPr indent="0" marL="0">
              <a:buNone/>
            </a:pPr>
            <a:r>
              <a:rPr lang="en-US" sz="1050" i="1" dirty="0">
                <a:solidFill>
                  <a:srgbClr val="7C86A2"/>
                </a:solidFill>
                <a:latin typeface="Calibri" pitchFamily="34" charset="0"/>
                <a:ea typeface="Calibri" pitchFamily="34" charset="-122"/>
                <a:cs typeface="Calibri" pitchFamily="34" charset="-120"/>
              </a:rPr>
              <a:t>Punkt 1–3: rund zwei Tage. Und wir haben 636 nicht zahlende Accounts, erreichbar per Push — die erste Gruppe für den neuen Trial.</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141A2E"/>
                </a:solidFill>
                <a:latin typeface="Cambria" pitchFamily="34" charset="0"/>
                <a:ea typeface="Cambria" pitchFamily="34" charset="-122"/>
                <a:cs typeface="Cambria" pitchFamily="34" charset="-120"/>
              </a:rPr>
              <a:t>Vorschlag: die neue Preisleiter</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4A5470"/>
                </a:solidFill>
                <a:latin typeface="Calibri" pitchFamily="34" charset="0"/>
                <a:ea typeface="Calibri" pitchFamily="34" charset="-122"/>
                <a:cs typeface="Calibri" pitchFamily="34" charset="-120"/>
              </a:rPr>
              <a:t>Angepasst an den tatsächlichen Nutzungsrhythmus von Studenten</a:t>
            </a:r>
            <a:endParaRPr lang="en-US" sz="1450" dirty="0"/>
          </a:p>
        </p:txBody>
      </p:sp>
      <p:sp>
        <p:nvSpPr>
          <p:cNvPr id="5" name="Shape 2"/>
          <p:cNvSpPr/>
          <p:nvPr/>
        </p:nvSpPr>
        <p:spPr>
          <a:xfrm>
            <a:off x="566928" y="1609344"/>
            <a:ext cx="3477768" cy="3547872"/>
          </a:xfrm>
          <a:prstGeom prst="roundRect">
            <a:avLst>
              <a:gd name="adj" fmla="val 2366"/>
            </a:avLst>
          </a:prstGeom>
          <a:solidFill>
            <a:srgbClr val="F1F3F8"/>
          </a:solidFill>
          <a:ln w="12700">
            <a:solidFill>
              <a:srgbClr val="F1F3F8"/>
            </a:solidFill>
            <a:prstDash val="solid"/>
          </a:ln>
        </p:spPr>
      </p:sp>
      <p:sp>
        <p:nvSpPr>
          <p:cNvPr id="6" name="Text 3"/>
          <p:cNvSpPr txBox="1"/>
          <p:nvPr/>
        </p:nvSpPr>
        <p:spPr>
          <a:xfrm>
            <a:off x="877824" y="2103120"/>
            <a:ext cx="2855976" cy="384048"/>
          </a:xfrm>
          <a:prstGeom prst="rect">
            <a:avLst/>
          </a:prstGeom>
          <a:noFill/>
          <a:ln/>
        </p:spPr>
        <p:txBody>
          <a:bodyPr wrap="square" lIns="0" tIns="0" rIns="0" bIns="0" rtlCol="0" anchor="ctr"/>
          <a:lstStyle/>
          <a:p>
            <a:pPr indent="0" marL="0">
              <a:buNone/>
            </a:pPr>
            <a:r>
              <a:rPr lang="en-US" sz="2000" b="1" dirty="0">
                <a:solidFill>
                  <a:srgbClr val="141A2E"/>
                </a:solidFill>
                <a:latin typeface="Cambria" pitchFamily="34" charset="0"/>
                <a:ea typeface="Cambria" pitchFamily="34" charset="-122"/>
                <a:cs typeface="Cambria" pitchFamily="34" charset="-120"/>
              </a:rPr>
              <a:t>Woche</a:t>
            </a:r>
            <a:endParaRPr lang="en-US" sz="2000" dirty="0"/>
          </a:p>
        </p:txBody>
      </p:sp>
      <p:sp>
        <p:nvSpPr>
          <p:cNvPr id="7" name="Text 4"/>
          <p:cNvSpPr txBox="1"/>
          <p:nvPr/>
        </p:nvSpPr>
        <p:spPr>
          <a:xfrm>
            <a:off x="877824" y="2505456"/>
            <a:ext cx="2855976" cy="749808"/>
          </a:xfrm>
          <a:prstGeom prst="rect">
            <a:avLst/>
          </a:prstGeom>
          <a:noFill/>
          <a:ln/>
        </p:spPr>
        <p:txBody>
          <a:bodyPr wrap="square" lIns="0" tIns="0" rIns="0" bIns="0" rtlCol="0" anchor="ctr"/>
          <a:lstStyle/>
          <a:p>
            <a:pPr indent="0" marL="0">
              <a:buNone/>
            </a:pPr>
            <a:r>
              <a:rPr lang="en-US" sz="4000" b="1" dirty="0">
                <a:solidFill>
                  <a:srgbClr val="4A5470"/>
                </a:solidFill>
                <a:latin typeface="Calibri" pitchFamily="34" charset="0"/>
                <a:ea typeface="Calibri" pitchFamily="34" charset="-122"/>
                <a:cs typeface="Calibri" pitchFamily="34" charset="-120"/>
              </a:rPr>
              <a:t>3,99 €</a:t>
            </a:r>
            <a:endParaRPr lang="en-US" sz="4000" dirty="0"/>
          </a:p>
        </p:txBody>
      </p:sp>
      <p:sp>
        <p:nvSpPr>
          <p:cNvPr id="8" name="Text 5"/>
          <p:cNvSpPr txBox="1"/>
          <p:nvPr/>
        </p:nvSpPr>
        <p:spPr>
          <a:xfrm>
            <a:off x="877824" y="3273552"/>
            <a:ext cx="2855976" cy="274320"/>
          </a:xfrm>
          <a:prstGeom prst="rect">
            <a:avLst/>
          </a:prstGeom>
          <a:noFill/>
          <a:ln/>
        </p:spPr>
        <p:txBody>
          <a:bodyPr wrap="square" lIns="0" tIns="0" rIns="0" bIns="0" rtlCol="0" anchor="ctr"/>
          <a:lstStyle/>
          <a:p>
            <a:pPr indent="0" marL="0">
              <a:buNone/>
            </a:pPr>
            <a:r>
              <a:rPr lang="en-US" sz="1250" dirty="0">
                <a:solidFill>
                  <a:srgbClr val="7C86A2"/>
                </a:solidFill>
                <a:latin typeface="Calibri" pitchFamily="34" charset="0"/>
                <a:ea typeface="Calibri" pitchFamily="34" charset="-122"/>
                <a:cs typeface="Calibri" pitchFamily="34" charset="-120"/>
              </a:rPr>
              <a:t>pro Woche</a:t>
            </a:r>
            <a:endParaRPr lang="en-US" sz="1250" dirty="0"/>
          </a:p>
        </p:txBody>
      </p:sp>
      <p:sp>
        <p:nvSpPr>
          <p:cNvPr id="9" name="Text 6"/>
          <p:cNvSpPr txBox="1"/>
          <p:nvPr/>
        </p:nvSpPr>
        <p:spPr>
          <a:xfrm>
            <a:off x="877824" y="3566160"/>
            <a:ext cx="2855976" cy="292608"/>
          </a:xfrm>
          <a:prstGeom prst="rect">
            <a:avLst/>
          </a:prstGeom>
          <a:noFill/>
          <a:ln/>
        </p:spPr>
        <p:txBody>
          <a:bodyPr wrap="square" lIns="0" tIns="0" rIns="0" bIns="0" rtlCol="0" anchor="ctr"/>
          <a:lstStyle/>
          <a:p>
            <a:pPr indent="0" marL="0">
              <a:buNone/>
            </a:pPr>
            <a:r>
              <a:rPr lang="en-US" sz="1250" b="1" dirty="0">
                <a:solidFill>
                  <a:srgbClr val="141A2E"/>
                </a:solidFill>
                <a:latin typeface="Calibri" pitchFamily="34" charset="0"/>
                <a:ea typeface="Calibri" pitchFamily="34" charset="-122"/>
                <a:cs typeface="Calibri" pitchFamily="34" charset="-120"/>
              </a:rPr>
              <a:t>207 € aufs Jahr gerechnet</a:t>
            </a:r>
            <a:endParaRPr lang="en-US" sz="1250" dirty="0"/>
          </a:p>
        </p:txBody>
      </p:sp>
      <p:sp>
        <p:nvSpPr>
          <p:cNvPr id="10" name="Text 7"/>
          <p:cNvSpPr txBox="1"/>
          <p:nvPr/>
        </p:nvSpPr>
        <p:spPr>
          <a:xfrm>
            <a:off x="877824" y="3931920"/>
            <a:ext cx="2855976" cy="1188720"/>
          </a:xfrm>
          <a:prstGeom prst="rect">
            <a:avLst/>
          </a:prstGeom>
          <a:noFill/>
          <a:ln/>
        </p:spPr>
        <p:txBody>
          <a:bodyPr wrap="square" lIns="0" tIns="0" rIns="0" bIns="0" rtlCol="0" anchor="t"/>
          <a:lstStyle/>
          <a:p>
            <a:pPr indent="0" marL="0">
              <a:lnSpc>
                <a:spcPct val="108000"/>
              </a:lnSpc>
              <a:buNone/>
            </a:pPr>
            <a:r>
              <a:rPr lang="en-US" sz="1150" dirty="0">
                <a:solidFill>
                  <a:srgbClr val="4A5470"/>
                </a:solidFill>
                <a:latin typeface="Calibri" pitchFamily="34" charset="0"/>
                <a:ea typeface="Calibri" pitchFamily="34" charset="-122"/>
                <a:cs typeface="Calibri" pitchFamily="34" charset="-120"/>
              </a:rPr>
              <a:t>Einstieg und Klausurphase. Liegt unter der Schwelle, ab der sich das Kündigen lohnt — 60–90 Sekunden Menü-Ärger für unter 4 €.</a:t>
            </a:r>
            <a:endParaRPr lang="en-US" sz="1150" dirty="0"/>
          </a:p>
        </p:txBody>
      </p:sp>
      <p:sp>
        <p:nvSpPr>
          <p:cNvPr id="11" name="Shape 8"/>
          <p:cNvSpPr/>
          <p:nvPr/>
        </p:nvSpPr>
        <p:spPr>
          <a:xfrm>
            <a:off x="4355592" y="1609344"/>
            <a:ext cx="3477768" cy="3547872"/>
          </a:xfrm>
          <a:prstGeom prst="roundRect">
            <a:avLst>
              <a:gd name="adj" fmla="val 2366"/>
            </a:avLst>
          </a:prstGeom>
          <a:solidFill>
            <a:srgbClr val="FBE7EF"/>
          </a:solidFill>
          <a:ln w="12700">
            <a:solidFill>
              <a:srgbClr val="FBE7EF"/>
            </a:solidFill>
            <a:prstDash val="solid"/>
          </a:ln>
        </p:spPr>
      </p:sp>
      <p:sp>
        <p:nvSpPr>
          <p:cNvPr id="12" name="Text 9"/>
          <p:cNvSpPr txBox="1"/>
          <p:nvPr/>
        </p:nvSpPr>
        <p:spPr>
          <a:xfrm>
            <a:off x="4666488" y="1755648"/>
            <a:ext cx="2855976" cy="256032"/>
          </a:xfrm>
          <a:prstGeom prst="rect">
            <a:avLst/>
          </a:prstGeom>
          <a:noFill/>
          <a:ln/>
        </p:spPr>
        <p:txBody>
          <a:bodyPr wrap="square" lIns="0" tIns="0" rIns="0" bIns="0" rtlCol="0" anchor="ctr"/>
          <a:lstStyle/>
          <a:p>
            <a:pPr indent="0" marL="0">
              <a:buNone/>
            </a:pPr>
            <a:r>
              <a:rPr lang="en-US" sz="1000" b="1" spc="150" kern="0" dirty="0">
                <a:solidFill>
                  <a:srgbClr val="D93B72"/>
                </a:solidFill>
                <a:latin typeface="Calibri" pitchFamily="34" charset="0"/>
                <a:ea typeface="Calibri" pitchFamily="34" charset="-122"/>
                <a:cs typeface="Calibri" pitchFamily="34" charset="-120"/>
              </a:rPr>
              <a:t>EMPFOHLEN</a:t>
            </a:r>
            <a:endParaRPr lang="en-US" sz="1000" dirty="0"/>
          </a:p>
        </p:txBody>
      </p:sp>
      <p:sp>
        <p:nvSpPr>
          <p:cNvPr id="13" name="Text 10"/>
          <p:cNvSpPr txBox="1"/>
          <p:nvPr/>
        </p:nvSpPr>
        <p:spPr>
          <a:xfrm>
            <a:off x="4666488" y="2103120"/>
            <a:ext cx="2855976" cy="384048"/>
          </a:xfrm>
          <a:prstGeom prst="rect">
            <a:avLst/>
          </a:prstGeom>
          <a:noFill/>
          <a:ln/>
        </p:spPr>
        <p:txBody>
          <a:bodyPr wrap="square" lIns="0" tIns="0" rIns="0" bIns="0" rtlCol="0" anchor="ctr"/>
          <a:lstStyle/>
          <a:p>
            <a:pPr indent="0" marL="0">
              <a:buNone/>
            </a:pPr>
            <a:r>
              <a:rPr lang="en-US" sz="2000" b="1" dirty="0">
                <a:solidFill>
                  <a:srgbClr val="141A2E"/>
                </a:solidFill>
                <a:latin typeface="Cambria" pitchFamily="34" charset="0"/>
                <a:ea typeface="Cambria" pitchFamily="34" charset="-122"/>
                <a:cs typeface="Cambria" pitchFamily="34" charset="-120"/>
              </a:rPr>
              <a:t>Semester</a:t>
            </a:r>
            <a:endParaRPr lang="en-US" sz="2000" dirty="0"/>
          </a:p>
        </p:txBody>
      </p:sp>
      <p:sp>
        <p:nvSpPr>
          <p:cNvPr id="14" name="Text 11"/>
          <p:cNvSpPr txBox="1"/>
          <p:nvPr/>
        </p:nvSpPr>
        <p:spPr>
          <a:xfrm>
            <a:off x="4666488" y="2505456"/>
            <a:ext cx="2855976" cy="749808"/>
          </a:xfrm>
          <a:prstGeom prst="rect">
            <a:avLst/>
          </a:prstGeom>
          <a:noFill/>
          <a:ln/>
        </p:spPr>
        <p:txBody>
          <a:bodyPr wrap="square" lIns="0" tIns="0" rIns="0" bIns="0" rtlCol="0" anchor="ctr"/>
          <a:lstStyle/>
          <a:p>
            <a:pPr indent="0" marL="0">
              <a:buNone/>
            </a:pPr>
            <a:r>
              <a:rPr lang="en-US" sz="4000" b="1" dirty="0">
                <a:solidFill>
                  <a:srgbClr val="D93B72"/>
                </a:solidFill>
                <a:latin typeface="Calibri" pitchFamily="34" charset="0"/>
                <a:ea typeface="Calibri" pitchFamily="34" charset="-122"/>
                <a:cs typeface="Calibri" pitchFamily="34" charset="-120"/>
              </a:rPr>
              <a:t>44 €</a:t>
            </a:r>
            <a:endParaRPr lang="en-US" sz="4000" dirty="0"/>
          </a:p>
        </p:txBody>
      </p:sp>
      <p:sp>
        <p:nvSpPr>
          <p:cNvPr id="15" name="Text 12"/>
          <p:cNvSpPr txBox="1"/>
          <p:nvPr/>
        </p:nvSpPr>
        <p:spPr>
          <a:xfrm>
            <a:off x="4666488" y="3273552"/>
            <a:ext cx="2855976" cy="274320"/>
          </a:xfrm>
          <a:prstGeom prst="rect">
            <a:avLst/>
          </a:prstGeom>
          <a:noFill/>
          <a:ln/>
        </p:spPr>
        <p:txBody>
          <a:bodyPr wrap="square" lIns="0" tIns="0" rIns="0" bIns="0" rtlCol="0" anchor="ctr"/>
          <a:lstStyle/>
          <a:p>
            <a:pPr indent="0" marL="0">
              <a:buNone/>
            </a:pPr>
            <a:r>
              <a:rPr lang="en-US" sz="1250" dirty="0">
                <a:solidFill>
                  <a:srgbClr val="7C86A2"/>
                </a:solidFill>
                <a:latin typeface="Calibri" pitchFamily="34" charset="0"/>
                <a:ea typeface="Calibri" pitchFamily="34" charset="-122"/>
                <a:cs typeface="Calibri" pitchFamily="34" charset="-120"/>
              </a:rPr>
              <a:t>6 Monate</a:t>
            </a:r>
            <a:endParaRPr lang="en-US" sz="1250" dirty="0"/>
          </a:p>
        </p:txBody>
      </p:sp>
      <p:sp>
        <p:nvSpPr>
          <p:cNvPr id="16" name="Text 13"/>
          <p:cNvSpPr txBox="1"/>
          <p:nvPr/>
        </p:nvSpPr>
        <p:spPr>
          <a:xfrm>
            <a:off x="4666488" y="3566160"/>
            <a:ext cx="2855976" cy="292608"/>
          </a:xfrm>
          <a:prstGeom prst="rect">
            <a:avLst/>
          </a:prstGeom>
          <a:noFill/>
          <a:ln/>
        </p:spPr>
        <p:txBody>
          <a:bodyPr wrap="square" lIns="0" tIns="0" rIns="0" bIns="0" rtlCol="0" anchor="ctr"/>
          <a:lstStyle/>
          <a:p>
            <a:pPr indent="0" marL="0">
              <a:buNone/>
            </a:pPr>
            <a:r>
              <a:rPr lang="en-US" sz="1250" b="1" dirty="0">
                <a:solidFill>
                  <a:srgbClr val="141A2E"/>
                </a:solidFill>
                <a:latin typeface="Calibri" pitchFamily="34" charset="0"/>
                <a:ea typeface="Calibri" pitchFamily="34" charset="-122"/>
                <a:cs typeface="Calibri" pitchFamily="34" charset="-120"/>
              </a:rPr>
              <a:t>1,69 € pro Woche</a:t>
            </a:r>
            <a:endParaRPr lang="en-US" sz="1250" dirty="0"/>
          </a:p>
        </p:txBody>
      </p:sp>
      <p:sp>
        <p:nvSpPr>
          <p:cNvPr id="17" name="Text 14"/>
          <p:cNvSpPr txBox="1"/>
          <p:nvPr/>
        </p:nvSpPr>
        <p:spPr>
          <a:xfrm>
            <a:off x="4666488" y="3931920"/>
            <a:ext cx="2855976" cy="1188720"/>
          </a:xfrm>
          <a:prstGeom prst="rect">
            <a:avLst/>
          </a:prstGeom>
          <a:noFill/>
          <a:ln/>
        </p:spPr>
        <p:txBody>
          <a:bodyPr wrap="square" lIns="0" tIns="0" rIns="0" bIns="0" rtlCol="0" anchor="t"/>
          <a:lstStyle/>
          <a:p>
            <a:pPr indent="0" marL="0">
              <a:lnSpc>
                <a:spcPct val="108000"/>
              </a:lnSpc>
              <a:buNone/>
            </a:pPr>
            <a:r>
              <a:rPr lang="en-US" sz="1150" dirty="0">
                <a:solidFill>
                  <a:srgbClr val="4A5470"/>
                </a:solidFill>
                <a:latin typeface="Calibri" pitchFamily="34" charset="0"/>
                <a:ea typeface="Calibri" pitchFamily="34" charset="-122"/>
                <a:cs typeface="Calibri" pitchFamily="34" charset="-120"/>
              </a:rPr>
              <a:t>Unsere Empfehlung. Deutsche Studenten denken in Semestern — Semesterticket, Semesterbeitrag. Eine Entscheidung statt sechs, und sie verlängert sich zum nächsten Semester.</a:t>
            </a:r>
            <a:endParaRPr lang="en-US" sz="1150" dirty="0"/>
          </a:p>
        </p:txBody>
      </p:sp>
      <p:sp>
        <p:nvSpPr>
          <p:cNvPr id="18" name="Shape 15"/>
          <p:cNvSpPr/>
          <p:nvPr/>
        </p:nvSpPr>
        <p:spPr>
          <a:xfrm>
            <a:off x="8144256" y="1609344"/>
            <a:ext cx="3477768" cy="3547872"/>
          </a:xfrm>
          <a:prstGeom prst="roundRect">
            <a:avLst>
              <a:gd name="adj" fmla="val 2366"/>
            </a:avLst>
          </a:prstGeom>
          <a:solidFill>
            <a:srgbClr val="F1F3F8"/>
          </a:solidFill>
          <a:ln w="12700">
            <a:solidFill>
              <a:srgbClr val="F1F3F8"/>
            </a:solidFill>
            <a:prstDash val="solid"/>
          </a:ln>
        </p:spPr>
      </p:sp>
      <p:sp>
        <p:nvSpPr>
          <p:cNvPr id="19" name="Text 16"/>
          <p:cNvSpPr txBox="1"/>
          <p:nvPr/>
        </p:nvSpPr>
        <p:spPr>
          <a:xfrm>
            <a:off x="8455152" y="2103120"/>
            <a:ext cx="2855976" cy="384048"/>
          </a:xfrm>
          <a:prstGeom prst="rect">
            <a:avLst/>
          </a:prstGeom>
          <a:noFill/>
          <a:ln/>
        </p:spPr>
        <p:txBody>
          <a:bodyPr wrap="square" lIns="0" tIns="0" rIns="0" bIns="0" rtlCol="0" anchor="ctr"/>
          <a:lstStyle/>
          <a:p>
            <a:pPr indent="0" marL="0">
              <a:buNone/>
            </a:pPr>
            <a:r>
              <a:rPr lang="en-US" sz="2000" b="1" dirty="0">
                <a:solidFill>
                  <a:srgbClr val="141A2E"/>
                </a:solidFill>
                <a:latin typeface="Cambria" pitchFamily="34" charset="0"/>
                <a:ea typeface="Cambria" pitchFamily="34" charset="-122"/>
                <a:cs typeface="Cambria" pitchFamily="34" charset="-120"/>
              </a:rPr>
              <a:t>Jahr</a:t>
            </a:r>
            <a:endParaRPr lang="en-US" sz="2000" dirty="0"/>
          </a:p>
        </p:txBody>
      </p:sp>
      <p:sp>
        <p:nvSpPr>
          <p:cNvPr id="20" name="Text 17"/>
          <p:cNvSpPr txBox="1"/>
          <p:nvPr/>
        </p:nvSpPr>
        <p:spPr>
          <a:xfrm>
            <a:off x="8455152" y="2505456"/>
            <a:ext cx="2855976" cy="749808"/>
          </a:xfrm>
          <a:prstGeom prst="rect">
            <a:avLst/>
          </a:prstGeom>
          <a:noFill/>
          <a:ln/>
        </p:spPr>
        <p:txBody>
          <a:bodyPr wrap="square" lIns="0" tIns="0" rIns="0" bIns="0" rtlCol="0" anchor="ctr"/>
          <a:lstStyle/>
          <a:p>
            <a:pPr indent="0" marL="0">
              <a:buNone/>
            </a:pPr>
            <a:r>
              <a:rPr lang="en-US" sz="4000" b="1" dirty="0">
                <a:solidFill>
                  <a:srgbClr val="4A5470"/>
                </a:solidFill>
                <a:latin typeface="Calibri" pitchFamily="34" charset="0"/>
                <a:ea typeface="Calibri" pitchFamily="34" charset="-122"/>
                <a:cs typeface="Calibri" pitchFamily="34" charset="-120"/>
              </a:rPr>
              <a:t>79 €</a:t>
            </a:r>
            <a:endParaRPr lang="en-US" sz="4000" dirty="0"/>
          </a:p>
        </p:txBody>
      </p:sp>
      <p:sp>
        <p:nvSpPr>
          <p:cNvPr id="21" name="Text 18"/>
          <p:cNvSpPr txBox="1"/>
          <p:nvPr/>
        </p:nvSpPr>
        <p:spPr>
          <a:xfrm>
            <a:off x="8455152" y="3273552"/>
            <a:ext cx="2855976" cy="274320"/>
          </a:xfrm>
          <a:prstGeom prst="rect">
            <a:avLst/>
          </a:prstGeom>
          <a:noFill/>
          <a:ln/>
        </p:spPr>
        <p:txBody>
          <a:bodyPr wrap="square" lIns="0" tIns="0" rIns="0" bIns="0" rtlCol="0" anchor="ctr"/>
          <a:lstStyle/>
          <a:p>
            <a:pPr indent="0" marL="0">
              <a:buNone/>
            </a:pPr>
            <a:r>
              <a:rPr lang="en-US" sz="1250" dirty="0">
                <a:solidFill>
                  <a:srgbClr val="7C86A2"/>
                </a:solidFill>
                <a:latin typeface="Calibri" pitchFamily="34" charset="0"/>
                <a:ea typeface="Calibri" pitchFamily="34" charset="-122"/>
                <a:cs typeface="Calibri" pitchFamily="34" charset="-120"/>
              </a:rPr>
              <a:t>pro Jahr</a:t>
            </a:r>
            <a:endParaRPr lang="en-US" sz="1250" dirty="0"/>
          </a:p>
        </p:txBody>
      </p:sp>
      <p:sp>
        <p:nvSpPr>
          <p:cNvPr id="22" name="Text 19"/>
          <p:cNvSpPr txBox="1"/>
          <p:nvPr/>
        </p:nvSpPr>
        <p:spPr>
          <a:xfrm>
            <a:off x="8455152" y="3566160"/>
            <a:ext cx="2855976" cy="292608"/>
          </a:xfrm>
          <a:prstGeom prst="rect">
            <a:avLst/>
          </a:prstGeom>
          <a:noFill/>
          <a:ln/>
        </p:spPr>
        <p:txBody>
          <a:bodyPr wrap="square" lIns="0" tIns="0" rIns="0" bIns="0" rtlCol="0" anchor="ctr"/>
          <a:lstStyle/>
          <a:p>
            <a:pPr indent="0" marL="0">
              <a:buNone/>
            </a:pPr>
            <a:r>
              <a:rPr lang="en-US" sz="1250" b="1" dirty="0">
                <a:solidFill>
                  <a:srgbClr val="141A2E"/>
                </a:solidFill>
                <a:latin typeface="Calibri" pitchFamily="34" charset="0"/>
                <a:ea typeface="Calibri" pitchFamily="34" charset="-122"/>
                <a:cs typeface="Calibri" pitchFamily="34" charset="-120"/>
              </a:rPr>
              <a:t>1,52 € pro Woche</a:t>
            </a:r>
            <a:endParaRPr lang="en-US" sz="1250" dirty="0"/>
          </a:p>
        </p:txBody>
      </p:sp>
      <p:sp>
        <p:nvSpPr>
          <p:cNvPr id="23" name="Text 20"/>
          <p:cNvSpPr txBox="1"/>
          <p:nvPr/>
        </p:nvSpPr>
        <p:spPr>
          <a:xfrm>
            <a:off x="8455152" y="3931920"/>
            <a:ext cx="2855976" cy="1188720"/>
          </a:xfrm>
          <a:prstGeom prst="rect">
            <a:avLst/>
          </a:prstGeom>
          <a:noFill/>
          <a:ln/>
        </p:spPr>
        <p:txBody>
          <a:bodyPr wrap="square" lIns="0" tIns="0" rIns="0" bIns="0" rtlCol="0" anchor="t"/>
          <a:lstStyle/>
          <a:p>
            <a:pPr indent="0" marL="0">
              <a:lnSpc>
                <a:spcPct val="108000"/>
              </a:lnSpc>
              <a:buNone/>
            </a:pPr>
            <a:r>
              <a:rPr lang="en-US" sz="1150" dirty="0">
                <a:solidFill>
                  <a:srgbClr val="4A5470"/>
                </a:solidFill>
                <a:latin typeface="Calibri" pitchFamily="34" charset="0"/>
                <a:ea typeface="Calibri" pitchFamily="34" charset="-122"/>
                <a:cs typeface="Calibri" pitchFamily="34" charset="-120"/>
              </a:rPr>
              <a:t>Bester Preis. Gewinnt im direkten Vergleich mit dem Wochenpreis optisch deutlich — das Wochenabo ist auch ein Anker für diesen Plan.</a:t>
            </a:r>
            <a:endParaRPr lang="en-US" sz="1150" dirty="0"/>
          </a:p>
        </p:txBody>
      </p:sp>
      <p:sp>
        <p:nvSpPr>
          <p:cNvPr id="24" name="Shape 21"/>
          <p:cNvSpPr/>
          <p:nvPr/>
        </p:nvSpPr>
        <p:spPr>
          <a:xfrm>
            <a:off x="566928" y="5358384"/>
            <a:ext cx="11055096" cy="786384"/>
          </a:xfrm>
          <a:prstGeom prst="roundRect">
            <a:avLst>
              <a:gd name="adj" fmla="val 10465"/>
            </a:avLst>
          </a:prstGeom>
          <a:solidFill>
            <a:srgbClr val="141A2E"/>
          </a:solidFill>
          <a:ln w="12700">
            <a:solidFill>
              <a:srgbClr val="141A2E"/>
            </a:solidFill>
            <a:prstDash val="solid"/>
          </a:ln>
        </p:spPr>
      </p:sp>
      <p:sp>
        <p:nvSpPr>
          <p:cNvPr id="25" name="Text 22"/>
          <p:cNvSpPr txBox="1"/>
          <p:nvPr/>
        </p:nvSpPr>
        <p:spPr>
          <a:xfrm>
            <a:off x="914400" y="5358384"/>
            <a:ext cx="10360152" cy="786384"/>
          </a:xfrm>
          <a:prstGeom prst="rect">
            <a:avLst/>
          </a:prstGeom>
          <a:noFill/>
          <a:ln/>
        </p:spPr>
        <p:txBody>
          <a:bodyPr wrap="square" lIns="0" tIns="0" rIns="0" bIns="0" rtlCol="0" anchor="ctr"/>
          <a:lstStyle/>
          <a:p>
            <a:pPr indent="0" marL="0">
              <a:lnSpc>
                <a:spcPct val="105000"/>
              </a:lnSpc>
              <a:buNone/>
            </a:pPr>
            <a:r>
              <a:rPr lang="en-US" sz="1300" b="1" dirty="0">
                <a:solidFill>
                  <a:srgbClr val="FFFFFF"/>
                </a:solidFill>
                <a:latin typeface="Calibri" pitchFamily="34" charset="0"/>
                <a:ea typeface="Calibri" pitchFamily="34" charset="-122"/>
                <a:cs typeface="Calibri" pitchFamily="34" charset="-120"/>
              </a:rPr>
              <a:t>Das 17-€-Monatsabo streichen. </a:t>
            </a:r>
            <a:pPr indent="0" marL="0">
              <a:lnSpc>
                <a:spcPct val="105000"/>
              </a:lnSpc>
              <a:buNone/>
            </a:pPr>
            <a:r>
              <a:rPr lang="en-US" sz="1300" dirty="0">
                <a:solidFill>
                  <a:srgbClr val="B6BFD6"/>
                </a:solidFill>
                <a:latin typeface="Calibri" pitchFamily="34" charset="0"/>
                <a:ea typeface="Calibri" pitchFamily="34" charset="-122"/>
                <a:cs typeface="Calibri" pitchFamily="34" charset="-120"/>
              </a:rPr>
              <a:t>Es ist fast so teuer wie das Wochenabo, aber mit Bindung, und deutlich schlechter als das Semester. In dieser Leiter hat es keine Aufgabe mehr. Unsere zwei bestehenden Abos bleiben davon unberührt.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A2E"/>
        </a:solidFill>
      </p:bgPr>
    </p:bg>
    <p:spTree>
      <p:nvGrpSpPr>
        <p:cNvPr id="1" name=""/>
        <p:cNvGrpSpPr/>
        <p:nvPr/>
      </p:nvGrpSpPr>
      <p:grpSpPr>
        <a:xfrm>
          <a:off x="0" y="0"/>
          <a:ext cx="0" cy="0"/>
          <a:chOff x="0" y="0"/>
          <a:chExt cx="0" cy="0"/>
        </a:xfrm>
      </p:grpSpPr>
      <p:sp>
        <p:nvSpPr>
          <p:cNvPr id="3" name="Text 0"/>
          <p:cNvSpPr txBox="1"/>
          <p:nvPr/>
        </p:nvSpPr>
        <p:spPr>
          <a:xfrm>
            <a:off x="566928" y="420624"/>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Was wir nicht wissen</a:t>
            </a:r>
            <a:endParaRPr lang="en-US" sz="3200" dirty="0"/>
          </a:p>
        </p:txBody>
      </p:sp>
      <p:sp>
        <p:nvSpPr>
          <p:cNvPr id="4" name="Text 1"/>
          <p:cNvSpPr txBox="1"/>
          <p:nvPr/>
        </p:nvSpPr>
        <p:spPr>
          <a:xfrm>
            <a:off x="566928" y="1005840"/>
            <a:ext cx="11055096" cy="365760"/>
          </a:xfrm>
          <a:prstGeom prst="rect">
            <a:avLst/>
          </a:prstGeom>
          <a:noFill/>
          <a:ln/>
        </p:spPr>
        <p:txBody>
          <a:bodyPr wrap="square" lIns="0" tIns="0" rIns="0" bIns="0" rtlCol="0" anchor="t"/>
          <a:lstStyle/>
          <a:p>
            <a:pPr indent="0" marL="0">
              <a:buNone/>
            </a:pPr>
            <a:r>
              <a:rPr lang="en-US" sz="1450" dirty="0">
                <a:solidFill>
                  <a:srgbClr val="9BA6C4"/>
                </a:solidFill>
                <a:latin typeface="Calibri" pitchFamily="34" charset="0"/>
                <a:ea typeface="Calibri" pitchFamily="34" charset="-122"/>
                <a:cs typeface="Calibri" pitchFamily="34" charset="-120"/>
              </a:rPr>
              <a:t>Die Grenzen dieser Analyse — und was wir als Nächstes brauchen</a:t>
            </a:r>
            <a:endParaRPr lang="en-US" sz="1450" dirty="0"/>
          </a:p>
        </p:txBody>
      </p:sp>
      <p:sp>
        <p:nvSpPr>
          <p:cNvPr id="5" name="Shape 2"/>
          <p:cNvSpPr/>
          <p:nvPr/>
        </p:nvSpPr>
        <p:spPr>
          <a:xfrm>
            <a:off x="566928" y="1755648"/>
            <a:ext cx="2599182" cy="3163824"/>
          </a:xfrm>
          <a:prstGeom prst="roundRect">
            <a:avLst>
              <a:gd name="adj" fmla="val 3166"/>
            </a:avLst>
          </a:prstGeom>
          <a:solidFill>
            <a:srgbClr val="1E2740"/>
          </a:solidFill>
          <a:ln w="12700">
            <a:solidFill>
              <a:srgbClr val="2C3857"/>
            </a:solidFill>
            <a:prstDash val="solid"/>
          </a:ln>
        </p:spPr>
      </p:sp>
      <p:sp>
        <p:nvSpPr>
          <p:cNvPr id="6" name="Shape 3"/>
          <p:cNvSpPr/>
          <p:nvPr/>
        </p:nvSpPr>
        <p:spPr>
          <a:xfrm>
            <a:off x="822960" y="1956816"/>
            <a:ext cx="384048" cy="384048"/>
          </a:xfrm>
          <a:prstGeom prst="roundRect">
            <a:avLst>
              <a:gd name="adj" fmla="val 28571"/>
            </a:avLst>
          </a:prstGeom>
          <a:solidFill>
            <a:srgbClr val="D93B72"/>
          </a:solidFill>
          <a:ln w="12700">
            <a:solidFill>
              <a:srgbClr val="D93B72"/>
            </a:solidFill>
            <a:prstDash val="solid"/>
          </a:ln>
        </p:spPr>
      </p:sp>
      <p:sp>
        <p:nvSpPr>
          <p:cNvPr id="7" name="Text 4"/>
          <p:cNvSpPr txBox="1"/>
          <p:nvPr/>
        </p:nvSpPr>
        <p:spPr>
          <a:xfrm>
            <a:off x="822960" y="19568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822960" y="2450592"/>
            <a:ext cx="2087118" cy="566928"/>
          </a:xfrm>
          <a:prstGeom prst="rect">
            <a:avLst/>
          </a:prstGeom>
          <a:noFill/>
          <a:ln/>
        </p:spPr>
        <p:txBody>
          <a:bodyPr wrap="square" lIns="0" tIns="0" rIns="0" bIns="0" rtlCol="0" anchor="t"/>
          <a:lstStyle/>
          <a:p>
            <a:pPr indent="0" marL="0">
              <a:lnSpc>
                <a:spcPct val="100000"/>
              </a:lnSpc>
              <a:buNone/>
            </a:pPr>
            <a:r>
              <a:rPr lang="en-US" sz="1400" b="1" dirty="0">
                <a:solidFill>
                  <a:srgbClr val="FFFFFF"/>
                </a:solidFill>
                <a:latin typeface="Calibri" pitchFamily="34" charset="0"/>
                <a:ea typeface="Calibri" pitchFamily="34" charset="-122"/>
                <a:cs typeface="Calibri" pitchFamily="34" charset="-120"/>
              </a:rPr>
              <a:t>Wann und warum gekündigt wird</a:t>
            </a:r>
            <a:endParaRPr lang="en-US" sz="1400" dirty="0"/>
          </a:p>
        </p:txBody>
      </p:sp>
      <p:sp>
        <p:nvSpPr>
          <p:cNvPr id="9" name="Text 6"/>
          <p:cNvSpPr txBox="1"/>
          <p:nvPr/>
        </p:nvSpPr>
        <p:spPr>
          <a:xfrm>
            <a:off x="822960" y="3054096"/>
            <a:ext cx="2087118" cy="1298448"/>
          </a:xfrm>
          <a:prstGeom prst="rect">
            <a:avLst/>
          </a:prstGeom>
          <a:noFill/>
          <a:ln/>
        </p:spPr>
        <p:txBody>
          <a:bodyPr wrap="square" lIns="0" tIns="0" rIns="0" bIns="0" rtlCol="0" anchor="t"/>
          <a:lstStyle/>
          <a:p>
            <a:pPr indent="0" marL="0">
              <a:lnSpc>
                <a:spcPct val="108000"/>
              </a:lnSpc>
              <a:buNone/>
            </a:pPr>
            <a:r>
              <a:rPr lang="en-US" sz="1100" dirty="0">
                <a:solidFill>
                  <a:srgbClr val="A3ADC8"/>
                </a:solidFill>
                <a:latin typeface="Calibri" pitchFamily="34" charset="0"/>
                <a:ea typeface="Calibri" pitchFamily="34" charset="-122"/>
                <a:cs typeface="Calibri" pitchFamily="34" charset="-120"/>
              </a:rPr>
              <a:t>Kündigen die Leute in Minute 5 oder an Tag 3? Das trennt „nur mal ausprobiert" von „drei Tage haben nicht überzeugt". Qualitative Rückmeldung von den ~38 haben wir bis heute keine.</a:t>
            </a:r>
            <a:endParaRPr lang="en-US" sz="1100" dirty="0"/>
          </a:p>
        </p:txBody>
      </p:sp>
      <p:sp>
        <p:nvSpPr>
          <p:cNvPr id="10" name="Text 7"/>
          <p:cNvSpPr txBox="1"/>
          <p:nvPr/>
        </p:nvSpPr>
        <p:spPr>
          <a:xfrm>
            <a:off x="822960" y="4370832"/>
            <a:ext cx="2087118" cy="530352"/>
          </a:xfrm>
          <a:prstGeom prst="rect">
            <a:avLst/>
          </a:prstGeom>
          <a:noFill/>
          <a:ln/>
        </p:spPr>
        <p:txBody>
          <a:bodyPr wrap="square" lIns="0" tIns="0" rIns="0" bIns="0" rtlCol="0" anchor="t"/>
          <a:lstStyle/>
          <a:p>
            <a:pPr indent="0" marL="0">
              <a:lnSpc>
                <a:spcPct val="105000"/>
              </a:lnSpc>
              <a:buNone/>
            </a:pPr>
            <a:r>
              <a:rPr lang="en-US" sz="1050" b="1" dirty="0">
                <a:solidFill>
                  <a:srgbClr val="D93B72"/>
                </a:solidFill>
                <a:latin typeface="Calibri" pitchFamily="34" charset="0"/>
                <a:ea typeface="Calibri" pitchFamily="34" charset="-122"/>
                <a:cs typeface="Calibri" pitchFamily="34" charset="-120"/>
              </a:rPr>
              <a:t>willAutoRenew (StoreKit 2) auslesen, plus eine Frage: „Was hat gefehlt?"</a:t>
            </a:r>
            <a:endParaRPr lang="en-US" sz="1050" dirty="0"/>
          </a:p>
        </p:txBody>
      </p:sp>
      <p:sp>
        <p:nvSpPr>
          <p:cNvPr id="11" name="Shape 8"/>
          <p:cNvSpPr/>
          <p:nvPr/>
        </p:nvSpPr>
        <p:spPr>
          <a:xfrm>
            <a:off x="3385566" y="1755648"/>
            <a:ext cx="2599182" cy="3163824"/>
          </a:xfrm>
          <a:prstGeom prst="roundRect">
            <a:avLst>
              <a:gd name="adj" fmla="val 3166"/>
            </a:avLst>
          </a:prstGeom>
          <a:solidFill>
            <a:srgbClr val="1E2740"/>
          </a:solidFill>
          <a:ln w="12700">
            <a:solidFill>
              <a:srgbClr val="2C3857"/>
            </a:solidFill>
            <a:prstDash val="solid"/>
          </a:ln>
        </p:spPr>
      </p:sp>
      <p:sp>
        <p:nvSpPr>
          <p:cNvPr id="12" name="Shape 9"/>
          <p:cNvSpPr/>
          <p:nvPr/>
        </p:nvSpPr>
        <p:spPr>
          <a:xfrm>
            <a:off x="3641598" y="1956816"/>
            <a:ext cx="384048" cy="384048"/>
          </a:xfrm>
          <a:prstGeom prst="roundRect">
            <a:avLst>
              <a:gd name="adj" fmla="val 28571"/>
            </a:avLst>
          </a:prstGeom>
          <a:solidFill>
            <a:srgbClr val="D93B72"/>
          </a:solidFill>
          <a:ln w="12700">
            <a:solidFill>
              <a:srgbClr val="D93B72"/>
            </a:solidFill>
            <a:prstDash val="solid"/>
          </a:ln>
        </p:spPr>
      </p:sp>
      <p:sp>
        <p:nvSpPr>
          <p:cNvPr id="13" name="Text 10"/>
          <p:cNvSpPr txBox="1"/>
          <p:nvPr/>
        </p:nvSpPr>
        <p:spPr>
          <a:xfrm>
            <a:off x="3641598" y="19568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1"/>
          <p:cNvSpPr txBox="1"/>
          <p:nvPr/>
        </p:nvSpPr>
        <p:spPr>
          <a:xfrm>
            <a:off x="3641598" y="2450592"/>
            <a:ext cx="2087118" cy="566928"/>
          </a:xfrm>
          <a:prstGeom prst="rect">
            <a:avLst/>
          </a:prstGeom>
          <a:noFill/>
          <a:ln/>
        </p:spPr>
        <p:txBody>
          <a:bodyPr wrap="square" lIns="0" tIns="0" rIns="0" bIns="0" rtlCol="0" anchor="t"/>
          <a:lstStyle/>
          <a:p>
            <a:pPr indent="0" marL="0">
              <a:lnSpc>
                <a:spcPct val="100000"/>
              </a:lnSpc>
              <a:buNone/>
            </a:pPr>
            <a:r>
              <a:rPr lang="en-US" sz="1400" b="1" dirty="0">
                <a:solidFill>
                  <a:srgbClr val="FFFFFF"/>
                </a:solidFill>
                <a:latin typeface="Calibri" pitchFamily="34" charset="0"/>
                <a:ea typeface="Calibri" pitchFamily="34" charset="-122"/>
                <a:cs typeface="Calibri" pitchFamily="34" charset="-120"/>
              </a:rPr>
              <a:t>Wo im Onboarding wir verlieren</a:t>
            </a:r>
            <a:endParaRPr lang="en-US" sz="1400" dirty="0"/>
          </a:p>
        </p:txBody>
      </p:sp>
      <p:sp>
        <p:nvSpPr>
          <p:cNvPr id="15" name="Text 12"/>
          <p:cNvSpPr txBox="1"/>
          <p:nvPr/>
        </p:nvSpPr>
        <p:spPr>
          <a:xfrm>
            <a:off x="3641598" y="3054096"/>
            <a:ext cx="2087118" cy="1298448"/>
          </a:xfrm>
          <a:prstGeom prst="rect">
            <a:avLst/>
          </a:prstGeom>
          <a:noFill/>
          <a:ln/>
        </p:spPr>
        <p:txBody>
          <a:bodyPr wrap="square" lIns="0" tIns="0" rIns="0" bIns="0" rtlCol="0" anchor="t"/>
          <a:lstStyle/>
          <a:p>
            <a:pPr indent="0" marL="0">
              <a:lnSpc>
                <a:spcPct val="108000"/>
              </a:lnSpc>
              <a:buNone/>
            </a:pPr>
            <a:r>
              <a:rPr lang="en-US" sz="1100" dirty="0">
                <a:solidFill>
                  <a:srgbClr val="A3ADC8"/>
                </a:solidFill>
                <a:latin typeface="Calibri" pitchFamily="34" charset="0"/>
                <a:ea typeface="Calibri" pitchFamily="34" charset="-122"/>
                <a:cs typeface="Calibri" pitchFamily="34" charset="-120"/>
              </a:rPr>
              <a:t>Wir kennen nur den Gesamtverlust von 54,7 % zwischen Registrierung und Paywall, nicht den je Screen. Welche der 14 Screens die teuren sind, ist reine Vermutung.</a:t>
            </a:r>
            <a:endParaRPr lang="en-US" sz="1100" dirty="0"/>
          </a:p>
        </p:txBody>
      </p:sp>
      <p:sp>
        <p:nvSpPr>
          <p:cNvPr id="16" name="Text 13"/>
          <p:cNvSpPr txBox="1"/>
          <p:nvPr/>
        </p:nvSpPr>
        <p:spPr>
          <a:xfrm>
            <a:off x="3641598" y="4370832"/>
            <a:ext cx="2087118" cy="530352"/>
          </a:xfrm>
          <a:prstGeom prst="rect">
            <a:avLst/>
          </a:prstGeom>
          <a:noFill/>
          <a:ln/>
        </p:spPr>
        <p:txBody>
          <a:bodyPr wrap="square" lIns="0" tIns="0" rIns="0" bIns="0" rtlCol="0" anchor="t"/>
          <a:lstStyle/>
          <a:p>
            <a:pPr indent="0" marL="0">
              <a:lnSpc>
                <a:spcPct val="105000"/>
              </a:lnSpc>
              <a:buNone/>
            </a:pPr>
            <a:r>
              <a:rPr lang="en-US" sz="1050" b="1" dirty="0">
                <a:solidFill>
                  <a:srgbClr val="D93B72"/>
                </a:solidFill>
                <a:latin typeface="Calibri" pitchFamily="34" charset="0"/>
                <a:ea typeface="Calibri" pitchFamily="34" charset="-122"/>
                <a:cs typeface="Calibri" pitchFamily="34" charset="-120"/>
              </a:rPr>
              <a:t>Ein Event pro Onboarding-Screen in PostHog</a:t>
            </a:r>
            <a:endParaRPr lang="en-US" sz="1050" dirty="0"/>
          </a:p>
        </p:txBody>
      </p:sp>
      <p:sp>
        <p:nvSpPr>
          <p:cNvPr id="17" name="Shape 14"/>
          <p:cNvSpPr/>
          <p:nvPr/>
        </p:nvSpPr>
        <p:spPr>
          <a:xfrm>
            <a:off x="6204204" y="1755648"/>
            <a:ext cx="2599182" cy="3163824"/>
          </a:xfrm>
          <a:prstGeom prst="roundRect">
            <a:avLst>
              <a:gd name="adj" fmla="val 3166"/>
            </a:avLst>
          </a:prstGeom>
          <a:solidFill>
            <a:srgbClr val="1E2740"/>
          </a:solidFill>
          <a:ln w="12700">
            <a:solidFill>
              <a:srgbClr val="2C3857"/>
            </a:solidFill>
            <a:prstDash val="solid"/>
          </a:ln>
        </p:spPr>
      </p:sp>
      <p:sp>
        <p:nvSpPr>
          <p:cNvPr id="18" name="Shape 15"/>
          <p:cNvSpPr/>
          <p:nvPr/>
        </p:nvSpPr>
        <p:spPr>
          <a:xfrm>
            <a:off x="6460236" y="1956816"/>
            <a:ext cx="384048" cy="384048"/>
          </a:xfrm>
          <a:prstGeom prst="roundRect">
            <a:avLst>
              <a:gd name="adj" fmla="val 28571"/>
            </a:avLst>
          </a:prstGeom>
          <a:solidFill>
            <a:srgbClr val="D93B72"/>
          </a:solidFill>
          <a:ln w="12700">
            <a:solidFill>
              <a:srgbClr val="D93B72"/>
            </a:solidFill>
            <a:prstDash val="solid"/>
          </a:ln>
        </p:spPr>
      </p:sp>
      <p:sp>
        <p:nvSpPr>
          <p:cNvPr id="19" name="Text 16"/>
          <p:cNvSpPr txBox="1"/>
          <p:nvPr/>
        </p:nvSpPr>
        <p:spPr>
          <a:xfrm>
            <a:off x="6460236" y="19568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txBox="1"/>
          <p:nvPr/>
        </p:nvSpPr>
        <p:spPr>
          <a:xfrm>
            <a:off x="6460236" y="2450592"/>
            <a:ext cx="2087118" cy="566928"/>
          </a:xfrm>
          <a:prstGeom prst="rect">
            <a:avLst/>
          </a:prstGeom>
          <a:noFill/>
          <a:ln/>
        </p:spPr>
        <p:txBody>
          <a:bodyPr wrap="square" lIns="0" tIns="0" rIns="0" bIns="0" rtlCol="0" anchor="t"/>
          <a:lstStyle/>
          <a:p>
            <a:pPr indent="0" marL="0">
              <a:lnSpc>
                <a:spcPct val="100000"/>
              </a:lnSpc>
              <a:buNone/>
            </a:pPr>
            <a:r>
              <a:rPr lang="en-US" sz="1400" b="1" dirty="0">
                <a:solidFill>
                  <a:srgbClr val="FFFFFF"/>
                </a:solidFill>
                <a:latin typeface="Calibri" pitchFamily="34" charset="0"/>
                <a:ea typeface="Calibri" pitchFamily="34" charset="-122"/>
                <a:cs typeface="Calibri" pitchFamily="34" charset="-120"/>
              </a:rPr>
              <a:t>Wo unsere Gratis-Linie verläuft</a:t>
            </a:r>
            <a:endParaRPr lang="en-US" sz="1400" dirty="0"/>
          </a:p>
        </p:txBody>
      </p:sp>
      <p:sp>
        <p:nvSpPr>
          <p:cNvPr id="21" name="Text 18"/>
          <p:cNvSpPr txBox="1"/>
          <p:nvPr/>
        </p:nvSpPr>
        <p:spPr>
          <a:xfrm>
            <a:off x="6460236" y="3054096"/>
            <a:ext cx="2087118" cy="1298448"/>
          </a:xfrm>
          <a:prstGeom prst="rect">
            <a:avLst/>
          </a:prstGeom>
          <a:noFill/>
          <a:ln/>
        </p:spPr>
        <p:txBody>
          <a:bodyPr wrap="square" lIns="0" tIns="0" rIns="0" bIns="0" rtlCol="0" anchor="t"/>
          <a:lstStyle/>
          <a:p>
            <a:pPr indent="0" marL="0">
              <a:lnSpc>
                <a:spcPct val="108000"/>
              </a:lnSpc>
              <a:buNone/>
            </a:pPr>
            <a:r>
              <a:rPr lang="en-US" sz="1100" dirty="0">
                <a:solidFill>
                  <a:srgbClr val="A3ADC8"/>
                </a:solidFill>
                <a:latin typeface="Calibri" pitchFamily="34" charset="0"/>
                <a:ea typeface="Calibri" pitchFamily="34" charset="-122"/>
                <a:cs typeface="Calibri" pitchFamily="34" charset="-120"/>
              </a:rPr>
              <a:t>Wir haben nie sauber aufgeschrieben, was ohne Abo geht und was nicht. Solange das unklar ist, können wir nicht beurteilen, ob die Gratis-Version gegen das Abo arbeitet.</a:t>
            </a:r>
            <a:endParaRPr lang="en-US" sz="1100" dirty="0"/>
          </a:p>
        </p:txBody>
      </p:sp>
      <p:sp>
        <p:nvSpPr>
          <p:cNvPr id="22" name="Text 19"/>
          <p:cNvSpPr txBox="1"/>
          <p:nvPr/>
        </p:nvSpPr>
        <p:spPr>
          <a:xfrm>
            <a:off x="6460236" y="4370832"/>
            <a:ext cx="2087118" cy="530352"/>
          </a:xfrm>
          <a:prstGeom prst="rect">
            <a:avLst/>
          </a:prstGeom>
          <a:noFill/>
          <a:ln/>
        </p:spPr>
        <p:txBody>
          <a:bodyPr wrap="square" lIns="0" tIns="0" rIns="0" bIns="0" rtlCol="0" anchor="t"/>
          <a:lstStyle/>
          <a:p>
            <a:pPr indent="0" marL="0">
              <a:lnSpc>
                <a:spcPct val="105000"/>
              </a:lnSpc>
              <a:buNone/>
            </a:pPr>
            <a:r>
              <a:rPr lang="en-US" sz="1050" b="1" dirty="0">
                <a:solidFill>
                  <a:srgbClr val="D93B72"/>
                </a:solidFill>
                <a:latin typeface="Calibri" pitchFamily="34" charset="0"/>
                <a:ea typeface="Calibri" pitchFamily="34" charset="-122"/>
                <a:cs typeface="Calibri" pitchFamily="34" charset="-120"/>
              </a:rPr>
              <a:t>Feature-Liste gratis vs. Premium — eine Seite, diese Woche</a:t>
            </a:r>
            <a:endParaRPr lang="en-US" sz="1050" dirty="0"/>
          </a:p>
        </p:txBody>
      </p:sp>
      <p:sp>
        <p:nvSpPr>
          <p:cNvPr id="23" name="Shape 20"/>
          <p:cNvSpPr/>
          <p:nvPr/>
        </p:nvSpPr>
        <p:spPr>
          <a:xfrm>
            <a:off x="9022842" y="1755648"/>
            <a:ext cx="2599182" cy="3163824"/>
          </a:xfrm>
          <a:prstGeom prst="roundRect">
            <a:avLst>
              <a:gd name="adj" fmla="val 3166"/>
            </a:avLst>
          </a:prstGeom>
          <a:solidFill>
            <a:srgbClr val="1E2740"/>
          </a:solidFill>
          <a:ln w="12700">
            <a:solidFill>
              <a:srgbClr val="2C3857"/>
            </a:solidFill>
            <a:prstDash val="solid"/>
          </a:ln>
        </p:spPr>
      </p:sp>
      <p:sp>
        <p:nvSpPr>
          <p:cNvPr id="24" name="Shape 21"/>
          <p:cNvSpPr/>
          <p:nvPr/>
        </p:nvSpPr>
        <p:spPr>
          <a:xfrm>
            <a:off x="9278874" y="1956816"/>
            <a:ext cx="384048" cy="384048"/>
          </a:xfrm>
          <a:prstGeom prst="roundRect">
            <a:avLst>
              <a:gd name="adj" fmla="val 28571"/>
            </a:avLst>
          </a:prstGeom>
          <a:solidFill>
            <a:srgbClr val="D93B72"/>
          </a:solidFill>
          <a:ln w="12700">
            <a:solidFill>
              <a:srgbClr val="D93B72"/>
            </a:solidFill>
            <a:prstDash val="solid"/>
          </a:ln>
        </p:spPr>
      </p:sp>
      <p:sp>
        <p:nvSpPr>
          <p:cNvPr id="25" name="Text 22"/>
          <p:cNvSpPr txBox="1"/>
          <p:nvPr/>
        </p:nvSpPr>
        <p:spPr>
          <a:xfrm>
            <a:off x="9278874" y="19568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3"/>
          <p:cNvSpPr txBox="1"/>
          <p:nvPr/>
        </p:nvSpPr>
        <p:spPr>
          <a:xfrm>
            <a:off x="9278874" y="2450592"/>
            <a:ext cx="2087118" cy="566928"/>
          </a:xfrm>
          <a:prstGeom prst="rect">
            <a:avLst/>
          </a:prstGeom>
          <a:noFill/>
          <a:ln/>
        </p:spPr>
        <p:txBody>
          <a:bodyPr wrap="square" lIns="0" tIns="0" rIns="0" bIns="0" rtlCol="0" anchor="t"/>
          <a:lstStyle/>
          <a:p>
            <a:pPr indent="0" marL="0">
              <a:lnSpc>
                <a:spcPct val="100000"/>
              </a:lnSpc>
              <a:buNone/>
            </a:pPr>
            <a:r>
              <a:rPr lang="en-US" sz="1400" b="1" dirty="0">
                <a:solidFill>
                  <a:srgbClr val="FFFFFF"/>
                </a:solidFill>
                <a:latin typeface="Calibri" pitchFamily="34" charset="0"/>
                <a:ea typeface="Calibri" pitchFamily="34" charset="-122"/>
                <a:cs typeface="Calibri" pitchFamily="34" charset="-120"/>
              </a:rPr>
              <a:t>Wie viele je gezahlt haben</a:t>
            </a:r>
            <a:endParaRPr lang="en-US" sz="1400" dirty="0"/>
          </a:p>
        </p:txBody>
      </p:sp>
      <p:sp>
        <p:nvSpPr>
          <p:cNvPr id="27" name="Text 24"/>
          <p:cNvSpPr txBox="1"/>
          <p:nvPr/>
        </p:nvSpPr>
        <p:spPr>
          <a:xfrm>
            <a:off x="9278874" y="3054096"/>
            <a:ext cx="2087118" cy="1298448"/>
          </a:xfrm>
          <a:prstGeom prst="rect">
            <a:avLst/>
          </a:prstGeom>
          <a:noFill/>
          <a:ln/>
        </p:spPr>
        <p:txBody>
          <a:bodyPr wrap="square" lIns="0" tIns="0" rIns="0" bIns="0" rtlCol="0" anchor="t"/>
          <a:lstStyle/>
          <a:p>
            <a:pPr indent="0" marL="0">
              <a:lnSpc>
                <a:spcPct val="108000"/>
              </a:lnSpc>
              <a:buNone/>
            </a:pPr>
            <a:r>
              <a:rPr lang="en-US" sz="1100" dirty="0">
                <a:solidFill>
                  <a:srgbClr val="A3ADC8"/>
                </a:solidFill>
                <a:latin typeface="Calibri" pitchFamily="34" charset="0"/>
                <a:ea typeface="Calibri" pitchFamily="34" charset="-122"/>
                <a:cs typeface="Calibri" pitchFamily="34" charset="-120"/>
              </a:rPr>
              <a:t>Funnel und Downloads liegen jetzt auf demselben Fenster (YTD 2026). Nur die Abo-Kurve deckt bloß 13.06.–10.09. ab — ob es davor weitere Zahler gab, wissen wir nicht.</a:t>
            </a:r>
            <a:endParaRPr lang="en-US" sz="1100" dirty="0"/>
          </a:p>
        </p:txBody>
      </p:sp>
      <p:sp>
        <p:nvSpPr>
          <p:cNvPr id="28" name="Text 25"/>
          <p:cNvSpPr txBox="1"/>
          <p:nvPr/>
        </p:nvSpPr>
        <p:spPr>
          <a:xfrm>
            <a:off x="9278874" y="4370832"/>
            <a:ext cx="2087118" cy="530352"/>
          </a:xfrm>
          <a:prstGeom prst="rect">
            <a:avLst/>
          </a:prstGeom>
          <a:noFill/>
          <a:ln/>
        </p:spPr>
        <p:txBody>
          <a:bodyPr wrap="square" lIns="0" tIns="0" rIns="0" bIns="0" rtlCol="0" anchor="t"/>
          <a:lstStyle/>
          <a:p>
            <a:pPr indent="0" marL="0">
              <a:lnSpc>
                <a:spcPct val="105000"/>
              </a:lnSpc>
              <a:buNone/>
            </a:pPr>
            <a:r>
              <a:rPr lang="en-US" sz="1050" b="1" dirty="0">
                <a:solidFill>
                  <a:srgbClr val="D93B72"/>
                </a:solidFill>
                <a:latin typeface="Calibri" pitchFamily="34" charset="0"/>
                <a:ea typeface="Calibri" pitchFamily="34" charset="-122"/>
                <a:cs typeface="Calibri" pitchFamily="34" charset="-120"/>
              </a:rPr>
              <a:t>Abo-Bestand als Year-to-date-Export nachziehen</a:t>
            </a:r>
            <a:endParaRPr lang="en-US" sz="1050" dirty="0"/>
          </a:p>
        </p:txBody>
      </p:sp>
      <p:sp>
        <p:nvSpPr>
          <p:cNvPr id="29" name="Shape 26"/>
          <p:cNvSpPr/>
          <p:nvPr/>
        </p:nvSpPr>
        <p:spPr>
          <a:xfrm>
            <a:off x="566928" y="5102352"/>
            <a:ext cx="11055096" cy="1024128"/>
          </a:xfrm>
          <a:prstGeom prst="roundRect">
            <a:avLst>
              <a:gd name="adj" fmla="val 8036"/>
            </a:avLst>
          </a:prstGeom>
          <a:solidFill>
            <a:srgbClr val="1E2740"/>
          </a:solidFill>
          <a:ln w="19050">
            <a:solidFill>
              <a:srgbClr val="D93B72"/>
            </a:solidFill>
            <a:prstDash val="solid"/>
          </a:ln>
        </p:spPr>
      </p:sp>
      <p:sp>
        <p:nvSpPr>
          <p:cNvPr id="30" name="Text 27"/>
          <p:cNvSpPr txBox="1"/>
          <p:nvPr/>
        </p:nvSpPr>
        <p:spPr>
          <a:xfrm>
            <a:off x="950976" y="5102352"/>
            <a:ext cx="10287000" cy="1024128"/>
          </a:xfrm>
          <a:prstGeom prst="rect">
            <a:avLst/>
          </a:prstGeom>
          <a:noFill/>
          <a:ln/>
        </p:spPr>
        <p:txBody>
          <a:bodyPr wrap="square" lIns="0" tIns="0" rIns="0" bIns="0" rtlCol="0" anchor="ctr"/>
          <a:lstStyle/>
          <a:p>
            <a:pPr indent="0" marL="0">
              <a:lnSpc>
                <a:spcPct val="108000"/>
              </a:lnSpc>
              <a:buNone/>
            </a:pPr>
            <a:r>
              <a:rPr lang="en-US" sz="1500" dirty="0">
                <a:solidFill>
                  <a:srgbClr val="FFFFFF"/>
                </a:solidFill>
                <a:latin typeface="Calibri" pitchFamily="34" charset="0"/>
                <a:ea typeface="Calibri" pitchFamily="34" charset="-122"/>
                <a:cs typeface="Calibri" pitchFamily="34" charset="-120"/>
              </a:rPr>
              <a:t>Der Unterschied zwischen 2 und 20 Kunden entsteht nicht durch bessere Conversion-Prozente. Er entsteht dadurch, dass wir herausfinden, warum die zwei geblieben sind — und den Weg dorthin für alle anderen freiräumen.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Octa — Bestandsaufnahme</dc:title>
  <dc:subject>PptxGenJS Presentation</dc:subject>
  <dc:creator>Octa</dc:creator>
  <cp:lastModifiedBy>Octa</cp:lastModifiedBy>
  <cp:revision>1</cp:revision>
  <dcterms:created xsi:type="dcterms:W3CDTF">2026-09-11T22:07:29Z</dcterms:created>
  <dcterms:modified xsi:type="dcterms:W3CDTF">2026-09-11T22:07:29Z</dcterms:modified>
</cp:coreProperties>
</file>